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16"/>
  </p:notesMasterIdLst>
  <p:handoutMasterIdLst>
    <p:handoutMasterId r:id="rId17"/>
  </p:handoutMasterIdLst>
  <p:sldIdLst>
    <p:sldId id="1005" r:id="rId3"/>
    <p:sldId id="906" r:id="rId4"/>
    <p:sldId id="992" r:id="rId5"/>
    <p:sldId id="967" r:id="rId6"/>
    <p:sldId id="991" r:id="rId7"/>
    <p:sldId id="994" r:id="rId8"/>
    <p:sldId id="995" r:id="rId9"/>
    <p:sldId id="996" r:id="rId10"/>
    <p:sldId id="923" r:id="rId11"/>
    <p:sldId id="983" r:id="rId12"/>
    <p:sldId id="998" r:id="rId13"/>
    <p:sldId id="999" r:id="rId14"/>
    <p:sldId id="1001" r:id="rId15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  <p:cmAuthor id="2" name="Valentino, Justin" initials="J" lastIdx="44" clrIdx="2"/>
  <p:cmAuthor id="3" name="john" initials="j" lastIdx="2" clrIdx="3"/>
  <p:cmAuthor id="4" name="john pickard" initials="jp" lastIdx="1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00FF"/>
    <a:srgbClr val="0000CC"/>
    <a:srgbClr val="CC99FF"/>
    <a:srgbClr val="97D3D1"/>
    <a:srgbClr val="EFF8F7"/>
    <a:srgbClr val="C0C0C4"/>
    <a:srgbClr val="678DC5"/>
    <a:srgbClr val="3E67A4"/>
    <a:srgbClr val="3E8D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1464" autoAdjust="0"/>
  </p:normalViewPr>
  <p:slideViewPr>
    <p:cSldViewPr snapToGrid="0">
      <p:cViewPr>
        <p:scale>
          <a:sx n="60" d="100"/>
          <a:sy n="60" d="100"/>
        </p:scale>
        <p:origin x="175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3" Type="http://schemas.openxmlformats.org/officeDocument/2006/relationships/slide" Target="slides/slide4.xml"/><Relationship Id="rId7" Type="http://schemas.openxmlformats.org/officeDocument/2006/relationships/slide" Target="slides/slide8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11" Type="http://schemas.openxmlformats.org/officeDocument/2006/relationships/slide" Target="slides/slide12.xml"/><Relationship Id="rId5" Type="http://schemas.openxmlformats.org/officeDocument/2006/relationships/slide" Target="slides/slide6.xml"/><Relationship Id="rId10" Type="http://schemas.openxmlformats.org/officeDocument/2006/relationships/slide" Target="slides/slide11.xml"/><Relationship Id="rId4" Type="http://schemas.openxmlformats.org/officeDocument/2006/relationships/slide" Target="slides/slide5.xml"/><Relationship Id="rId9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63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3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13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4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01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5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07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6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4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7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Som WFQ som vi så på for et øjeblik siden – men nu er det os selv der definerer hvilke klasser der skal være og hvilken trafik der skal i hvilke klasse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7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lvl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Lidt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nemre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modern end “bare” CBWFQ = </a:t>
            </a:r>
            <a:r>
              <a:rPr lang="da-DK" dirty="0"/>
              <a:t>Class-</a:t>
            </a:r>
            <a:r>
              <a:rPr lang="da-DK" dirty="0" err="1"/>
              <a:t>Based</a:t>
            </a:r>
            <a:r>
              <a:rPr lang="da-DK" dirty="0"/>
              <a:t> </a:t>
            </a:r>
            <a:r>
              <a:rPr lang="da-DK" dirty="0" err="1"/>
              <a:t>Weighted</a:t>
            </a:r>
            <a:r>
              <a:rPr lang="da-DK" dirty="0"/>
              <a:t> Fair Queuing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695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9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38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10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121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11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DSCP = </a:t>
            </a:r>
            <a:r>
              <a:rPr lang="da-DK" dirty="0" err="1"/>
              <a:t>Differentiated</a:t>
            </a:r>
            <a:r>
              <a:rPr lang="da-DK" dirty="0"/>
              <a:t> Services Code Point bruges både i offentlige og private netværk  = QoS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525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12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75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416">
              <a:defRPr sz="2500">
                <a:solidFill>
                  <a:schemeClr val="tx1"/>
                </a:solidFill>
                <a:latin typeface="Arial" charset="0"/>
              </a:defRPr>
            </a:lvl1pPr>
            <a:lvl2pPr marL="760112" indent="-292351" defTabSz="901416">
              <a:defRPr sz="2500">
                <a:solidFill>
                  <a:schemeClr val="tx1"/>
                </a:solidFill>
                <a:latin typeface="Arial" charset="0"/>
              </a:defRPr>
            </a:lvl2pPr>
            <a:lvl3pPr marL="1169403" indent="-233881" defTabSz="901416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37165" indent="-233881" defTabSz="901416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04926" indent="-233881" defTabSz="901416">
              <a:defRPr sz="2500">
                <a:solidFill>
                  <a:schemeClr val="tx1"/>
                </a:solidFill>
                <a:latin typeface="Arial" charset="0"/>
              </a:defRPr>
            </a:lvl5pPr>
            <a:lvl6pPr marL="2572687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040449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508210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3975971" indent="-233881" algn="ctr" defTabSz="901416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A797A4F-01F8-4F58-982D-3A832E2AC6DD}" type="slidenum">
              <a:rPr lang="en-US" altLang="da-DK" sz="800"/>
              <a:pPr/>
              <a:t>13</a:t>
            </a:fld>
            <a:endParaRPr lang="en-US" altLang="da-DK" sz="8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US" altLang="da-DK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‹nr.›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  <a:lvl3pPr marL="914400" indent="-225425">
              <a:buSzPct val="75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‹nr.›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57200" indent="-228600">
              <a:buFont typeface="Arial" panose="020B0604020202020204" pitchFamily="34" charset="0"/>
              <a:buChar char="•"/>
              <a:defRPr/>
            </a:lvl2pPr>
            <a:lvl3pPr marL="914400" indent="-225425">
              <a:buSzPct val="75000"/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‹nr.›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1" fontAlgn="base" hangingPunct="1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‹nr.›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hyperlink" Target="../../MicroNugget_%20Using%20Quality%20of%20Service%20(QoS)%20Tools.mp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62E61-12E1-4194-A82B-A6FC3789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D3AB83B-DBF8-4D55-A7AD-52763C5B4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04" y="2400299"/>
            <a:ext cx="7728842" cy="3192771"/>
          </a:xfrm>
        </p:spPr>
        <p:txBody>
          <a:bodyPr/>
          <a:lstStyle/>
          <a:p>
            <a:r>
              <a:rPr lang="da-DK" sz="5000"/>
              <a:t>Hvad tænker I om begrebet QoS?</a:t>
            </a:r>
          </a:p>
        </p:txBody>
      </p:sp>
    </p:spTree>
    <p:extLst>
      <p:ext uri="{BB962C8B-B14F-4D97-AF65-F5344CB8AC3E}">
        <p14:creationId xmlns:p14="http://schemas.microsoft.com/office/powerpoint/2010/main" val="3718631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298" y="234372"/>
            <a:ext cx="8772157" cy="56572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Network Transmission Quality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72068"/>
            <a:ext cx="9063990" cy="5766384"/>
          </a:xfrm>
        </p:spPr>
        <p:txBody>
          <a:bodyPr>
            <a:normAutofit/>
          </a:bodyPr>
          <a:lstStyle/>
          <a:p>
            <a:r>
              <a:rPr lang="en-US" dirty="0" err="1"/>
              <a:t>Prioritering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trafik</a:t>
            </a:r>
            <a:endParaRPr lang="en-US" dirty="0"/>
          </a:p>
          <a:p>
            <a:pPr lvl="1"/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pakker</a:t>
            </a:r>
            <a:r>
              <a:rPr lang="en-US" dirty="0"/>
              <a:t>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ligge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kø</a:t>
            </a:r>
            <a:r>
              <a:rPr lang="en-US" dirty="0"/>
              <a:t> </a:t>
            </a:r>
            <a:r>
              <a:rPr lang="en-US" dirty="0" err="1"/>
              <a:t>skabes</a:t>
            </a:r>
            <a:r>
              <a:rPr lang="en-US" dirty="0"/>
              <a:t> delay,  </a:t>
            </a:r>
            <a:r>
              <a:rPr lang="en-US" dirty="0" err="1"/>
              <a:t>fordi</a:t>
            </a:r>
            <a:r>
              <a:rPr lang="en-US" dirty="0"/>
              <a:t> </a:t>
            </a:r>
            <a:r>
              <a:rPr lang="en-US" dirty="0" err="1"/>
              <a:t>nye</a:t>
            </a:r>
            <a:r>
              <a:rPr lang="en-US" dirty="0"/>
              <a:t> </a:t>
            </a:r>
            <a:r>
              <a:rPr lang="en-US" dirty="0" err="1"/>
              <a:t>pakker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videresendes</a:t>
            </a:r>
            <a:r>
              <a:rPr lang="en-US" dirty="0"/>
              <a:t> </a:t>
            </a:r>
            <a:r>
              <a:rPr lang="en-US" dirty="0" err="1"/>
              <a:t>inden</a:t>
            </a:r>
            <a:r>
              <a:rPr lang="en-US" dirty="0"/>
              <a:t> de </a:t>
            </a:r>
            <a:r>
              <a:rPr lang="en-US" dirty="0" err="1"/>
              <a:t>tidligere</a:t>
            </a:r>
            <a:r>
              <a:rPr lang="en-US" dirty="0"/>
              <a:t> </a:t>
            </a:r>
            <a:r>
              <a:rPr lang="en-US" dirty="0" err="1"/>
              <a:t>pakker</a:t>
            </a:r>
            <a:r>
              <a:rPr lang="en-US" dirty="0"/>
              <a:t> </a:t>
            </a:r>
            <a:r>
              <a:rPr lang="en-US" dirty="0" err="1"/>
              <a:t>er</a:t>
            </a:r>
            <a:r>
              <a:rPr lang="en-US" dirty="0"/>
              <a:t> </a:t>
            </a:r>
            <a:r>
              <a:rPr lang="en-US" dirty="0" err="1"/>
              <a:t>behandlet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Hvis</a:t>
            </a:r>
            <a:r>
              <a:rPr lang="en-US" dirty="0"/>
              <a:t> </a:t>
            </a:r>
            <a:r>
              <a:rPr lang="en-US" dirty="0" err="1"/>
              <a:t>antallet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pakker</a:t>
            </a:r>
            <a:r>
              <a:rPr lang="en-US" dirty="0"/>
              <a:t> der venter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kø</a:t>
            </a:r>
            <a:r>
              <a:rPr lang="en-US" dirty="0"/>
              <a:t> </a:t>
            </a:r>
            <a:r>
              <a:rPr lang="en-US" dirty="0" err="1"/>
              <a:t>bliver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med at </a:t>
            </a:r>
            <a:r>
              <a:rPr lang="en-US" dirty="0" err="1"/>
              <a:t>forøges</a:t>
            </a:r>
            <a:r>
              <a:rPr lang="en-US" dirty="0"/>
              <a:t>,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enheden</a:t>
            </a:r>
            <a:r>
              <a:rPr lang="en-US" dirty="0"/>
              <a:t> (switch/router)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blive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med at have </a:t>
            </a:r>
            <a:r>
              <a:rPr lang="en-US" dirty="0" err="1"/>
              <a:t>plads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opbevare</a:t>
            </a:r>
            <a:r>
              <a:rPr lang="en-US" dirty="0"/>
              <a:t> </a:t>
            </a:r>
            <a:r>
              <a:rPr lang="en-US" dirty="0" err="1"/>
              <a:t>pakerne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pakkerne</a:t>
            </a:r>
            <a:r>
              <a:rPr lang="en-US" dirty="0"/>
              <a:t> </a:t>
            </a:r>
            <a:r>
              <a:rPr lang="en-US" dirty="0" err="1"/>
              <a:t>droppes</a:t>
            </a:r>
            <a:r>
              <a:rPr lang="en-US" dirty="0"/>
              <a:t>!</a:t>
            </a:r>
            <a:endParaRPr lang="en-US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26" y="3002692"/>
            <a:ext cx="6728755" cy="39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58124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772157" cy="53143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Network Transmission Quality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" y="926275"/>
            <a:ext cx="9144000" cy="5931725"/>
          </a:xfrm>
        </p:spPr>
        <p:txBody>
          <a:bodyPr>
            <a:normAutofit/>
          </a:bodyPr>
          <a:lstStyle/>
          <a:p>
            <a:r>
              <a:rPr lang="en-US" dirty="0" err="1"/>
              <a:t>Hvorfor</a:t>
            </a:r>
            <a:r>
              <a:rPr lang="en-US" dirty="0"/>
              <a:t> </a:t>
            </a:r>
            <a:r>
              <a:rPr lang="en-US" dirty="0" err="1"/>
              <a:t>opstår</a:t>
            </a:r>
            <a:r>
              <a:rPr lang="en-US" dirty="0"/>
              <a:t> der </a:t>
            </a:r>
            <a:r>
              <a:rPr lang="en-US" dirty="0" err="1"/>
              <a:t>kø</a:t>
            </a:r>
            <a:r>
              <a:rPr lang="en-US" dirty="0"/>
              <a:t>? (</a:t>
            </a:r>
            <a:r>
              <a:rPr lang="en-US" dirty="0" err="1"/>
              <a:t>hvis</a:t>
            </a:r>
            <a:r>
              <a:rPr lang="en-US" dirty="0"/>
              <a:t> der </a:t>
            </a:r>
            <a:r>
              <a:rPr lang="en-US" dirty="0" err="1"/>
              <a:t>gør</a:t>
            </a:r>
            <a:r>
              <a:rPr lang="en-US" dirty="0"/>
              <a:t>!)</a:t>
            </a:r>
          </a:p>
          <a:p>
            <a:r>
              <a:rPr lang="en-US" dirty="0"/>
              <a:t>Bandwidth, Congestion, Delay, and Jitter</a:t>
            </a:r>
          </a:p>
          <a:p>
            <a:pPr lvl="1"/>
            <a:r>
              <a:rPr lang="en-US" sz="2200" dirty="0">
                <a:solidFill>
                  <a:srgbClr val="FF0066"/>
                </a:solidFill>
              </a:rPr>
              <a:t>Delay </a:t>
            </a:r>
            <a:r>
              <a:rPr lang="en-US" sz="2200" dirty="0"/>
              <a:t>is the time it takes for a packet to travel from the source to the destination.</a:t>
            </a:r>
          </a:p>
          <a:p>
            <a:pPr lvl="1"/>
            <a:r>
              <a:rPr lang="en-US" sz="2200" dirty="0">
                <a:solidFill>
                  <a:srgbClr val="FF0066"/>
                </a:solidFill>
              </a:rPr>
              <a:t>Jitter</a:t>
            </a:r>
            <a:r>
              <a:rPr lang="en-US" sz="2200" dirty="0"/>
              <a:t> is the variation in the delay of received packets.</a:t>
            </a:r>
            <a:r>
              <a:rPr lang="en-US" dirty="0"/>
              <a:t> </a:t>
            </a:r>
          </a:p>
          <a:p>
            <a:pPr lvl="1"/>
            <a:endParaRPr lang="en-US" dirty="0"/>
          </a:p>
          <a:p>
            <a:r>
              <a:rPr lang="en-US" dirty="0"/>
              <a:t>Packet Loss</a:t>
            </a:r>
          </a:p>
          <a:p>
            <a:pPr lvl="1"/>
            <a:r>
              <a:rPr lang="en-US" sz="2200" dirty="0"/>
              <a:t>When </a:t>
            </a:r>
            <a:r>
              <a:rPr lang="en-US" sz="2200" dirty="0">
                <a:highlight>
                  <a:srgbClr val="00FFFF"/>
                </a:highlight>
              </a:rPr>
              <a:t>congestion</a:t>
            </a:r>
            <a:r>
              <a:rPr lang="en-US" sz="2200" dirty="0"/>
              <a:t> occurs, network devices such as routers and switches can </a:t>
            </a:r>
            <a:r>
              <a:rPr lang="en-US" sz="2200" dirty="0">
                <a:highlight>
                  <a:srgbClr val="00FFFF"/>
                </a:highlight>
              </a:rPr>
              <a:t>drop packets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Packet loss is a very </a:t>
            </a:r>
            <a:r>
              <a:rPr lang="en-US" sz="2200" dirty="0">
                <a:solidFill>
                  <a:srgbClr val="7030A0"/>
                </a:solidFill>
              </a:rPr>
              <a:t>common cause of voice quality problems</a:t>
            </a:r>
            <a:r>
              <a:rPr lang="en-US" sz="2200" dirty="0"/>
              <a:t> on an IP network. </a:t>
            </a:r>
          </a:p>
          <a:p>
            <a:pPr lvl="1"/>
            <a:r>
              <a:rPr lang="en-US" sz="2200" dirty="0"/>
              <a:t>In a properly designed network, packet loss should be near zero. </a:t>
            </a:r>
          </a:p>
          <a:p>
            <a:pPr lvl="1"/>
            <a:r>
              <a:rPr lang="en-US" sz="2200" dirty="0"/>
              <a:t>Network engineers use QoS mechanisms to </a:t>
            </a:r>
            <a:r>
              <a:rPr lang="en-US" sz="2200" b="1" dirty="0">
                <a:solidFill>
                  <a:srgbClr val="FF0066"/>
                </a:solidFill>
              </a:rPr>
              <a:t>classify packets </a:t>
            </a:r>
            <a:r>
              <a:rPr lang="en-US" sz="2200" dirty="0"/>
              <a:t>for zero packet loss. </a:t>
            </a:r>
          </a:p>
        </p:txBody>
      </p:sp>
    </p:spTree>
    <p:extLst>
      <p:ext uri="{BB962C8B-B14F-4D97-AF65-F5344CB8AC3E}">
        <p14:creationId xmlns:p14="http://schemas.microsoft.com/office/powerpoint/2010/main" val="4220395065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34390"/>
            <a:ext cx="9052559" cy="6103620"/>
          </a:xfrm>
        </p:spPr>
        <p:txBody>
          <a:bodyPr>
            <a:normAutofit fontScale="92500" lnSpcReduction="10000"/>
          </a:bodyPr>
          <a:lstStyle/>
          <a:p>
            <a:pPr marL="228600" lvl="1" indent="0">
              <a:buNone/>
            </a:pPr>
            <a:r>
              <a:rPr lang="en-US" sz="2600" dirty="0" err="1"/>
              <a:t>Forskellige</a:t>
            </a:r>
            <a:r>
              <a:rPr lang="en-US" sz="2600" dirty="0"/>
              <a:t> </a:t>
            </a:r>
            <a:r>
              <a:rPr lang="en-US" sz="2600" dirty="0" err="1"/>
              <a:t>krav</a:t>
            </a:r>
            <a:r>
              <a:rPr lang="en-US" sz="2600" dirty="0"/>
              <a:t> </a:t>
            </a:r>
            <a:r>
              <a:rPr lang="en-US" sz="2600" dirty="0" err="1"/>
              <a:t>til</a:t>
            </a:r>
            <a:r>
              <a:rPr lang="en-US" sz="2600" dirty="0"/>
              <a:t> </a:t>
            </a:r>
            <a:r>
              <a:rPr lang="en-US" sz="2600" dirty="0" err="1"/>
              <a:t>forskellige</a:t>
            </a:r>
            <a:r>
              <a:rPr lang="en-US" sz="2600" dirty="0"/>
              <a:t> </a:t>
            </a:r>
            <a:r>
              <a:rPr lang="en-US" sz="2600" dirty="0" err="1"/>
              <a:t>typer</a:t>
            </a:r>
            <a:r>
              <a:rPr lang="en-US" sz="2600" dirty="0"/>
              <a:t> </a:t>
            </a:r>
            <a:r>
              <a:rPr lang="en-US" sz="2600" dirty="0" err="1"/>
              <a:t>trafik</a:t>
            </a:r>
            <a:r>
              <a:rPr lang="en-US" sz="2600" dirty="0"/>
              <a:t>:</a:t>
            </a:r>
            <a:endParaRPr lang="en-US" sz="2600" dirty="0">
              <a:solidFill>
                <a:srgbClr val="FF0066"/>
              </a:solidFill>
            </a:endParaRPr>
          </a:p>
          <a:p>
            <a:r>
              <a:rPr lang="en-US" dirty="0">
                <a:effectLst/>
              </a:rPr>
              <a:t>Voice</a:t>
            </a:r>
          </a:p>
          <a:p>
            <a:pPr lvl="1"/>
            <a:r>
              <a:rPr lang="en-US" sz="2400" dirty="0"/>
              <a:t>Voice is very </a:t>
            </a:r>
            <a:r>
              <a:rPr lang="en-US" sz="2400" dirty="0">
                <a:solidFill>
                  <a:srgbClr val="CC00FF"/>
                </a:solidFill>
              </a:rPr>
              <a:t>sensitive to delays </a:t>
            </a:r>
            <a:r>
              <a:rPr lang="en-US" sz="2400" dirty="0"/>
              <a:t>and dropped packets; there is no reason to re-transmit voice if packets are lost. Voice can tolerate only a certain amount of latency, jitter, and loss without noticeable effects. </a:t>
            </a:r>
          </a:p>
          <a:p>
            <a:pPr lvl="1"/>
            <a:r>
              <a:rPr lang="en-US" sz="2400" dirty="0">
                <a:solidFill>
                  <a:srgbClr val="CC00FF"/>
                </a:solidFill>
              </a:rPr>
              <a:t>Voice packets must receive a higher priority than other types of traffic. </a:t>
            </a:r>
          </a:p>
          <a:p>
            <a:r>
              <a:rPr lang="en-US" dirty="0"/>
              <a:t>Video</a:t>
            </a:r>
          </a:p>
          <a:p>
            <a:pPr lvl="1"/>
            <a:r>
              <a:rPr lang="en-US" sz="2400"/>
              <a:t>Video </a:t>
            </a:r>
            <a:r>
              <a:rPr lang="en-US" sz="2400" dirty="0"/>
              <a:t>can </a:t>
            </a:r>
            <a:r>
              <a:rPr lang="en-US" sz="2400" dirty="0">
                <a:solidFill>
                  <a:srgbClr val="00B0F0"/>
                </a:solidFill>
              </a:rPr>
              <a:t>tolerate a certain </a:t>
            </a:r>
            <a:r>
              <a:rPr lang="en-US" sz="2400" dirty="0"/>
              <a:t>(higher than Voice) </a:t>
            </a:r>
            <a:r>
              <a:rPr lang="en-US" sz="2400" dirty="0">
                <a:solidFill>
                  <a:srgbClr val="00B0F0"/>
                </a:solidFill>
              </a:rPr>
              <a:t>amount of latency</a:t>
            </a:r>
            <a:r>
              <a:rPr lang="en-US" sz="2400" dirty="0"/>
              <a:t>, jitter, and loss without any noticeable affects.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sz="2400" dirty="0"/>
              <a:t>Data applications that have no tolerance for data loss, such as email and web pages, use </a:t>
            </a:r>
            <a:r>
              <a:rPr lang="en-US" sz="2400" u="sng" dirty="0"/>
              <a:t>TCP</a:t>
            </a:r>
            <a:r>
              <a:rPr lang="en-US" sz="2400" dirty="0"/>
              <a:t> to ensure that, if packets are lost in transit, they will be resent.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</a:rPr>
              <a:t>Data traffic is relatively insensitive </a:t>
            </a:r>
            <a:r>
              <a:rPr lang="en-US" sz="2400" dirty="0"/>
              <a:t>to drops and delays compared to voice and video.</a:t>
            </a:r>
          </a:p>
          <a:p>
            <a:pPr lvl="1"/>
            <a:endParaRPr lang="en-US" sz="2200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8662"/>
            <a:ext cx="5319855" cy="54286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Traffic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409677141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20166"/>
            <a:ext cx="9052560" cy="3992448"/>
          </a:xfrm>
        </p:spPr>
        <p:txBody>
          <a:bodyPr>
            <a:normAutofit/>
          </a:bodyPr>
          <a:lstStyle/>
          <a:p>
            <a:r>
              <a:rPr lang="en-US" dirty="0"/>
              <a:t>First In First Out (FIFO) = </a:t>
            </a:r>
            <a:r>
              <a:rPr lang="en-US" dirty="0" err="1">
                <a:highlight>
                  <a:srgbClr val="FFFF00"/>
                </a:highlight>
              </a:rPr>
              <a:t>ingen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prioritet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pPr lvl="1"/>
            <a:r>
              <a:rPr lang="en-US" sz="2400" dirty="0"/>
              <a:t>FIFO has no concept of priority or classes of traffic and consequently, makes </a:t>
            </a:r>
            <a:r>
              <a:rPr lang="en-US" sz="2400" dirty="0">
                <a:solidFill>
                  <a:srgbClr val="FF0066"/>
                </a:solidFill>
              </a:rPr>
              <a:t>no decision about packet priority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FIFO, which is the </a:t>
            </a:r>
            <a:r>
              <a:rPr lang="en-US" sz="2400" dirty="0">
                <a:solidFill>
                  <a:srgbClr val="FF0066"/>
                </a:solidFill>
              </a:rPr>
              <a:t>fastest method </a:t>
            </a:r>
            <a:r>
              <a:rPr lang="en-US" sz="2400" dirty="0"/>
              <a:t>of queuing, is effective for large links that have little delay and minimal congestion.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772157" cy="47428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Queueing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31" y="3440856"/>
            <a:ext cx="6579669" cy="245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9212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43026"/>
            <a:ext cx="9222658" cy="33324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/>
              <a:t>Weighted Fair Queuing (WFQ) = </a:t>
            </a:r>
            <a:r>
              <a:rPr lang="en-US" sz="2600" dirty="0" err="1"/>
              <a:t>trafik</a:t>
            </a:r>
            <a:r>
              <a:rPr lang="en-US" sz="2600" dirty="0"/>
              <a:t> </a:t>
            </a:r>
            <a:r>
              <a:rPr lang="en-US" sz="2600" dirty="0" err="1"/>
              <a:t>inddeles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>
                <a:highlight>
                  <a:srgbClr val="FFFF00"/>
                </a:highlight>
              </a:rPr>
              <a:t>foruddefinerede</a:t>
            </a:r>
            <a:r>
              <a:rPr lang="en-US" sz="2600" dirty="0">
                <a:highlight>
                  <a:srgbClr val="FFFF00"/>
                </a:highlight>
              </a:rPr>
              <a:t> </a:t>
            </a:r>
            <a:r>
              <a:rPr lang="en-US" sz="2600" err="1">
                <a:highlight>
                  <a:srgbClr val="FFFF00"/>
                </a:highlight>
              </a:rPr>
              <a:t>klasser</a:t>
            </a:r>
            <a:r>
              <a:rPr lang="en-US" sz="2600"/>
              <a:t>.</a:t>
            </a:r>
          </a:p>
          <a:p>
            <a:pPr marL="0" indent="0">
              <a:buNone/>
            </a:pPr>
            <a:r>
              <a:rPr lang="en-US" sz="2600" i="1"/>
              <a:t>(hvis vi selv vil definere klasserne, kaldes det </a:t>
            </a:r>
            <a:r>
              <a:rPr lang="en-US" sz="2800" i="1"/>
              <a:t>Class-Based Weighted Fair Queuing, og det ser vi på næste side)</a:t>
            </a:r>
            <a:endParaRPr lang="en-US" sz="2600" i="1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300" dirty="0"/>
              <a:t>An </a:t>
            </a:r>
            <a:r>
              <a:rPr lang="en-US" sz="2300" dirty="0">
                <a:highlight>
                  <a:srgbClr val="FFFF00"/>
                </a:highlight>
              </a:rPr>
              <a:t>automated </a:t>
            </a:r>
            <a:r>
              <a:rPr lang="en-US" sz="2300" dirty="0"/>
              <a:t>scheduling method that provides fair bandwidth allocation to all network traffic.</a:t>
            </a:r>
          </a:p>
          <a:p>
            <a:pPr lvl="1"/>
            <a:r>
              <a:rPr lang="en-US" sz="2300" dirty="0"/>
              <a:t>Applies </a:t>
            </a:r>
            <a:r>
              <a:rPr lang="en-US" sz="2300" dirty="0">
                <a:solidFill>
                  <a:srgbClr val="00B050"/>
                </a:solidFill>
              </a:rPr>
              <a:t>priority (= weights), </a:t>
            </a:r>
            <a:r>
              <a:rPr lang="en-US" sz="2300" dirty="0"/>
              <a:t>to identified traffic and classifies it into conversations or </a:t>
            </a:r>
            <a:r>
              <a:rPr lang="en-US" sz="2300"/>
              <a:t>flows. [Klasserne er foruddefinerede, som på tegningen!]</a:t>
            </a:r>
            <a:endParaRPr lang="en-US" sz="2300" dirty="0"/>
          </a:p>
          <a:p>
            <a:pPr lvl="1"/>
            <a:r>
              <a:rPr lang="en-US" sz="2300">
                <a:solidFill>
                  <a:srgbClr val="FF0066"/>
                </a:solidFill>
              </a:rPr>
              <a:t>!!!!! WFQ </a:t>
            </a:r>
            <a:r>
              <a:rPr lang="en-US" sz="2300" dirty="0">
                <a:solidFill>
                  <a:srgbClr val="FF0066"/>
                </a:solidFill>
              </a:rPr>
              <a:t>is not supported with tunneling and encryption </a:t>
            </a:r>
            <a:r>
              <a:rPr lang="en-US" sz="2300" dirty="0"/>
              <a:t>because these features modify the packet content </a:t>
            </a:r>
            <a:r>
              <a:rPr lang="en-US" sz="2300"/>
              <a:t>information required.</a:t>
            </a:r>
            <a:endParaRPr lang="en-US" sz="2300" dirty="0"/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7" y="337242"/>
            <a:ext cx="8772157" cy="54286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Queueing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07" y="4101742"/>
            <a:ext cx="7480003" cy="275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9317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51586"/>
            <a:ext cx="9144000" cy="2866252"/>
          </a:xfrm>
        </p:spPr>
        <p:txBody>
          <a:bodyPr>
            <a:normAutofit fontScale="92500" lnSpcReduction="20000"/>
          </a:bodyPr>
          <a:lstStyle/>
          <a:p>
            <a:r>
              <a:rPr lang="en-US" sz="3100" dirty="0"/>
              <a:t>Class-Based Weighted Fair Queuing (CBWFQ)</a:t>
            </a:r>
          </a:p>
          <a:p>
            <a:pPr lvl="1"/>
            <a:r>
              <a:rPr lang="en-US" sz="2600" dirty="0"/>
              <a:t>Extends the standard WFQ functionality to provide support for </a:t>
            </a:r>
            <a:r>
              <a:rPr lang="en-US" sz="2600" dirty="0">
                <a:solidFill>
                  <a:srgbClr val="FF0066"/>
                </a:solidFill>
                <a:highlight>
                  <a:srgbClr val="FFFF00"/>
                </a:highlight>
              </a:rPr>
              <a:t>user-defined traffic classes.</a:t>
            </a:r>
          </a:p>
          <a:p>
            <a:pPr lvl="1"/>
            <a:r>
              <a:rPr lang="en-US" sz="2600" dirty="0">
                <a:solidFill>
                  <a:srgbClr val="7030A0"/>
                </a:solidFill>
              </a:rPr>
              <a:t>To characterize a class, you assign it bandwidth, weight, and maximum packet limit.</a:t>
            </a:r>
          </a:p>
          <a:p>
            <a:pPr lvl="1"/>
            <a:r>
              <a:rPr lang="en-US" sz="2600" dirty="0"/>
              <a:t>You also specify the queue limit for that class, which is the maximum number of packets allowed to accumulate in the queue for the class.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772157" cy="43999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Queueing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1" y="3549445"/>
            <a:ext cx="7843509" cy="327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21945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63016"/>
            <a:ext cx="9144000" cy="2866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Low Latency Queuing (LLQ) =</a:t>
            </a:r>
            <a:r>
              <a:rPr lang="en-US" dirty="0"/>
              <a:t> </a:t>
            </a:r>
            <a:r>
              <a:rPr lang="en-US" dirty="0" err="1"/>
              <a:t>noget</a:t>
            </a:r>
            <a:r>
              <a:rPr lang="en-US" dirty="0"/>
              <a:t> </a:t>
            </a:r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</a:t>
            </a:r>
            <a:r>
              <a:rPr lang="en-US" dirty="0" err="1"/>
              <a:t>førsteret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r>
              <a:rPr lang="en-US" dirty="0"/>
              <a:t> </a:t>
            </a:r>
          </a:p>
          <a:p>
            <a:r>
              <a:rPr lang="en-US" sz="2400" dirty="0"/>
              <a:t>LLQ provides strict priority (= </a:t>
            </a:r>
            <a:r>
              <a:rPr lang="en-US" sz="2400" dirty="0" err="1"/>
              <a:t>har</a:t>
            </a:r>
            <a:r>
              <a:rPr lang="en-US" sz="2400" dirty="0"/>
              <a:t> </a:t>
            </a:r>
            <a:r>
              <a:rPr lang="en-US" sz="2400" dirty="0" err="1"/>
              <a:t>altid</a:t>
            </a:r>
            <a:r>
              <a:rPr lang="en-US" sz="2400" dirty="0"/>
              <a:t> </a:t>
            </a:r>
            <a:r>
              <a:rPr lang="en-US" sz="2400" dirty="0" err="1"/>
              <a:t>førsteret</a:t>
            </a:r>
            <a:r>
              <a:rPr lang="en-US" sz="2400" dirty="0"/>
              <a:t>, </a:t>
            </a:r>
            <a:r>
              <a:rPr lang="en-US" sz="2400" dirty="0" err="1"/>
              <a:t>inden</a:t>
            </a:r>
            <a:r>
              <a:rPr lang="en-US" sz="2400" dirty="0"/>
              <a:t> </a:t>
            </a:r>
            <a:r>
              <a:rPr lang="en-US" sz="2400" dirty="0" err="1"/>
              <a:t>almindelig</a:t>
            </a:r>
            <a:r>
              <a:rPr lang="en-US" sz="2400" dirty="0"/>
              <a:t> CBWFQ </a:t>
            </a:r>
            <a:r>
              <a:rPr lang="en-US" sz="2400" dirty="0" err="1"/>
              <a:t>træder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kraft</a:t>
            </a:r>
            <a:r>
              <a:rPr lang="en-US" sz="2400" dirty="0"/>
              <a:t> for </a:t>
            </a:r>
            <a:r>
              <a:rPr lang="en-US" sz="2400" dirty="0" err="1"/>
              <a:t>resten</a:t>
            </a:r>
            <a:r>
              <a:rPr lang="en-US" sz="2400" dirty="0"/>
              <a:t> </a:t>
            </a:r>
            <a:r>
              <a:rPr lang="en-US" sz="2400" dirty="0" err="1"/>
              <a:t>af</a:t>
            </a:r>
            <a:r>
              <a:rPr lang="en-US" sz="2400" dirty="0"/>
              <a:t> </a:t>
            </a:r>
            <a:r>
              <a:rPr lang="en-US" sz="2400" dirty="0" err="1"/>
              <a:t>trafik</a:t>
            </a:r>
            <a:r>
              <a:rPr lang="en-US" sz="2400" dirty="0"/>
              <a:t> </a:t>
            </a:r>
            <a:r>
              <a:rPr lang="en-US" sz="2400" dirty="0" err="1"/>
              <a:t>typerne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LLQ allows delay-sensitive data such as voice to be sent first.</a:t>
            </a:r>
          </a:p>
        </p:txBody>
      </p:sp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6" y="245802"/>
            <a:ext cx="8772157" cy="55429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br>
              <a:rPr lang="en-US" dirty="0"/>
            </a:br>
            <a:r>
              <a:rPr lang="en-US" dirty="0"/>
              <a:t>Queueing Algorithms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56" y="3418134"/>
            <a:ext cx="6898663" cy="33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01472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772157" cy="462858"/>
          </a:xfrm>
        </p:spPr>
        <p:txBody>
          <a:bodyPr/>
          <a:lstStyle/>
          <a:p>
            <a:br>
              <a:rPr lang="en-US" dirty="0"/>
            </a:br>
            <a:r>
              <a:rPr lang="en-US"/>
              <a:t>QoS Modeller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42504" y="3645726"/>
            <a:ext cx="9429007" cy="3295402"/>
          </a:xfrm>
        </p:spPr>
        <p:txBody>
          <a:bodyPr/>
          <a:lstStyle/>
          <a:p>
            <a:pPr marL="228600" lvl="1" indent="0">
              <a:buNone/>
            </a:pPr>
            <a:r>
              <a:rPr lang="en-US" sz="2100" dirty="0">
                <a:solidFill>
                  <a:srgbClr val="FF0066"/>
                </a:solidFill>
              </a:rPr>
              <a:t>Best-effort</a:t>
            </a:r>
            <a:r>
              <a:rPr lang="en-US" sz="2100" dirty="0"/>
              <a:t> = </a:t>
            </a:r>
            <a:r>
              <a:rPr lang="en-US" sz="2100" dirty="0" err="1"/>
              <a:t>ingen</a:t>
            </a:r>
            <a:r>
              <a:rPr lang="en-US" sz="2100" dirty="0"/>
              <a:t> QoS </a:t>
            </a:r>
            <a:r>
              <a:rPr lang="en-US" sz="2100" dirty="0" err="1"/>
              <a:t>implementeret</a:t>
            </a:r>
            <a:r>
              <a:rPr lang="en-US" sz="2100" dirty="0"/>
              <a:t>! (FIFO)</a:t>
            </a:r>
          </a:p>
          <a:p>
            <a:pPr marL="228600" lvl="1" indent="0">
              <a:buNone/>
            </a:pPr>
            <a:r>
              <a:rPr lang="en-US" sz="2100" dirty="0" err="1">
                <a:solidFill>
                  <a:srgbClr val="FF0066"/>
                </a:solidFill>
              </a:rPr>
              <a:t>IntServ</a:t>
            </a:r>
            <a:r>
              <a:rPr lang="en-US" sz="2100" dirty="0"/>
              <a:t> = </a:t>
            </a:r>
            <a:r>
              <a:rPr lang="en-US" sz="2100" dirty="0" err="1"/>
              <a:t>Kaldes</a:t>
            </a:r>
            <a:r>
              <a:rPr lang="en-US" sz="2100" dirty="0"/>
              <a:t> “integrated” </a:t>
            </a:r>
            <a:r>
              <a:rPr lang="en-US" sz="2100" dirty="0" err="1"/>
              <a:t>sevices</a:t>
            </a:r>
            <a:r>
              <a:rPr lang="en-US" sz="2100" dirty="0"/>
              <a:t>, </a:t>
            </a:r>
            <a:r>
              <a:rPr lang="en-US" sz="2100" dirty="0" err="1"/>
              <a:t>fordi</a:t>
            </a:r>
            <a:r>
              <a:rPr lang="en-US" sz="2100" dirty="0"/>
              <a:t> </a:t>
            </a:r>
            <a:r>
              <a:rPr lang="en-US" sz="2100" dirty="0" err="1"/>
              <a:t>enhederne</a:t>
            </a:r>
            <a:r>
              <a:rPr lang="en-US" sz="2100" dirty="0"/>
              <a:t> </a:t>
            </a:r>
            <a:r>
              <a:rPr lang="en-US" sz="2100" dirty="0" err="1"/>
              <a:t>som</a:t>
            </a:r>
            <a:r>
              <a:rPr lang="en-US" sz="2100" dirty="0"/>
              <a:t> </a:t>
            </a:r>
            <a:r>
              <a:rPr lang="en-US" sz="2100" dirty="0" err="1"/>
              <a:t>behandler</a:t>
            </a:r>
            <a:r>
              <a:rPr lang="en-US" sz="2100" dirty="0"/>
              <a:t> </a:t>
            </a:r>
            <a:r>
              <a:rPr lang="en-US" sz="2100" dirty="0" err="1"/>
              <a:t>pakkerne</a:t>
            </a:r>
            <a:r>
              <a:rPr lang="en-US" sz="2100" dirty="0"/>
              <a:t> </a:t>
            </a:r>
            <a:r>
              <a:rPr lang="en-US" sz="2100" dirty="0" err="1"/>
              <a:t>fra</a:t>
            </a:r>
            <a:r>
              <a:rPr lang="en-US" sz="2100" dirty="0"/>
              <a:t> </a:t>
            </a:r>
            <a:r>
              <a:rPr lang="en-US" sz="2100" dirty="0" err="1"/>
              <a:t>afsender</a:t>
            </a:r>
            <a:r>
              <a:rPr lang="en-US" sz="2100" dirty="0"/>
              <a:t> </a:t>
            </a:r>
            <a:r>
              <a:rPr lang="en-US" sz="2100" dirty="0" err="1"/>
              <a:t>til</a:t>
            </a:r>
            <a:r>
              <a:rPr lang="en-US" sz="2100" dirty="0"/>
              <a:t> </a:t>
            </a:r>
            <a:r>
              <a:rPr lang="en-US" sz="2100" dirty="0" err="1"/>
              <a:t>modtager</a:t>
            </a:r>
            <a:r>
              <a:rPr lang="en-US" sz="2100" dirty="0"/>
              <a:t>, sender </a:t>
            </a:r>
            <a:r>
              <a:rPr lang="en-US" sz="2100" dirty="0" err="1"/>
              <a:t>besked</a:t>
            </a:r>
            <a:r>
              <a:rPr lang="en-US" sz="2100" dirty="0"/>
              <a:t> </a:t>
            </a:r>
            <a:r>
              <a:rPr lang="en-US" sz="2100" dirty="0" err="1"/>
              <a:t>i</a:t>
            </a:r>
            <a:r>
              <a:rPr lang="en-US" sz="2100" dirty="0"/>
              <a:t> </a:t>
            </a:r>
            <a:r>
              <a:rPr lang="en-US" sz="2100" dirty="0" err="1"/>
              <a:t>forvejen</a:t>
            </a:r>
            <a:r>
              <a:rPr lang="en-US" sz="2100" dirty="0"/>
              <a:t> at der om </a:t>
            </a:r>
            <a:r>
              <a:rPr lang="en-US" sz="2100" dirty="0" err="1"/>
              <a:t>lidt</a:t>
            </a:r>
            <a:r>
              <a:rPr lang="en-US" sz="2100" dirty="0"/>
              <a:t> </a:t>
            </a:r>
            <a:r>
              <a:rPr lang="en-US" sz="2100" dirty="0" err="1"/>
              <a:t>kommer</a:t>
            </a:r>
            <a:r>
              <a:rPr lang="en-US" sz="2100" dirty="0"/>
              <a:t> </a:t>
            </a:r>
            <a:r>
              <a:rPr lang="en-US" sz="2100" dirty="0" err="1"/>
              <a:t>noget</a:t>
            </a:r>
            <a:r>
              <a:rPr lang="en-US" sz="2100" dirty="0"/>
              <a:t> </a:t>
            </a:r>
            <a:r>
              <a:rPr lang="en-US" sz="2100" dirty="0" err="1"/>
              <a:t>trafik</a:t>
            </a:r>
            <a:r>
              <a:rPr lang="en-US" sz="2100" dirty="0"/>
              <a:t> </a:t>
            </a:r>
            <a:r>
              <a:rPr lang="en-US" sz="2100" dirty="0" err="1"/>
              <a:t>som</a:t>
            </a:r>
            <a:r>
              <a:rPr lang="en-US" sz="2100" dirty="0"/>
              <a:t> </a:t>
            </a:r>
            <a:r>
              <a:rPr lang="en-US" sz="2100" dirty="0" err="1"/>
              <a:t>skal</a:t>
            </a:r>
            <a:r>
              <a:rPr lang="en-US" sz="2100" dirty="0"/>
              <a:t> have </a:t>
            </a:r>
            <a:r>
              <a:rPr lang="en-US" sz="2100" dirty="0" err="1"/>
              <a:t>en</a:t>
            </a:r>
            <a:r>
              <a:rPr lang="en-US" sz="2100" dirty="0"/>
              <a:t> </a:t>
            </a:r>
            <a:r>
              <a:rPr lang="en-US" sz="2100" dirty="0" err="1"/>
              <a:t>speciel</a:t>
            </a:r>
            <a:r>
              <a:rPr lang="en-US" sz="2100" dirty="0"/>
              <a:t> </a:t>
            </a:r>
            <a:r>
              <a:rPr lang="en-US" sz="2100" dirty="0" err="1"/>
              <a:t>behandling</a:t>
            </a:r>
            <a:r>
              <a:rPr lang="en-US" sz="2100" dirty="0"/>
              <a:t>. </a:t>
            </a:r>
            <a:r>
              <a:rPr lang="en-US" sz="2100" dirty="0" err="1"/>
              <a:t>Ikke</a:t>
            </a:r>
            <a:r>
              <a:rPr lang="en-US" sz="2100" dirty="0"/>
              <a:t> </a:t>
            </a:r>
            <a:r>
              <a:rPr lang="en-US" sz="2100" dirty="0" err="1"/>
              <a:t>alle</a:t>
            </a:r>
            <a:r>
              <a:rPr lang="en-US" sz="2100" dirty="0"/>
              <a:t> </a:t>
            </a:r>
            <a:r>
              <a:rPr lang="en-US" sz="2100" dirty="0" err="1"/>
              <a:t>enheder</a:t>
            </a:r>
            <a:r>
              <a:rPr lang="en-US" sz="2100" dirty="0"/>
              <a:t> </a:t>
            </a:r>
            <a:r>
              <a:rPr lang="en-US" sz="2100" dirty="0" err="1"/>
              <a:t>kan</a:t>
            </a:r>
            <a:r>
              <a:rPr lang="en-US" sz="2100" dirty="0"/>
              <a:t> </a:t>
            </a:r>
            <a:r>
              <a:rPr lang="en-US" sz="2100" dirty="0" err="1"/>
              <a:t>genkende</a:t>
            </a:r>
            <a:r>
              <a:rPr lang="en-US" sz="2100" dirty="0"/>
              <a:t> </a:t>
            </a:r>
            <a:r>
              <a:rPr lang="en-US" sz="2100" dirty="0" err="1"/>
              <a:t>denne</a:t>
            </a:r>
            <a:r>
              <a:rPr lang="en-US" sz="2100" dirty="0"/>
              <a:t> </a:t>
            </a:r>
            <a:r>
              <a:rPr lang="en-US" sz="2100" dirty="0" err="1"/>
              <a:t>signaleringsmetode</a:t>
            </a:r>
            <a:r>
              <a:rPr lang="en-US" sz="2100" dirty="0"/>
              <a:t>. </a:t>
            </a:r>
            <a:r>
              <a:rPr lang="en-US" sz="2100" dirty="0" err="1"/>
              <a:t>Duer</a:t>
            </a:r>
            <a:r>
              <a:rPr lang="en-US" sz="2100" dirty="0"/>
              <a:t> </a:t>
            </a:r>
            <a:r>
              <a:rPr lang="en-US" sz="2100" dirty="0" err="1"/>
              <a:t>ikke</a:t>
            </a:r>
            <a:r>
              <a:rPr lang="en-US" sz="2100" dirty="0"/>
              <a:t> </a:t>
            </a:r>
            <a:r>
              <a:rPr lang="en-US" sz="2100" dirty="0" err="1"/>
              <a:t>i</a:t>
            </a:r>
            <a:r>
              <a:rPr lang="en-US" sz="2100" dirty="0"/>
              <a:t> store </a:t>
            </a:r>
            <a:r>
              <a:rPr lang="en-US" sz="2100" dirty="0" err="1"/>
              <a:t>komplekse</a:t>
            </a:r>
            <a:r>
              <a:rPr lang="en-US" sz="2100" dirty="0"/>
              <a:t> </a:t>
            </a:r>
            <a:r>
              <a:rPr lang="en-US" sz="2100" dirty="0" err="1"/>
              <a:t>netværk</a:t>
            </a:r>
            <a:r>
              <a:rPr lang="en-US" sz="2100" dirty="0"/>
              <a:t>.</a:t>
            </a:r>
          </a:p>
          <a:p>
            <a:pPr marL="228600" lvl="1" indent="0">
              <a:buNone/>
            </a:pPr>
            <a:r>
              <a:rPr lang="en-US" sz="2100" dirty="0" err="1">
                <a:solidFill>
                  <a:srgbClr val="FF0066"/>
                </a:solidFill>
              </a:rPr>
              <a:t>DiffServ</a:t>
            </a:r>
            <a:r>
              <a:rPr lang="en-US" sz="2100" dirty="0"/>
              <a:t> = </a:t>
            </a:r>
            <a:r>
              <a:rPr lang="en-US" sz="2100" dirty="0" err="1"/>
              <a:t>Datapakkerne</a:t>
            </a:r>
            <a:r>
              <a:rPr lang="en-US" sz="2100" dirty="0"/>
              <a:t> </a:t>
            </a:r>
            <a:r>
              <a:rPr lang="en-US" sz="2100" dirty="0" err="1"/>
              <a:t>er</a:t>
            </a:r>
            <a:r>
              <a:rPr lang="en-US" sz="2100" dirty="0"/>
              <a:t> </a:t>
            </a:r>
            <a:r>
              <a:rPr lang="en-US" sz="2100" dirty="0" err="1"/>
              <a:t>opdelt</a:t>
            </a:r>
            <a:r>
              <a:rPr lang="en-US" sz="2100" dirty="0"/>
              <a:t> </a:t>
            </a:r>
            <a:r>
              <a:rPr lang="en-US" sz="2100" dirty="0" err="1"/>
              <a:t>i</a:t>
            </a:r>
            <a:r>
              <a:rPr lang="en-US" sz="2100" dirty="0"/>
              <a:t> </a:t>
            </a:r>
            <a:r>
              <a:rPr lang="en-US" sz="2100" dirty="0" err="1"/>
              <a:t>klasser</a:t>
            </a:r>
            <a:r>
              <a:rPr lang="en-US" sz="2100" dirty="0"/>
              <a:t>, </a:t>
            </a:r>
            <a:r>
              <a:rPr lang="en-US" sz="2100" dirty="0" err="1"/>
              <a:t>som</a:t>
            </a:r>
            <a:r>
              <a:rPr lang="en-US" sz="2100" dirty="0"/>
              <a:t> </a:t>
            </a:r>
            <a:r>
              <a:rPr lang="en-US" sz="2100" dirty="0" err="1"/>
              <a:t>alle</a:t>
            </a:r>
            <a:r>
              <a:rPr lang="en-US" sz="2100" dirty="0"/>
              <a:t> </a:t>
            </a:r>
            <a:r>
              <a:rPr lang="en-US" sz="2100" dirty="0" err="1"/>
              <a:t>enheder</a:t>
            </a:r>
            <a:r>
              <a:rPr lang="en-US" sz="2100" dirty="0"/>
              <a:t> </a:t>
            </a:r>
            <a:r>
              <a:rPr lang="en-US" sz="2100" dirty="0" err="1"/>
              <a:t>ved</a:t>
            </a:r>
            <a:r>
              <a:rPr lang="en-US" sz="2100" dirty="0"/>
              <a:t> </a:t>
            </a:r>
            <a:r>
              <a:rPr lang="en-US" sz="2100" dirty="0" err="1"/>
              <a:t>hvordan</a:t>
            </a:r>
            <a:r>
              <a:rPr lang="en-US" sz="2100" dirty="0"/>
              <a:t> </a:t>
            </a:r>
            <a:r>
              <a:rPr lang="en-US" sz="2100" dirty="0" err="1"/>
              <a:t>skal</a:t>
            </a:r>
            <a:r>
              <a:rPr lang="en-US" sz="2100" dirty="0"/>
              <a:t> </a:t>
            </a:r>
            <a:r>
              <a:rPr lang="en-US" sz="2100" dirty="0" err="1"/>
              <a:t>behandles</a:t>
            </a:r>
            <a:r>
              <a:rPr lang="en-US" sz="2100" dirty="0"/>
              <a:t>. </a:t>
            </a:r>
            <a:r>
              <a:rPr lang="en-US" sz="2100" dirty="0" err="1"/>
              <a:t>Virker</a:t>
            </a:r>
            <a:r>
              <a:rPr lang="en-US" sz="2100" dirty="0"/>
              <a:t> </a:t>
            </a:r>
            <a:r>
              <a:rPr lang="en-US" sz="2100" dirty="0" err="1"/>
              <a:t>også</a:t>
            </a:r>
            <a:r>
              <a:rPr lang="en-US" sz="2100" dirty="0"/>
              <a:t> </a:t>
            </a:r>
            <a:r>
              <a:rPr lang="en-US" sz="2100" dirty="0" err="1"/>
              <a:t>på</a:t>
            </a:r>
            <a:r>
              <a:rPr lang="en-US" sz="2100" dirty="0"/>
              <a:t> </a:t>
            </a:r>
            <a:r>
              <a:rPr lang="en-US" sz="2100" dirty="0" err="1"/>
              <a:t>tværs</a:t>
            </a:r>
            <a:r>
              <a:rPr lang="en-US" sz="2100" dirty="0"/>
              <a:t> </a:t>
            </a:r>
            <a:r>
              <a:rPr lang="en-US" sz="2100" dirty="0" err="1"/>
              <a:t>af</a:t>
            </a:r>
            <a:r>
              <a:rPr lang="en-US" sz="2100" dirty="0"/>
              <a:t> store </a:t>
            </a:r>
            <a:r>
              <a:rPr lang="en-US" sz="2100" dirty="0" err="1"/>
              <a:t>netværk</a:t>
            </a:r>
            <a:r>
              <a:rPr lang="en-US" sz="2100" dirty="0"/>
              <a:t> (</a:t>
            </a:r>
            <a:r>
              <a:rPr lang="en-US" sz="2100" dirty="0" err="1"/>
              <a:t>f.eks</a:t>
            </a:r>
            <a:r>
              <a:rPr lang="en-US" sz="2100" dirty="0"/>
              <a:t>. </a:t>
            </a:r>
            <a:r>
              <a:rPr lang="en-US" sz="2100" dirty="0" err="1"/>
              <a:t>Internettet</a:t>
            </a:r>
            <a:r>
              <a:rPr lang="en-US" sz="2100" dirty="0"/>
              <a:t>). </a:t>
            </a:r>
            <a:r>
              <a:rPr lang="en-US" sz="2100" dirty="0" err="1"/>
              <a:t>Altså</a:t>
            </a:r>
            <a:r>
              <a:rPr lang="en-US" sz="2100" dirty="0"/>
              <a:t> de </a:t>
            </a:r>
            <a:r>
              <a:rPr lang="en-US" sz="2100" dirty="0" err="1"/>
              <a:t>klassificerings</a:t>
            </a:r>
            <a:r>
              <a:rPr lang="en-US" sz="2100" dirty="0"/>
              <a:t> </a:t>
            </a:r>
            <a:r>
              <a:rPr lang="en-US" sz="2100" dirty="0" err="1"/>
              <a:t>metoder</a:t>
            </a:r>
            <a:r>
              <a:rPr lang="en-US" sz="2100" dirty="0"/>
              <a:t> vi </a:t>
            </a:r>
            <a:r>
              <a:rPr lang="en-US" sz="2100" dirty="0" err="1"/>
              <a:t>lige</a:t>
            </a:r>
            <a:r>
              <a:rPr lang="en-US" sz="2100" dirty="0"/>
              <a:t> har </a:t>
            </a:r>
            <a:r>
              <a:rPr lang="en-US" sz="2100" dirty="0" err="1"/>
              <a:t>talt</a:t>
            </a:r>
            <a:r>
              <a:rPr lang="en-US" sz="2100" dirty="0"/>
              <a:t> om </a:t>
            </a:r>
            <a:r>
              <a:rPr lang="en-US" sz="2100" dirty="0">
                <a:sym typeface="Wingdings" panose="05000000000000000000" pitchFamily="2" charset="2"/>
              </a:rPr>
              <a:t></a:t>
            </a:r>
            <a:endParaRPr lang="en-US" sz="2100" dirty="0"/>
          </a:p>
          <a:p>
            <a:pPr marL="228600" lvl="1" indent="0">
              <a:buNone/>
            </a:pPr>
            <a:r>
              <a:rPr lang="en-US" sz="2100" i="1" dirty="0"/>
              <a:t>			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8183"/>
            <a:ext cx="9144000" cy="26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4401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94392"/>
            <a:ext cx="8772157" cy="508578"/>
          </a:xfrm>
        </p:spPr>
        <p:txBody>
          <a:bodyPr/>
          <a:lstStyle/>
          <a:p>
            <a:br>
              <a:rPr lang="en-US" sz="1800" dirty="0"/>
            </a:br>
            <a:r>
              <a:rPr lang="en-US" dirty="0"/>
              <a:t>QoS Implementation Techniques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949720"/>
            <a:ext cx="9120809" cy="5664836"/>
          </a:xfrm>
        </p:spPr>
        <p:txBody>
          <a:bodyPr>
            <a:normAutofit/>
          </a:bodyPr>
          <a:lstStyle/>
          <a:p>
            <a:r>
              <a:rPr lang="en-US" dirty="0"/>
              <a:t>Classification and Marking</a:t>
            </a:r>
          </a:p>
          <a:p>
            <a:pPr lvl="1"/>
            <a:r>
              <a:rPr lang="en-US" sz="2400" dirty="0"/>
              <a:t>Before a packet can have a QoS policy applied to it, the </a:t>
            </a:r>
            <a:r>
              <a:rPr lang="en-US" sz="2400" dirty="0">
                <a:solidFill>
                  <a:srgbClr val="FF0066"/>
                </a:solidFill>
              </a:rPr>
              <a:t>packet has to be classified.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I </a:t>
            </a:r>
            <a:r>
              <a:rPr lang="en-US" sz="2400" dirty="0" err="1">
                <a:solidFill>
                  <a:srgbClr val="7030A0"/>
                </a:solidFill>
              </a:rPr>
              <a:t>praksis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betyder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 err="1">
                <a:solidFill>
                  <a:srgbClr val="7030A0"/>
                </a:solidFill>
              </a:rPr>
              <a:t>det</a:t>
            </a:r>
            <a:r>
              <a:rPr lang="en-US" sz="2400" dirty="0">
                <a:solidFill>
                  <a:srgbClr val="7030A0"/>
                </a:solidFill>
              </a:rPr>
              <a:t> at der </a:t>
            </a:r>
            <a:r>
              <a:rPr lang="en-US" sz="2400" dirty="0" err="1">
                <a:solidFill>
                  <a:srgbClr val="7030A0"/>
                </a:solidFill>
              </a:rPr>
              <a:t>udfyldes</a:t>
            </a:r>
            <a:r>
              <a:rPr lang="en-US" sz="2400" dirty="0">
                <a:solidFill>
                  <a:srgbClr val="7030A0"/>
                </a:solidFill>
              </a:rPr>
              <a:t> et felt </a:t>
            </a:r>
            <a:r>
              <a:rPr lang="en-US" sz="2400" dirty="0" err="1">
                <a:solidFill>
                  <a:srgbClr val="7030A0"/>
                </a:solidFill>
              </a:rPr>
              <a:t>i</a:t>
            </a:r>
            <a:r>
              <a:rPr lang="en-US" sz="2400" dirty="0">
                <a:solidFill>
                  <a:srgbClr val="7030A0"/>
                </a:solidFill>
              </a:rPr>
              <a:t> L3 </a:t>
            </a:r>
            <a:r>
              <a:rPr lang="en-US" sz="2400" dirty="0" err="1">
                <a:solidFill>
                  <a:srgbClr val="7030A0"/>
                </a:solidFill>
              </a:rPr>
              <a:t>og</a:t>
            </a:r>
            <a:r>
              <a:rPr lang="en-US" sz="2400" dirty="0">
                <a:solidFill>
                  <a:srgbClr val="7030A0"/>
                </a:solidFill>
              </a:rPr>
              <a:t>/</a:t>
            </a:r>
            <a:r>
              <a:rPr lang="en-US" sz="2400" dirty="0" err="1">
                <a:solidFill>
                  <a:srgbClr val="7030A0"/>
                </a:solidFill>
              </a:rPr>
              <a:t>eller</a:t>
            </a:r>
            <a:r>
              <a:rPr lang="en-US" sz="2400" dirty="0">
                <a:solidFill>
                  <a:srgbClr val="7030A0"/>
                </a:solidFill>
              </a:rPr>
              <a:t> L2 </a:t>
            </a:r>
            <a:r>
              <a:rPr lang="en-US" sz="2400" dirty="0" err="1">
                <a:solidFill>
                  <a:srgbClr val="7030A0"/>
                </a:solidFill>
              </a:rPr>
              <a:t>headeren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  <a:sym typeface="Wingdings" panose="05000000000000000000" pitchFamily="2" charset="2"/>
              </a:rPr>
              <a:t></a:t>
            </a:r>
            <a:endParaRPr lang="en-US" sz="2400" dirty="0">
              <a:solidFill>
                <a:srgbClr val="FF0066"/>
              </a:solidFill>
            </a:endParaRPr>
          </a:p>
          <a:p>
            <a:pPr lvl="1"/>
            <a:r>
              <a:rPr lang="en-US" sz="2400"/>
              <a:t>Se i nedenståede skema hvornår man markerer på hhv.   </a:t>
            </a:r>
            <a:r>
              <a:rPr lang="en-US" sz="2400">
                <a:solidFill>
                  <a:srgbClr val="FF0066"/>
                </a:solidFill>
              </a:rPr>
              <a:t>Layer 2 og 3</a:t>
            </a:r>
            <a:r>
              <a:rPr lang="en-US" sz="2400"/>
              <a:t>, hvad markeringsfeltet hedder og hvor meget det fylder.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0115"/>
            <a:ext cx="9286556" cy="24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79989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337242"/>
            <a:ext cx="8772157" cy="508578"/>
          </a:xfrm>
        </p:spPr>
        <p:txBody>
          <a:bodyPr/>
          <a:lstStyle/>
          <a:p>
            <a:br>
              <a:rPr lang="en-US" sz="1800" dirty="0"/>
            </a:br>
            <a:r>
              <a:rPr lang="en-US" dirty="0"/>
              <a:t>QoS Implementation Techniques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0999" y="1078959"/>
            <a:ext cx="2160712" cy="511536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Marking at Layer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Marking at Layer 3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275" y="878775"/>
            <a:ext cx="6918725" cy="36338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558" y="4782404"/>
            <a:ext cx="7006442" cy="198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75332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71008" y="314382"/>
            <a:ext cx="8772157" cy="577158"/>
          </a:xfrm>
        </p:spPr>
        <p:txBody>
          <a:bodyPr/>
          <a:lstStyle/>
          <a:p>
            <a:br>
              <a:rPr lang="en-US" sz="1800" dirty="0"/>
            </a:br>
            <a:r>
              <a:rPr lang="en-US" dirty="0"/>
              <a:t>QoS Implementation Techniques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01530"/>
            <a:ext cx="9144000" cy="30985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00CC"/>
                </a:solidFill>
              </a:rPr>
              <a:t>Trust Boundaries (= der </a:t>
            </a:r>
            <a:r>
              <a:rPr lang="en-US" dirty="0" err="1">
                <a:solidFill>
                  <a:srgbClr val="0000CC"/>
                </a:solidFill>
              </a:rPr>
              <a:t>hvor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pakkerne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bliver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klassificeret</a:t>
            </a:r>
            <a:r>
              <a:rPr lang="en-US" dirty="0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sz="2200" dirty="0"/>
              <a:t>Traffic should be classified and marked </a:t>
            </a:r>
            <a:r>
              <a:rPr lang="en-US" sz="2200" dirty="0">
                <a:solidFill>
                  <a:srgbClr val="CC00FF"/>
                </a:solidFill>
              </a:rPr>
              <a:t>as close to its source </a:t>
            </a:r>
            <a:r>
              <a:rPr lang="en-US" sz="2200" dirty="0"/>
              <a:t>as technically and administratively feasible.</a:t>
            </a:r>
          </a:p>
          <a:p>
            <a:r>
              <a:rPr lang="en-US" dirty="0">
                <a:solidFill>
                  <a:srgbClr val="0000CC"/>
                </a:solidFill>
              </a:rPr>
              <a:t>Shaping and Policing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400" dirty="0"/>
          </a:p>
          <a:p>
            <a:pPr marL="228600" lvl="1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4210042"/>
            <a:ext cx="3652211" cy="1366732"/>
          </a:xfrm>
          <a:prstGeom prst="rect">
            <a:avLst/>
          </a:prstGeom>
        </p:spPr>
      </p:pic>
      <p:sp>
        <p:nvSpPr>
          <p:cNvPr id="4" name="Rektangel 3"/>
          <p:cNvSpPr/>
          <p:nvPr/>
        </p:nvSpPr>
        <p:spPr>
          <a:xfrm>
            <a:off x="-439996" y="2390035"/>
            <a:ext cx="5921005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/>
            <a:r>
              <a:rPr lang="en-US" sz="2200" dirty="0"/>
              <a:t>Traffic </a:t>
            </a:r>
            <a:r>
              <a:rPr lang="en-US" sz="2200" dirty="0">
                <a:solidFill>
                  <a:srgbClr val="FF0066"/>
                </a:solidFill>
              </a:rPr>
              <a:t>shaping</a:t>
            </a:r>
            <a:r>
              <a:rPr lang="en-US" sz="2200" dirty="0"/>
              <a:t> </a:t>
            </a:r>
            <a:r>
              <a:rPr lang="en-US" sz="2200" dirty="0" err="1"/>
              <a:t>opbevarer</a:t>
            </a:r>
            <a:r>
              <a:rPr lang="en-US" sz="2200" dirty="0"/>
              <a:t> </a:t>
            </a:r>
            <a:r>
              <a:rPr lang="en-US" sz="2200" dirty="0" err="1"/>
              <a:t>udgående</a:t>
            </a:r>
            <a:r>
              <a:rPr lang="en-US" sz="2200" dirty="0"/>
              <a:t> </a:t>
            </a:r>
            <a:r>
              <a:rPr lang="en-US" sz="2200" dirty="0" err="1"/>
              <a:t>pakker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kø</a:t>
            </a:r>
            <a:r>
              <a:rPr lang="en-US" sz="2200" dirty="0"/>
              <a:t> </a:t>
            </a:r>
            <a:r>
              <a:rPr lang="en-US" sz="2200" dirty="0" err="1"/>
              <a:t>og</a:t>
            </a:r>
            <a:r>
              <a:rPr lang="en-US" sz="2200" dirty="0"/>
              <a:t>  </a:t>
            </a:r>
            <a:r>
              <a:rPr lang="en-US" sz="2200" dirty="0" err="1"/>
              <a:t>fordeler</a:t>
            </a:r>
            <a:r>
              <a:rPr lang="en-US" sz="2200" dirty="0"/>
              <a:t> </a:t>
            </a:r>
            <a:r>
              <a:rPr lang="en-US" sz="2200" dirty="0" err="1"/>
              <a:t>trafikken</a:t>
            </a:r>
            <a:r>
              <a:rPr lang="en-US" sz="2200" dirty="0"/>
              <a:t> </a:t>
            </a:r>
            <a:r>
              <a:rPr lang="en-US" sz="2200" dirty="0" err="1"/>
              <a:t>til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FF0066"/>
                </a:solidFill>
              </a:rPr>
              <a:t>senere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66"/>
                </a:solidFill>
              </a:rPr>
              <a:t>transmission </a:t>
            </a:r>
            <a:r>
              <a:rPr lang="en-US" sz="2200" dirty="0"/>
              <a:t>(hen over </a:t>
            </a:r>
            <a:r>
              <a:rPr lang="en-US" sz="2200" dirty="0" err="1"/>
              <a:t>længere</a:t>
            </a:r>
            <a:r>
              <a:rPr lang="en-US" sz="2200" dirty="0"/>
              <a:t> </a:t>
            </a:r>
            <a:r>
              <a:rPr lang="en-US" sz="2200" dirty="0" err="1"/>
              <a:t>tid</a:t>
            </a:r>
            <a:r>
              <a:rPr lang="en-US" sz="2200" dirty="0"/>
              <a:t>).</a:t>
            </a:r>
          </a:p>
        </p:txBody>
      </p:sp>
      <p:sp>
        <p:nvSpPr>
          <p:cNvPr id="5" name="Rektangel 4"/>
          <p:cNvSpPr/>
          <p:nvPr/>
        </p:nvSpPr>
        <p:spPr>
          <a:xfrm>
            <a:off x="-350469" y="3823415"/>
            <a:ext cx="5831478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/>
            <a:r>
              <a:rPr lang="en-US" sz="2200" dirty="0">
                <a:solidFill>
                  <a:srgbClr val="00B050"/>
                </a:solidFill>
              </a:rPr>
              <a:t>Policing</a:t>
            </a:r>
            <a:r>
              <a:rPr lang="en-US" sz="2200" dirty="0"/>
              <a:t> </a:t>
            </a:r>
            <a:r>
              <a:rPr lang="en-US" sz="2200" dirty="0" err="1"/>
              <a:t>kontrollerer</a:t>
            </a:r>
            <a:r>
              <a:rPr lang="en-US" sz="2200" dirty="0"/>
              <a:t> </a:t>
            </a:r>
            <a:r>
              <a:rPr lang="en-US" sz="2200" dirty="0" err="1"/>
              <a:t>indgående</a:t>
            </a:r>
            <a:r>
              <a:rPr lang="en-US" sz="2200" dirty="0"/>
              <a:t> </a:t>
            </a:r>
            <a:r>
              <a:rPr lang="en-US" sz="2200" dirty="0" err="1"/>
              <a:t>trafik</a:t>
            </a:r>
            <a:r>
              <a:rPr lang="en-US" sz="2200" dirty="0"/>
              <a:t> </a:t>
            </a:r>
            <a:r>
              <a:rPr lang="en-US" sz="2200" dirty="0" err="1"/>
              <a:t>på</a:t>
            </a:r>
            <a:r>
              <a:rPr lang="en-US" sz="2200" dirty="0"/>
              <a:t> et interface. </a:t>
            </a:r>
          </a:p>
          <a:p>
            <a:pPr lvl="1" algn="l"/>
            <a:r>
              <a:rPr lang="en-US" sz="2200" dirty="0" err="1"/>
              <a:t>Hvis</a:t>
            </a:r>
            <a:r>
              <a:rPr lang="en-US" sz="2200" dirty="0"/>
              <a:t> </a:t>
            </a:r>
            <a:r>
              <a:rPr lang="en-US" sz="2200" dirty="0" err="1"/>
              <a:t>trafikmængden</a:t>
            </a:r>
            <a:r>
              <a:rPr lang="en-US" sz="2200" dirty="0"/>
              <a:t> </a:t>
            </a:r>
            <a:r>
              <a:rPr lang="en-US" sz="2200" dirty="0" err="1"/>
              <a:t>overstiger</a:t>
            </a:r>
            <a:r>
              <a:rPr lang="en-US" sz="2200" dirty="0"/>
              <a:t> den </a:t>
            </a:r>
            <a:r>
              <a:rPr lang="en-US" sz="2200" dirty="0" err="1"/>
              <a:t>konfigurerede</a:t>
            </a:r>
            <a:r>
              <a:rPr lang="en-US" sz="2200" dirty="0"/>
              <a:t> maximum rate, </a:t>
            </a:r>
            <a:r>
              <a:rPr lang="en-US" sz="2200" dirty="0" err="1"/>
              <a:t>klippes</a:t>
            </a:r>
            <a:r>
              <a:rPr lang="en-US" sz="2200" dirty="0"/>
              <a:t> den del </a:t>
            </a:r>
            <a:r>
              <a:rPr lang="en-US" sz="2200" dirty="0" err="1"/>
              <a:t>af</a:t>
            </a:r>
            <a:r>
              <a:rPr lang="en-US" sz="2200" dirty="0"/>
              <a:t> </a:t>
            </a:r>
            <a:r>
              <a:rPr lang="en-US" sz="2200" dirty="0" err="1"/>
              <a:t>trafikken</a:t>
            </a:r>
            <a:r>
              <a:rPr lang="en-US" sz="2200" dirty="0"/>
              <a:t> </a:t>
            </a:r>
            <a:r>
              <a:rPr lang="en-US" sz="2200" dirty="0" err="1"/>
              <a:t>som</a:t>
            </a:r>
            <a:r>
              <a:rPr lang="en-US" sz="2200" dirty="0"/>
              <a:t> </a:t>
            </a:r>
            <a:r>
              <a:rPr lang="en-US" sz="2200" dirty="0" err="1"/>
              <a:t>overstiger</a:t>
            </a:r>
            <a:r>
              <a:rPr lang="en-US" sz="2200" dirty="0"/>
              <a:t> max, </a:t>
            </a:r>
            <a:r>
              <a:rPr lang="en-US" sz="2200" dirty="0" err="1"/>
              <a:t>og</a:t>
            </a:r>
            <a:r>
              <a:rPr lang="en-US" sz="2200" dirty="0"/>
              <a:t> </a:t>
            </a:r>
            <a:r>
              <a:rPr lang="en-US" sz="2200" dirty="0" err="1"/>
              <a:t>trafikken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00B050"/>
                </a:solidFill>
              </a:rPr>
              <a:t>droppes</a:t>
            </a:r>
            <a:r>
              <a:rPr lang="en-US" sz="2200" dirty="0"/>
              <a:t> (</a:t>
            </a:r>
            <a:r>
              <a:rPr lang="en-US" sz="2200" dirty="0" err="1"/>
              <a:t>eller</a:t>
            </a:r>
            <a:r>
              <a:rPr lang="en-US" sz="2200" dirty="0"/>
              <a:t> “</a:t>
            </a:r>
            <a:r>
              <a:rPr lang="en-US" sz="2200" dirty="0" err="1"/>
              <a:t>ommærkes</a:t>
            </a:r>
            <a:r>
              <a:rPr lang="en-US" sz="2200" dirty="0"/>
              <a:t>”) I </a:t>
            </a:r>
            <a:r>
              <a:rPr lang="en-US" sz="2200" dirty="0" err="1"/>
              <a:t>stedet</a:t>
            </a:r>
            <a:r>
              <a:rPr lang="en-US" sz="2200" dirty="0"/>
              <a:t> for at </a:t>
            </a:r>
            <a:r>
              <a:rPr lang="en-US" sz="2200" dirty="0" err="1"/>
              <a:t>videresendes</a:t>
            </a:r>
            <a:r>
              <a:rPr lang="en-US" sz="2200" dirty="0"/>
              <a:t>.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1870" y="6158630"/>
            <a:ext cx="9260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/>
              <a:t>&gt;&gt;&gt;Video: </a:t>
            </a:r>
            <a:r>
              <a:rPr lang="en-US" sz="2000" dirty="0" err="1"/>
              <a:t>MicroNugget</a:t>
            </a:r>
            <a:r>
              <a:rPr lang="en-US" sz="2000" dirty="0"/>
              <a:t>_ Using Quality of Service (</a:t>
            </a:r>
            <a:r>
              <a:rPr lang="en-US" sz="2000" dirty="0" err="1"/>
              <a:t>QoS</a:t>
            </a:r>
            <a:r>
              <a:rPr lang="en-US" sz="2000" dirty="0"/>
              <a:t>) Tools&lt;&lt;&lt;&lt; (ca. 5 </a:t>
            </a:r>
            <a:r>
              <a:rPr lang="en-US" sz="2000"/>
              <a:t>min.) </a:t>
            </a:r>
            <a:r>
              <a:rPr lang="en-US" sz="2000">
                <a:hlinkClick r:id="rId4" action="ppaction://hlinkfile"/>
              </a:rPr>
              <a:t>..\..\MicroNugget_ Using Quality of Service (QoS) Tools.mp4</a:t>
            </a:r>
            <a:endParaRPr lang="en-US" sz="2000"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9" y="2351828"/>
            <a:ext cx="3652211" cy="131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09621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3449" y="603628"/>
            <a:ext cx="6426857" cy="61060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2724770"/>
      </p:ext>
    </p:extLst>
  </p:cSld>
  <p:clrMapOvr>
    <a:masterClrMapping/>
  </p:clrMapOvr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structor_Supplemental_Material_Template.pptx" id="{3198E07C-115F-418B-A9A8-BF9053302A35}" vid="{198B02FE-59AF-4313-B2FA-B9A3F3C1E378}"/>
    </a:ext>
  </a:ext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structor_Supplemental_Material_Template.pptx" id="{3198E07C-115F-418B-A9A8-BF9053302A35}" vid="{C5585B68-2BDF-41F6-9912-6E7821961829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Instructor_Supplemental_Material_Template</Template>
  <TotalTime>14488</TotalTime>
  <Pages>28</Pages>
  <Words>973</Words>
  <Application>Microsoft Office PowerPoint</Application>
  <PresentationFormat>Skærmshow (4:3)</PresentationFormat>
  <Paragraphs>95</Paragraphs>
  <Slides>13</Slides>
  <Notes>12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Wingdings</vt:lpstr>
      <vt:lpstr>PPT-TMPLT-WHT_C</vt:lpstr>
      <vt:lpstr>NetAcad-4F_PPT-WHT_060408</vt:lpstr>
      <vt:lpstr>PowerPoint-præsentation</vt:lpstr>
      <vt:lpstr> Network Transmission Quality</vt:lpstr>
      <vt:lpstr> Network Transmission Quality</vt:lpstr>
      <vt:lpstr> Traffic Characteristics</vt:lpstr>
      <vt:lpstr> Queueing Algorithms</vt:lpstr>
      <vt:lpstr> Queueing Algorithms</vt:lpstr>
      <vt:lpstr> Queueing Algorithms</vt:lpstr>
      <vt:lpstr> Queueing Algorithms</vt:lpstr>
      <vt:lpstr> QoS Modeller</vt:lpstr>
      <vt:lpstr> QoS Implementation Techniques</vt:lpstr>
      <vt:lpstr> QoS Implementation Techniques</vt:lpstr>
      <vt:lpstr> QoS Implementation Techniques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Instructor Materials Chapter X: Chapter Title</dc:title>
  <dc:creator>Suk-yi Pennock</dc:creator>
  <cp:lastModifiedBy>Grete Teta</cp:lastModifiedBy>
  <cp:revision>373</cp:revision>
  <cp:lastPrinted>1999-01-27T00:54:54Z</cp:lastPrinted>
  <dcterms:created xsi:type="dcterms:W3CDTF">2016-09-09T13:31:30Z</dcterms:created>
  <dcterms:modified xsi:type="dcterms:W3CDTF">2026-09-10T04:55:02Z</dcterms:modified>
</cp:coreProperties>
</file>