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 id="2147483945" r:id="rId2"/>
  </p:sldMasterIdLst>
  <p:notesMasterIdLst>
    <p:notesMasterId r:id="rId23"/>
  </p:notesMasterIdLst>
  <p:handoutMasterIdLst>
    <p:handoutMasterId r:id="rId24"/>
  </p:handoutMasterIdLst>
  <p:sldIdLst>
    <p:sldId id="899" r:id="rId3"/>
    <p:sldId id="835" r:id="rId4"/>
    <p:sldId id="897" r:id="rId5"/>
    <p:sldId id="871" r:id="rId6"/>
    <p:sldId id="873" r:id="rId7"/>
    <p:sldId id="901" r:id="rId8"/>
    <p:sldId id="876" r:id="rId9"/>
    <p:sldId id="877" r:id="rId10"/>
    <p:sldId id="883" r:id="rId11"/>
    <p:sldId id="880" r:id="rId12"/>
    <p:sldId id="885" r:id="rId13"/>
    <p:sldId id="886" r:id="rId14"/>
    <p:sldId id="887" r:id="rId15"/>
    <p:sldId id="890" r:id="rId16"/>
    <p:sldId id="889" r:id="rId17"/>
    <p:sldId id="902" r:id="rId18"/>
    <p:sldId id="903" r:id="rId19"/>
    <p:sldId id="888" r:id="rId20"/>
    <p:sldId id="891" r:id="rId21"/>
    <p:sldId id="898" r:id="rId22"/>
  </p:sldIdLst>
  <p:sldSz cx="9144000" cy="6858000" type="screen4x3"/>
  <p:notesSz cx="7010400" cy="9296400"/>
  <p:defaultTextStyle>
    <a:defPPr>
      <a:defRPr lang="en-US"/>
    </a:defPPr>
    <a:lvl1pPr algn="ctr" rtl="0" eaLnBrk="0" fontAlgn="base" hangingPunct="0">
      <a:lnSpc>
        <a:spcPct val="90000"/>
      </a:lnSpc>
      <a:spcBef>
        <a:spcPct val="0"/>
      </a:spcBef>
      <a:spcAft>
        <a:spcPct val="0"/>
      </a:spcAft>
      <a:defRPr sz="2400" kern="1200">
        <a:solidFill>
          <a:schemeClr val="tx1"/>
        </a:solidFill>
        <a:latin typeface="Arial" charset="0"/>
        <a:ea typeface="+mn-ea"/>
        <a:cs typeface="+mn-cs"/>
      </a:defRPr>
    </a:lvl1pPr>
    <a:lvl2pPr marL="4572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2pPr>
    <a:lvl3pPr marL="9144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3pPr>
    <a:lvl4pPr marL="13716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4pPr>
    <a:lvl5pPr marL="1828800" algn="ctr" rtl="0" eaLnBrk="0" fontAlgn="base" hangingPunct="0">
      <a:lnSpc>
        <a:spcPct val="90000"/>
      </a:lnSpc>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ttoria deloulay" initials="vd" lastIdx="2" clrIdx="0"/>
  <p:cmAuthor id="1" name="carykell" initials="c"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00"/>
    <a:srgbClr val="C0C0C4"/>
    <a:srgbClr val="678DC5"/>
    <a:srgbClr val="3E67A4"/>
    <a:srgbClr val="3E8DC5"/>
    <a:srgbClr val="5F5F65"/>
    <a:srgbClr val="7E7E8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84254" autoAdjust="0"/>
  </p:normalViewPr>
  <p:slideViewPr>
    <p:cSldViewPr snapToGrid="0">
      <p:cViewPr>
        <p:scale>
          <a:sx n="62" d="100"/>
          <a:sy n="62" d="100"/>
        </p:scale>
        <p:origin x="1536" y="52"/>
      </p:cViewPr>
      <p:guideLst>
        <p:guide orient="horz" pos="2160"/>
        <p:guide pos="2880"/>
      </p:guideLst>
    </p:cSldViewPr>
  </p:slideViewPr>
  <p:outlineViewPr>
    <p:cViewPr>
      <p:scale>
        <a:sx n="33" d="100"/>
        <a:sy n="33" d="100"/>
      </p:scale>
      <p:origin x="0" y="5022"/>
    </p:cViewPr>
  </p:outlineViewPr>
  <p:notesTextViewPr>
    <p:cViewPr>
      <p:scale>
        <a:sx n="100" d="100"/>
        <a:sy n="100" d="100"/>
      </p:scale>
      <p:origin x="0" y="0"/>
    </p:cViewPr>
  </p:notesTextViewPr>
  <p:sorterViewPr>
    <p:cViewPr>
      <p:scale>
        <a:sx n="100" d="100"/>
        <a:sy n="100" d="100"/>
      </p:scale>
      <p:origin x="0" y="7596"/>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11"/>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97283" name="Rectangle 12"/>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97284" name="Line 13"/>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97285" name="Rectangle 14"/>
          <p:cNvSpPr>
            <a:spLocks noChangeArrowheads="1"/>
          </p:cNvSpPr>
          <p:nvPr/>
        </p:nvSpPr>
        <p:spPr bwMode="auto">
          <a:xfrm>
            <a:off x="5929313" y="8680450"/>
            <a:ext cx="812800" cy="287338"/>
          </a:xfrm>
          <a:prstGeom prst="rect">
            <a:avLst/>
          </a:prstGeom>
          <a:noFill/>
          <a:ln w="9525">
            <a:noFill/>
            <a:miter lim="800000"/>
            <a:headEnd/>
            <a:tailEnd/>
          </a:ln>
        </p:spPr>
        <p:txBody>
          <a:bodyPr lIns="18819" tIns="0" rIns="18819" bIns="0" anchor="b"/>
          <a:lstStyle/>
          <a:p>
            <a:pPr algn="r" defTabSz="903288">
              <a:lnSpc>
                <a:spcPct val="100000"/>
              </a:lnSpc>
              <a:defRPr/>
            </a:pPr>
            <a:fld id="{BCC1ECAD-6CE1-4897-9CEF-F2ECC9BEA19E}" type="slidenum">
              <a:rPr lang="en-US" sz="800"/>
              <a:pPr algn="r" defTabSz="903288">
                <a:lnSpc>
                  <a:spcPct val="100000"/>
                </a:lnSpc>
                <a:defRPr/>
              </a:pPr>
              <a:t>‹nr.›</a:t>
            </a:fld>
            <a:endParaRPr lang="en-US" sz="800" dirty="0"/>
          </a:p>
        </p:txBody>
      </p:sp>
    </p:spTree>
    <p:extLst>
      <p:ext uri="{BB962C8B-B14F-4D97-AF65-F5344CB8AC3E}">
        <p14:creationId xmlns:p14="http://schemas.microsoft.com/office/powerpoint/2010/main" val="2805898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8"/>
          <p:cNvSpPr>
            <a:spLocks noChangeArrowheads="1"/>
          </p:cNvSpPr>
          <p:nvPr/>
        </p:nvSpPr>
        <p:spPr bwMode="auto">
          <a:xfrm>
            <a:off x="6249988" y="8609013"/>
            <a:ext cx="449262" cy="212725"/>
          </a:xfrm>
          <a:prstGeom prst="rect">
            <a:avLst/>
          </a:prstGeom>
          <a:noFill/>
          <a:ln w="9525">
            <a:noFill/>
            <a:miter lim="800000"/>
            <a:headEnd/>
            <a:tailEnd/>
          </a:ln>
        </p:spPr>
        <p:txBody>
          <a:bodyPr wrap="none" anchor="ctr"/>
          <a:lstStyle/>
          <a:p>
            <a:pPr>
              <a:defRPr/>
            </a:pPr>
            <a:endParaRPr lang="en-US" dirty="0"/>
          </a:p>
        </p:txBody>
      </p:sp>
      <p:sp>
        <p:nvSpPr>
          <p:cNvPr id="51203" name="Rectangle 9"/>
          <p:cNvSpPr>
            <a:spLocks noChangeArrowheads="1"/>
          </p:cNvSpPr>
          <p:nvPr/>
        </p:nvSpPr>
        <p:spPr bwMode="auto">
          <a:xfrm>
            <a:off x="57150" y="8785225"/>
            <a:ext cx="2619375" cy="347663"/>
          </a:xfrm>
          <a:prstGeom prst="rect">
            <a:avLst/>
          </a:prstGeom>
          <a:noFill/>
          <a:ln w="9525">
            <a:noFill/>
            <a:miter lim="800000"/>
            <a:headEnd/>
            <a:tailEnd/>
          </a:ln>
        </p:spPr>
        <p:txBody>
          <a:bodyPr lIns="95667" tIns="50185" rIns="95667" bIns="50185">
            <a:spAutoFit/>
          </a:bodyPr>
          <a:lstStyle/>
          <a:p>
            <a:pPr algn="l" defTabSz="611188">
              <a:lnSpc>
                <a:spcPct val="100000"/>
              </a:lnSpc>
              <a:tabLst>
                <a:tab pos="2387600" algn="l"/>
                <a:tab pos="4830763" algn="l"/>
              </a:tabLst>
              <a:defRPr/>
            </a:pPr>
            <a:r>
              <a:rPr lang="en-US" sz="800" dirty="0"/>
              <a:t>© 2006, Cisco Systems, Inc. All rights reserved.</a:t>
            </a:r>
          </a:p>
          <a:p>
            <a:pPr algn="l" defTabSz="611188">
              <a:lnSpc>
                <a:spcPct val="100000"/>
              </a:lnSpc>
              <a:tabLst>
                <a:tab pos="2387600" algn="l"/>
                <a:tab pos="4830763" algn="l"/>
              </a:tabLst>
              <a:defRPr/>
            </a:pPr>
            <a:r>
              <a:rPr lang="en-US" sz="800" dirty="0"/>
              <a:t>Presentation_ID.scr</a:t>
            </a:r>
          </a:p>
        </p:txBody>
      </p:sp>
      <p:sp>
        <p:nvSpPr>
          <p:cNvPr id="51204" name="Line 10"/>
          <p:cNvSpPr>
            <a:spLocks noChangeShapeType="1"/>
          </p:cNvSpPr>
          <p:nvPr/>
        </p:nvSpPr>
        <p:spPr bwMode="auto">
          <a:xfrm>
            <a:off x="152400" y="8799513"/>
            <a:ext cx="6653213" cy="0"/>
          </a:xfrm>
          <a:prstGeom prst="line">
            <a:avLst/>
          </a:prstGeom>
          <a:noFill/>
          <a:ln w="12700">
            <a:solidFill>
              <a:schemeClr val="tx1"/>
            </a:solidFill>
            <a:round/>
            <a:headEnd type="none" w="sm" len="sm"/>
            <a:tailEnd type="none" w="sm" len="sm"/>
          </a:ln>
        </p:spPr>
        <p:txBody>
          <a:bodyPr wrap="none" anchor="ctr"/>
          <a:lstStyle/>
          <a:p>
            <a:pPr>
              <a:defRPr/>
            </a:pPr>
            <a:endParaRPr lang="en-US" dirty="0"/>
          </a:p>
        </p:txBody>
      </p:sp>
      <p:sp>
        <p:nvSpPr>
          <p:cNvPr id="183307" name="Rectangle 11"/>
          <p:cNvSpPr>
            <a:spLocks noGrp="1" noChangeArrowheads="1"/>
          </p:cNvSpPr>
          <p:nvPr>
            <p:ph type="sldNum" sz="quarter" idx="5"/>
          </p:nvPr>
        </p:nvSpPr>
        <p:spPr bwMode="auto">
          <a:xfrm>
            <a:off x="5929313" y="8680450"/>
            <a:ext cx="812800" cy="287338"/>
          </a:xfrm>
          <a:prstGeom prst="rect">
            <a:avLst/>
          </a:prstGeom>
          <a:noFill/>
          <a:ln w="9525">
            <a:noFill/>
            <a:miter lim="800000"/>
            <a:headEnd/>
            <a:tailEnd/>
          </a:ln>
          <a:effectLst/>
        </p:spPr>
        <p:txBody>
          <a:bodyPr vert="horz" wrap="square" lIns="18819" tIns="0" rIns="18819" bIns="0" numCol="1" anchor="b" anchorCtr="0" compatLnSpc="1">
            <a:prstTxWarp prst="textNoShape">
              <a:avLst/>
            </a:prstTxWarp>
          </a:bodyPr>
          <a:lstStyle>
            <a:lvl1pPr algn="r" defTabSz="903288">
              <a:lnSpc>
                <a:spcPct val="100000"/>
              </a:lnSpc>
              <a:defRPr sz="800"/>
            </a:lvl1pPr>
          </a:lstStyle>
          <a:p>
            <a:pPr>
              <a:defRPr/>
            </a:pPr>
            <a:fld id="{FB004549-1125-4930-988B-40FFE37DB1EA}" type="slidenum">
              <a:rPr lang="en-US"/>
              <a:pPr>
                <a:defRPr/>
              </a:pPr>
              <a:t>‹nr.›</a:t>
            </a:fld>
            <a:endParaRPr lang="en-US" dirty="0"/>
          </a:p>
        </p:txBody>
      </p:sp>
      <p:sp>
        <p:nvSpPr>
          <p:cNvPr id="31750" name="Rectangle 12"/>
          <p:cNvSpPr>
            <a:spLocks noGrp="1" noRot="1" noChangeAspect="1" noChangeArrowheads="1" noTextEdit="1"/>
          </p:cNvSpPr>
          <p:nvPr>
            <p:ph type="sldImg" idx="2"/>
          </p:nvPr>
        </p:nvSpPr>
        <p:spPr bwMode="auto">
          <a:xfrm>
            <a:off x="873125" y="244475"/>
            <a:ext cx="5321300" cy="3990975"/>
          </a:xfrm>
          <a:prstGeom prst="rect">
            <a:avLst/>
          </a:prstGeom>
          <a:noFill/>
          <a:ln w="12700">
            <a:solidFill>
              <a:schemeClr val="tx1"/>
            </a:solidFill>
            <a:miter lim="800000"/>
            <a:headEnd/>
            <a:tailEnd/>
          </a:ln>
        </p:spPr>
      </p:sp>
      <p:sp>
        <p:nvSpPr>
          <p:cNvPr id="183309" name="Rectangle 13"/>
          <p:cNvSpPr>
            <a:spLocks noGrp="1" noChangeArrowheads="1"/>
          </p:cNvSpPr>
          <p:nvPr>
            <p:ph type="body" sz="quarter" idx="3"/>
          </p:nvPr>
        </p:nvSpPr>
        <p:spPr bwMode="auto">
          <a:xfrm>
            <a:off x="768350" y="4378325"/>
            <a:ext cx="5468938" cy="4252913"/>
          </a:xfrm>
          <a:prstGeom prst="rect">
            <a:avLst/>
          </a:prstGeom>
          <a:noFill/>
          <a:ln w="9525">
            <a:noFill/>
            <a:miter lim="800000"/>
            <a:headEnd/>
            <a:tailEnd/>
          </a:ln>
          <a:effectLst/>
        </p:spPr>
        <p:txBody>
          <a:bodyPr vert="horz" wrap="square" lIns="95667" tIns="50185" rIns="95667" bIns="5018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7663086"/>
      </p:ext>
    </p:extLst>
  </p:cSld>
  <p:clrMap bg1="lt1" tx1="dk1" bg2="lt2" tx2="dk2" accent1="accent1" accent2="accent2" accent3="accent3" accent4="accent4" accent5="accent5" accent6="accent6" hlink="hlink" folHlink="folHlink"/>
  <p:notesStyle>
    <a:lvl1pPr marL="112713" indent="-112713" algn="l" defTabSz="1020763" rtl="0" eaLnBrk="0" fontAlgn="base" hangingPunct="0">
      <a:lnSpc>
        <a:spcPct val="90000"/>
      </a:lnSpc>
      <a:spcBef>
        <a:spcPct val="50000"/>
      </a:spcBef>
      <a:spcAft>
        <a:spcPct val="0"/>
      </a:spcAft>
      <a:buSzPct val="100000"/>
      <a:buChar char="•"/>
      <a:defRPr sz="1200" kern="1200">
        <a:solidFill>
          <a:schemeClr val="tx1"/>
        </a:solidFill>
        <a:latin typeface="Arial" charset="0"/>
        <a:ea typeface="+mn-ea"/>
        <a:cs typeface="+mn-cs"/>
      </a:defRPr>
    </a:lvl1pPr>
    <a:lvl2pPr marL="482600" indent="-120650"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2pPr>
    <a:lvl3pPr marL="9667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3pPr>
    <a:lvl4pPr marL="14493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4pPr>
    <a:lvl5pPr marL="1931988" algn="l" defTabSz="1020763" rtl="0" eaLnBrk="0" fontAlgn="base" hangingPunct="0">
      <a:lnSpc>
        <a:spcPct val="90000"/>
      </a:lnSpc>
      <a:spcBef>
        <a:spcPct val="35000"/>
      </a:spcBef>
      <a:spcAft>
        <a:spcPct val="0"/>
      </a:spcAft>
      <a:buSzPct val="10000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1"/>
          <p:cNvSpPr>
            <a:spLocks noGrp="1" noChangeArrowheads="1"/>
          </p:cNvSpPr>
          <p:nvPr>
            <p:ph type="sldNum" sz="quarter" idx="5"/>
          </p:nvPr>
        </p:nvSpPr>
        <p:spPr>
          <a:noFill/>
        </p:spPr>
        <p:txBody>
          <a:bodyPr/>
          <a:lstStyle/>
          <a:p>
            <a:fld id="{E2906053-E8A2-4DAD-B57C-C8945C1AD1DD}" type="slidenum">
              <a:rPr lang="en-US" smtClean="0"/>
              <a:pPr/>
              <a:t>1</a:t>
            </a:fld>
            <a:endParaRPr lang="en-US" dirty="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a:buFontTx/>
              <a:buNone/>
            </a:pPr>
            <a:endParaRPr lang="en-US"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2</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1416">
              <a:defRPr sz="2500">
                <a:solidFill>
                  <a:schemeClr val="tx1"/>
                </a:solidFill>
                <a:latin typeface="Arial" charset="0"/>
              </a:defRPr>
            </a:lvl1pPr>
            <a:lvl2pPr marL="760112" indent="-292351" defTabSz="901416">
              <a:defRPr sz="2500">
                <a:solidFill>
                  <a:schemeClr val="tx1"/>
                </a:solidFill>
                <a:latin typeface="Arial" charset="0"/>
              </a:defRPr>
            </a:lvl2pPr>
            <a:lvl3pPr marL="1169403" indent="-233881" defTabSz="901416">
              <a:defRPr sz="2500">
                <a:solidFill>
                  <a:schemeClr val="tx1"/>
                </a:solidFill>
                <a:latin typeface="Arial" charset="0"/>
              </a:defRPr>
            </a:lvl3pPr>
            <a:lvl4pPr marL="1637165" indent="-233881" defTabSz="901416">
              <a:defRPr sz="2500">
                <a:solidFill>
                  <a:schemeClr val="tx1"/>
                </a:solidFill>
                <a:latin typeface="Arial" charset="0"/>
              </a:defRPr>
            </a:lvl4pPr>
            <a:lvl5pPr marL="2104926" indent="-233881" defTabSz="901416">
              <a:defRPr sz="2500">
                <a:solidFill>
                  <a:schemeClr val="tx1"/>
                </a:solidFill>
                <a:latin typeface="Arial" charset="0"/>
              </a:defRPr>
            </a:lvl5pPr>
            <a:lvl6pPr marL="2572687" indent="-233881" algn="ctr" defTabSz="901416" eaLnBrk="0" fontAlgn="base" hangingPunct="0">
              <a:lnSpc>
                <a:spcPct val="90000"/>
              </a:lnSpc>
              <a:spcBef>
                <a:spcPct val="0"/>
              </a:spcBef>
              <a:spcAft>
                <a:spcPct val="0"/>
              </a:spcAft>
              <a:defRPr sz="2500">
                <a:solidFill>
                  <a:schemeClr val="tx1"/>
                </a:solidFill>
                <a:latin typeface="Arial" charset="0"/>
              </a:defRPr>
            </a:lvl6pPr>
            <a:lvl7pPr marL="3040449" indent="-233881" algn="ctr" defTabSz="901416" eaLnBrk="0" fontAlgn="base" hangingPunct="0">
              <a:lnSpc>
                <a:spcPct val="90000"/>
              </a:lnSpc>
              <a:spcBef>
                <a:spcPct val="0"/>
              </a:spcBef>
              <a:spcAft>
                <a:spcPct val="0"/>
              </a:spcAft>
              <a:defRPr sz="2500">
                <a:solidFill>
                  <a:schemeClr val="tx1"/>
                </a:solidFill>
                <a:latin typeface="Arial" charset="0"/>
              </a:defRPr>
            </a:lvl7pPr>
            <a:lvl8pPr marL="3508210" indent="-233881" algn="ctr" defTabSz="901416" eaLnBrk="0" fontAlgn="base" hangingPunct="0">
              <a:lnSpc>
                <a:spcPct val="90000"/>
              </a:lnSpc>
              <a:spcBef>
                <a:spcPct val="0"/>
              </a:spcBef>
              <a:spcAft>
                <a:spcPct val="0"/>
              </a:spcAft>
              <a:defRPr sz="2500">
                <a:solidFill>
                  <a:schemeClr val="tx1"/>
                </a:solidFill>
                <a:latin typeface="Arial" charset="0"/>
              </a:defRPr>
            </a:lvl8pPr>
            <a:lvl9pPr marL="3975971" indent="-233881" algn="ctr" defTabSz="901416" eaLnBrk="0" fontAlgn="base" hangingPunct="0">
              <a:lnSpc>
                <a:spcPct val="90000"/>
              </a:lnSpc>
              <a:spcBef>
                <a:spcPct val="0"/>
              </a:spcBef>
              <a:spcAft>
                <a:spcPct val="0"/>
              </a:spcAft>
              <a:defRPr sz="2500">
                <a:solidFill>
                  <a:schemeClr val="tx1"/>
                </a:solidFill>
                <a:latin typeface="Arial" charset="0"/>
              </a:defRPr>
            </a:lvl9pPr>
          </a:lstStyle>
          <a:p>
            <a:fld id="{50EE505C-18A8-45A9-9923-EBF62B9C1DF9}" type="slidenum">
              <a:rPr lang="en-US" altLang="da-DK" sz="800"/>
              <a:pPr/>
              <a:t>3</a:t>
            </a:fld>
            <a:endParaRPr lang="en-US" altLang="da-DK" sz="800"/>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da-D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sz="1200" b="1" i="0" kern="1200" baseline="0" dirty="0">
                <a:solidFill>
                  <a:schemeClr val="tx1"/>
                </a:solidFill>
                <a:effectLst/>
                <a:latin typeface="Arial" charset="0"/>
                <a:ea typeface="+mn-ea"/>
                <a:cs typeface="+mn-cs"/>
              </a:rPr>
              <a:t>2.1.2.1 WANs in the OSI Model</a:t>
            </a:r>
            <a:endParaRPr lang="en-US" sz="1200" b="1" i="0" kern="1200" dirty="0">
              <a:solidFill>
                <a:schemeClr val="tx1"/>
              </a:solidFill>
              <a:effectLst/>
              <a:latin typeface="Arial"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4</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5</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6</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7</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8</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9</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dirty="0" err="1"/>
              <a:t>Når</a:t>
            </a:r>
            <a:r>
              <a:rPr lang="en-US" dirty="0"/>
              <a:t> </a:t>
            </a:r>
            <a:r>
              <a:rPr lang="en-US" dirty="0" err="1"/>
              <a:t>pakken</a:t>
            </a:r>
            <a:r>
              <a:rPr lang="en-US" dirty="0"/>
              <a:t> </a:t>
            </a:r>
            <a:r>
              <a:rPr lang="en-US" dirty="0" err="1"/>
              <a:t>forlader</a:t>
            </a:r>
            <a:r>
              <a:rPr lang="en-US" dirty="0"/>
              <a:t> Costumer Edge, </a:t>
            </a:r>
            <a:r>
              <a:rPr lang="en-US" dirty="0" err="1"/>
              <a:t>sætter</a:t>
            </a:r>
            <a:r>
              <a:rPr lang="en-US" dirty="0"/>
              <a:t> Provider Edge </a:t>
            </a:r>
            <a:r>
              <a:rPr lang="en-US" dirty="0" err="1"/>
              <a:t>en</a:t>
            </a:r>
            <a:r>
              <a:rPr lang="en-US" dirty="0"/>
              <a:t> label på </a:t>
            </a:r>
            <a:r>
              <a:rPr lang="en-US" dirty="0" err="1"/>
              <a:t>mellem</a:t>
            </a:r>
            <a:r>
              <a:rPr lang="en-US" dirty="0"/>
              <a:t> frame </a:t>
            </a:r>
            <a:r>
              <a:rPr lang="en-US" dirty="0" err="1"/>
              <a:t>headeren</a:t>
            </a:r>
            <a:r>
              <a:rPr lang="en-US" dirty="0"/>
              <a:t> og </a:t>
            </a:r>
            <a:r>
              <a:rPr lang="en-US" dirty="0" err="1"/>
              <a:t>pakke</a:t>
            </a:r>
            <a:r>
              <a:rPr lang="en-US" dirty="0"/>
              <a:t> </a:t>
            </a:r>
            <a:r>
              <a:rPr lang="en-US" dirty="0" err="1"/>
              <a:t>headeren</a:t>
            </a:r>
            <a:r>
              <a:rPr lang="en-US" dirty="0"/>
              <a:t>, MPLS burger de labels </a:t>
            </a:r>
            <a:r>
              <a:rPr lang="en-US" dirty="0" err="1"/>
              <a:t>til</a:t>
            </a:r>
            <a:r>
              <a:rPr lang="en-US" dirty="0"/>
              <a:t> at </a:t>
            </a:r>
            <a:r>
              <a:rPr lang="en-US" dirty="0" err="1"/>
              <a:t>afgøre</a:t>
            </a:r>
            <a:r>
              <a:rPr lang="en-US" dirty="0"/>
              <a:t> </a:t>
            </a:r>
            <a:r>
              <a:rPr lang="en-US" dirty="0" err="1"/>
              <a:t>pakkens</a:t>
            </a:r>
            <a:r>
              <a:rPr lang="en-US" dirty="0"/>
              <a:t> </a:t>
            </a:r>
            <a:r>
              <a:rPr lang="en-US" dirty="0" err="1"/>
              <a:t>næste</a:t>
            </a:r>
            <a:r>
              <a:rPr lang="en-US" dirty="0"/>
              <a:t> hop</a:t>
            </a:r>
          </a:p>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dirty="0" err="1"/>
              <a:t>Når</a:t>
            </a:r>
            <a:r>
              <a:rPr lang="en-US" dirty="0"/>
              <a:t> </a:t>
            </a:r>
            <a:r>
              <a:rPr lang="en-US" dirty="0" err="1"/>
              <a:t>pakken</a:t>
            </a:r>
            <a:r>
              <a:rPr lang="en-US" dirty="0"/>
              <a:t> </a:t>
            </a:r>
            <a:r>
              <a:rPr lang="en-US" dirty="0" err="1"/>
              <a:t>forlader</a:t>
            </a:r>
            <a:r>
              <a:rPr lang="en-US" dirty="0"/>
              <a:t> Provider Edge </a:t>
            </a:r>
            <a:r>
              <a:rPr lang="en-US" dirty="0" err="1"/>
              <a:t>fjernes</a:t>
            </a:r>
            <a:r>
              <a:rPr lang="en-US" dirty="0"/>
              <a:t> label </a:t>
            </a:r>
            <a:r>
              <a:rPr lang="en-US" dirty="0" err="1"/>
              <a:t>igen</a:t>
            </a:r>
            <a:r>
              <a:rPr lang="en-US" dirty="0"/>
              <a:t>.</a:t>
            </a:r>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10</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r>
              <a:rPr lang="en-US" sz="1200" b="1" i="0" kern="1200" baseline="0" dirty="0">
                <a:solidFill>
                  <a:schemeClr val="tx1"/>
                </a:solidFill>
                <a:effectLst/>
                <a:latin typeface="Arial" charset="0"/>
                <a:ea typeface="+mn-ea"/>
                <a:cs typeface="+mn-cs"/>
              </a:rPr>
              <a:t>2.2.2.8 VSAT</a:t>
            </a: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11</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12</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13</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14</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15</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10"/>
          </p:nvPr>
        </p:nvSpPr>
        <p:spPr/>
        <p:txBody>
          <a:bodyPr/>
          <a:lstStyle/>
          <a:p>
            <a:pPr>
              <a:defRPr/>
            </a:pPr>
            <a:fld id="{FB004549-1125-4930-988B-40FFE37DB1EA}" type="slidenum">
              <a:rPr lang="en-US" smtClean="0"/>
              <a:pPr>
                <a:defRPr/>
              </a:pPr>
              <a:t>16</a:t>
            </a:fld>
            <a:endParaRPr lang="en-US" dirty="0"/>
          </a:p>
        </p:txBody>
      </p:sp>
    </p:spTree>
    <p:extLst>
      <p:ext uri="{BB962C8B-B14F-4D97-AF65-F5344CB8AC3E}">
        <p14:creationId xmlns:p14="http://schemas.microsoft.com/office/powerpoint/2010/main" val="16873827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18</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1020763" rtl="0" eaLnBrk="0" fontAlgn="base" latinLnBrk="0" hangingPunct="0">
              <a:lnSpc>
                <a:spcPct val="90000"/>
              </a:lnSpc>
              <a:spcBef>
                <a:spcPct val="50000"/>
              </a:spcBef>
              <a:spcAft>
                <a:spcPct val="0"/>
              </a:spcAft>
              <a:buClrTx/>
              <a:buSzPct val="100000"/>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FB004549-1125-4930-988B-40FFE37DB1EA}" type="slidenum">
              <a:rPr lang="en-US" smtClean="0"/>
              <a:pPr>
                <a:defRPr/>
              </a:pPr>
              <a:t>19</a:t>
            </a:fld>
            <a:endParaRPr lang="en-US" dirty="0"/>
          </a:p>
        </p:txBody>
      </p:sp>
    </p:spTree>
    <p:extLst>
      <p:ext uri="{BB962C8B-B14F-4D97-AF65-F5344CB8AC3E}">
        <p14:creationId xmlns:p14="http://schemas.microsoft.com/office/powerpoint/2010/main" val="24803832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1416">
              <a:defRPr sz="2500">
                <a:solidFill>
                  <a:schemeClr val="tx1"/>
                </a:solidFill>
                <a:latin typeface="Arial" charset="0"/>
              </a:defRPr>
            </a:lvl1pPr>
            <a:lvl2pPr marL="760112" indent="-292351" defTabSz="901416">
              <a:defRPr sz="2500">
                <a:solidFill>
                  <a:schemeClr val="tx1"/>
                </a:solidFill>
                <a:latin typeface="Arial" charset="0"/>
              </a:defRPr>
            </a:lvl2pPr>
            <a:lvl3pPr marL="1169403" indent="-233881" defTabSz="901416">
              <a:defRPr sz="2500">
                <a:solidFill>
                  <a:schemeClr val="tx1"/>
                </a:solidFill>
                <a:latin typeface="Arial" charset="0"/>
              </a:defRPr>
            </a:lvl3pPr>
            <a:lvl4pPr marL="1637165" indent="-233881" defTabSz="901416">
              <a:defRPr sz="2500">
                <a:solidFill>
                  <a:schemeClr val="tx1"/>
                </a:solidFill>
                <a:latin typeface="Arial" charset="0"/>
              </a:defRPr>
            </a:lvl4pPr>
            <a:lvl5pPr marL="2104926" indent="-233881" defTabSz="901416">
              <a:defRPr sz="2500">
                <a:solidFill>
                  <a:schemeClr val="tx1"/>
                </a:solidFill>
                <a:latin typeface="Arial" charset="0"/>
              </a:defRPr>
            </a:lvl5pPr>
            <a:lvl6pPr marL="2572687" indent="-233881" algn="ctr" defTabSz="901416" eaLnBrk="0" fontAlgn="base" hangingPunct="0">
              <a:lnSpc>
                <a:spcPct val="90000"/>
              </a:lnSpc>
              <a:spcBef>
                <a:spcPct val="0"/>
              </a:spcBef>
              <a:spcAft>
                <a:spcPct val="0"/>
              </a:spcAft>
              <a:defRPr sz="2500">
                <a:solidFill>
                  <a:schemeClr val="tx1"/>
                </a:solidFill>
                <a:latin typeface="Arial" charset="0"/>
              </a:defRPr>
            </a:lvl6pPr>
            <a:lvl7pPr marL="3040449" indent="-233881" algn="ctr" defTabSz="901416" eaLnBrk="0" fontAlgn="base" hangingPunct="0">
              <a:lnSpc>
                <a:spcPct val="90000"/>
              </a:lnSpc>
              <a:spcBef>
                <a:spcPct val="0"/>
              </a:spcBef>
              <a:spcAft>
                <a:spcPct val="0"/>
              </a:spcAft>
              <a:defRPr sz="2500">
                <a:solidFill>
                  <a:schemeClr val="tx1"/>
                </a:solidFill>
                <a:latin typeface="Arial" charset="0"/>
              </a:defRPr>
            </a:lvl7pPr>
            <a:lvl8pPr marL="3508210" indent="-233881" algn="ctr" defTabSz="901416" eaLnBrk="0" fontAlgn="base" hangingPunct="0">
              <a:lnSpc>
                <a:spcPct val="90000"/>
              </a:lnSpc>
              <a:spcBef>
                <a:spcPct val="0"/>
              </a:spcBef>
              <a:spcAft>
                <a:spcPct val="0"/>
              </a:spcAft>
              <a:defRPr sz="2500">
                <a:solidFill>
                  <a:schemeClr val="tx1"/>
                </a:solidFill>
                <a:latin typeface="Arial" charset="0"/>
              </a:defRPr>
            </a:lvl8pPr>
            <a:lvl9pPr marL="3975971" indent="-233881" algn="ctr" defTabSz="901416" eaLnBrk="0" fontAlgn="base" hangingPunct="0">
              <a:lnSpc>
                <a:spcPct val="90000"/>
              </a:lnSpc>
              <a:spcBef>
                <a:spcPct val="0"/>
              </a:spcBef>
              <a:spcAft>
                <a:spcPct val="0"/>
              </a:spcAft>
              <a:defRPr sz="2500">
                <a:solidFill>
                  <a:schemeClr val="tx1"/>
                </a:solidFill>
                <a:latin typeface="Arial" charset="0"/>
              </a:defRPr>
            </a:lvl9pPr>
          </a:lstStyle>
          <a:p>
            <a:fld id="{AA797A4F-01F8-4F58-982D-3A832E2AC6DD}" type="slidenum">
              <a:rPr lang="en-US" altLang="da-DK" sz="800"/>
              <a:pPr/>
              <a:t>20</a:t>
            </a:fld>
            <a:endParaRPr lang="en-US" altLang="da-DK" sz="8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US" altLang="da-DK" b="1"/>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PPt_CoverArt1"/>
          <p:cNvPicPr>
            <a:picLocks noChangeAspect="1" noChangeArrowheads="1"/>
          </p:cNvPicPr>
          <p:nvPr/>
        </p:nvPicPr>
        <p:blipFill>
          <a:blip r:embed="rId2" cstate="print"/>
          <a:srcRect/>
          <a:stretch>
            <a:fillRect/>
          </a:stretch>
        </p:blipFill>
        <p:spPr bwMode="auto">
          <a:xfrm>
            <a:off x="0" y="1893888"/>
            <a:ext cx="9140825" cy="2449512"/>
          </a:xfrm>
          <a:prstGeom prst="rect">
            <a:avLst/>
          </a:prstGeom>
          <a:noFill/>
          <a:ln w="9525">
            <a:noFill/>
            <a:miter lim="800000"/>
            <a:headEnd/>
            <a:tailEnd/>
          </a:ln>
        </p:spPr>
      </p:pic>
      <p:sp>
        <p:nvSpPr>
          <p:cNvPr id="5" name="Rectangle 3"/>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6" name="Rectangle 4"/>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
        <p:nvSpPr>
          <p:cNvPr id="7" name="Rectangle 5"/>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a:solidFill>
                  <a:srgbClr val="D3D3D3"/>
                </a:solidFill>
              </a:rPr>
              <a:t>Chapter 4</a:t>
            </a:r>
          </a:p>
        </p:txBody>
      </p:sp>
      <p:sp>
        <p:nvSpPr>
          <p:cNvPr id="8" name="Rectangle 6"/>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C31C4615-7F19-455B-A5C4-EA1B3B194C81}" type="slidenum">
              <a:rPr lang="en-US" sz="1000">
                <a:solidFill>
                  <a:srgbClr val="D3D3D3"/>
                </a:solidFill>
              </a:rPr>
              <a:pPr algn="r" defTabSz="814388">
                <a:lnSpc>
                  <a:spcPct val="100000"/>
                </a:lnSpc>
                <a:defRPr/>
              </a:pPr>
              <a:t>‹nr.›</a:t>
            </a:fld>
            <a:endParaRPr lang="en-US" sz="1000" dirty="0">
              <a:solidFill>
                <a:srgbClr val="D3D3D3"/>
              </a:solidFill>
            </a:endParaRPr>
          </a:p>
        </p:txBody>
      </p:sp>
      <p:pic>
        <p:nvPicPr>
          <p:cNvPr id="9" name="Picture 9"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10"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1290247" name="Rectangle 7"/>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1290248" name="Rectangle 8"/>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55638" y="798513"/>
            <a:ext cx="8145462" cy="838200"/>
          </a:xfrm>
        </p:spPr>
        <p:txBody>
          <a:bodyPr/>
          <a:lstStyle/>
          <a:p>
            <a:r>
              <a:rPr lang="en-US"/>
              <a:t>Click to edit Master title style</a:t>
            </a:r>
          </a:p>
        </p:txBody>
      </p:sp>
      <p:sp>
        <p:nvSpPr>
          <p:cNvPr id="3" name="Table Placeholder 2"/>
          <p:cNvSpPr>
            <a:spLocks noGrp="1"/>
          </p:cNvSpPr>
          <p:nvPr>
            <p:ph type="tbl" idx="1"/>
          </p:nvPr>
        </p:nvSpPr>
        <p:spPr>
          <a:xfrm>
            <a:off x="655638" y="2014538"/>
            <a:ext cx="7940675" cy="3571875"/>
          </a:xfrm>
        </p:spPr>
        <p:txBody>
          <a:bodyPr/>
          <a:lstStyle/>
          <a:p>
            <a:pPr lvl="0"/>
            <a:endParaRPr lang="en-US" noProof="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8" descr="PPt_4face_021208.jpg"/>
          <p:cNvPicPr>
            <a:picLocks noChangeAspect="1"/>
          </p:cNvPicPr>
          <p:nvPr/>
        </p:nvPicPr>
        <p:blipFill>
          <a:blip r:embed="rId2" cstate="print"/>
          <a:srcRect/>
          <a:stretch>
            <a:fillRect/>
          </a:stretch>
        </p:blipFill>
        <p:spPr bwMode="auto">
          <a:xfrm>
            <a:off x="0" y="1911350"/>
            <a:ext cx="9144000" cy="2432050"/>
          </a:xfrm>
          <a:prstGeom prst="rect">
            <a:avLst/>
          </a:prstGeom>
          <a:noFill/>
          <a:ln w="9525">
            <a:noFill/>
            <a:miter lim="800000"/>
            <a:headEnd/>
            <a:tailEnd/>
          </a:ln>
        </p:spPr>
      </p:pic>
      <p:sp>
        <p:nvSpPr>
          <p:cNvPr id="5" name="Rectangle 278"/>
          <p:cNvSpPr>
            <a:spLocks noChangeArrowheads="1"/>
          </p:cNvSpPr>
          <p:nvPr/>
        </p:nvSpPr>
        <p:spPr bwMode="auto">
          <a:xfrm>
            <a:off x="4498975" y="6672263"/>
            <a:ext cx="2022475" cy="188912"/>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2008 Cisco Systems, Inc. All rights reserved.</a:t>
            </a:r>
          </a:p>
        </p:txBody>
      </p:sp>
      <p:sp>
        <p:nvSpPr>
          <p:cNvPr id="6" name="Rectangle 279"/>
          <p:cNvSpPr>
            <a:spLocks noChangeArrowheads="1"/>
          </p:cNvSpPr>
          <p:nvPr/>
        </p:nvSpPr>
        <p:spPr bwMode="auto">
          <a:xfrm>
            <a:off x="6896100" y="6672263"/>
            <a:ext cx="877888"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Confidential</a:t>
            </a:r>
          </a:p>
        </p:txBody>
      </p:sp>
      <p:sp>
        <p:nvSpPr>
          <p:cNvPr id="7" name="Rectangle 280"/>
          <p:cNvSpPr>
            <a:spLocks noChangeArrowheads="1"/>
          </p:cNvSpPr>
          <p:nvPr/>
        </p:nvSpPr>
        <p:spPr bwMode="auto">
          <a:xfrm>
            <a:off x="193675" y="6672263"/>
            <a:ext cx="962025" cy="188912"/>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Presentation_ID</a:t>
            </a:r>
          </a:p>
        </p:txBody>
      </p:sp>
      <p:sp>
        <p:nvSpPr>
          <p:cNvPr id="8" name="Rectangle 281"/>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ACFA795C-7F0A-48D8-9FC3-F2BA5F8EB736}" type="slidenum">
              <a:rPr lang="en-US" sz="1000">
                <a:solidFill>
                  <a:srgbClr val="D3D3D3"/>
                </a:solidFill>
              </a:rPr>
              <a:pPr algn="r" defTabSz="814388">
                <a:lnSpc>
                  <a:spcPct val="100000"/>
                </a:lnSpc>
                <a:defRPr/>
              </a:pPr>
              <a:t>‹nr.›</a:t>
            </a:fld>
            <a:endParaRPr lang="en-US" sz="1000" dirty="0">
              <a:solidFill>
                <a:srgbClr val="D3D3D3"/>
              </a:solidFill>
            </a:endParaRPr>
          </a:p>
        </p:txBody>
      </p:sp>
      <p:pic>
        <p:nvPicPr>
          <p:cNvPr id="9" name="Picture 331" descr="Cisco_NewLogo"/>
          <p:cNvPicPr>
            <a:picLocks noChangeAspect="1" noChangeArrowheads="1"/>
          </p:cNvPicPr>
          <p:nvPr/>
        </p:nvPicPr>
        <p:blipFill>
          <a:blip r:embed="rId3" cstate="print"/>
          <a:srcRect/>
          <a:stretch>
            <a:fillRect/>
          </a:stretch>
        </p:blipFill>
        <p:spPr bwMode="auto">
          <a:xfrm>
            <a:off x="5483225" y="5940425"/>
            <a:ext cx="3354388" cy="474663"/>
          </a:xfrm>
          <a:prstGeom prst="rect">
            <a:avLst/>
          </a:prstGeom>
          <a:noFill/>
          <a:ln w="9525">
            <a:noFill/>
            <a:miter lim="800000"/>
            <a:headEnd/>
            <a:tailEnd/>
          </a:ln>
        </p:spPr>
      </p:pic>
      <p:pic>
        <p:nvPicPr>
          <p:cNvPr id="10" name="Picture 333" descr="Cisco"/>
          <p:cNvPicPr>
            <a:picLocks noChangeAspect="1" noChangeArrowheads="1"/>
          </p:cNvPicPr>
          <p:nvPr/>
        </p:nvPicPr>
        <p:blipFill>
          <a:blip r:embed="rId4" cstate="print"/>
          <a:srcRect/>
          <a:stretch>
            <a:fillRect/>
          </a:stretch>
        </p:blipFill>
        <p:spPr bwMode="auto">
          <a:xfrm>
            <a:off x="246063" y="119063"/>
            <a:ext cx="1171575" cy="904875"/>
          </a:xfrm>
          <a:prstGeom prst="rect">
            <a:avLst/>
          </a:prstGeom>
          <a:noFill/>
          <a:ln w="9525">
            <a:noFill/>
            <a:miter lim="800000"/>
            <a:headEnd/>
            <a:tailEnd/>
          </a:ln>
        </p:spPr>
      </p:pic>
      <p:sp>
        <p:nvSpPr>
          <p:cNvPr id="369873" name="Rectangle 209"/>
          <p:cNvSpPr>
            <a:spLocks noGrp="1" noChangeArrowheads="1"/>
          </p:cNvSpPr>
          <p:nvPr>
            <p:ph type="ctrTitle"/>
          </p:nvPr>
        </p:nvSpPr>
        <p:spPr bwMode="white">
          <a:xfrm>
            <a:off x="311150" y="2671763"/>
            <a:ext cx="3768725" cy="830262"/>
          </a:xfrm>
          <a:ln/>
        </p:spPr>
        <p:txBody>
          <a:bodyPr anchor="ctr"/>
          <a:lstStyle>
            <a:lvl1pPr>
              <a:defRPr sz="3000" b="0">
                <a:solidFill>
                  <a:srgbClr val="FFFFFF"/>
                </a:solidFill>
              </a:defRPr>
            </a:lvl1pPr>
          </a:lstStyle>
          <a:p>
            <a:r>
              <a:rPr lang="en-US"/>
              <a:t>Click to edit Master title style</a:t>
            </a:r>
          </a:p>
        </p:txBody>
      </p:sp>
      <p:sp>
        <p:nvSpPr>
          <p:cNvPr id="369874" name="Rectangle 210"/>
          <p:cNvSpPr>
            <a:spLocks noGrp="1" noChangeArrowheads="1"/>
          </p:cNvSpPr>
          <p:nvPr>
            <p:ph type="subTitle" idx="1"/>
          </p:nvPr>
        </p:nvSpPr>
        <p:spPr>
          <a:xfrm>
            <a:off x="311150" y="4672013"/>
            <a:ext cx="4103688" cy="658812"/>
          </a:xfrm>
          <a:ln/>
        </p:spPr>
        <p:txBody>
          <a:bodyPr/>
          <a:lstStyle>
            <a:lvl1pPr marL="0" indent="0">
              <a:lnSpc>
                <a:spcPct val="90000"/>
              </a:lnSpc>
              <a:buFont typeface="Wingdings" pitchFamily="2" charset="2"/>
              <a:buNone/>
              <a:defRPr sz="2000" b="1">
                <a:solidFill>
                  <a:schemeClr val="bg2"/>
                </a:solidFill>
              </a:defRPr>
            </a:lvl1pPr>
          </a:lstStyle>
          <a:p>
            <a:r>
              <a:rPr lang="en-US"/>
              <a:t>Click to edit Master subtitle style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5638" y="2014538"/>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2175" y="2014538"/>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798513"/>
            <a:ext cx="2035175" cy="47879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55638" y="798513"/>
            <a:ext cx="5957887" cy="47879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a:t>Slide Title</a:t>
            </a:r>
          </a:p>
        </p:txBody>
      </p:sp>
      <p:sp>
        <p:nvSpPr>
          <p:cNvPr id="1027" name="Rectangle 4"/>
          <p:cNvSpPr>
            <a:spLocks noChangeArrowheads="1"/>
          </p:cNvSpPr>
          <p:nvPr/>
        </p:nvSpPr>
        <p:spPr bwMode="auto">
          <a:xfrm>
            <a:off x="193675" y="6562725"/>
            <a:ext cx="962025" cy="298450"/>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ITE PC v4.1</a:t>
            </a:r>
          </a:p>
          <a:p>
            <a:pPr algn="l" defTabSz="814388">
              <a:lnSpc>
                <a:spcPct val="100000"/>
              </a:lnSpc>
              <a:defRPr/>
            </a:pPr>
            <a:r>
              <a:rPr lang="en-US" sz="700" dirty="0">
                <a:solidFill>
                  <a:srgbClr val="D3D3D3"/>
                </a:solidFill>
              </a:rPr>
              <a:t>Chapter 4</a:t>
            </a:r>
          </a:p>
        </p:txBody>
      </p:sp>
      <p:sp>
        <p:nvSpPr>
          <p:cNvPr id="1028" name="Rectangle 5"/>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58EC189E-ADD4-420E-B89E-1E32C54438D7}" type="slidenum">
              <a:rPr lang="en-US" sz="1000">
                <a:solidFill>
                  <a:srgbClr val="D3D3D3"/>
                </a:solidFill>
              </a:rPr>
              <a:pPr algn="r" defTabSz="814388">
                <a:lnSpc>
                  <a:spcPct val="100000"/>
                </a:lnSpc>
                <a:defRPr/>
              </a:pPr>
              <a:t>‹nr.›</a:t>
            </a:fld>
            <a:endParaRPr lang="en-US" sz="1000" dirty="0">
              <a:solidFill>
                <a:srgbClr val="D3D3D3"/>
              </a:solidFill>
            </a:endParaRPr>
          </a:p>
        </p:txBody>
      </p:sp>
      <p:sp>
        <p:nvSpPr>
          <p:cNvPr id="1029" name="Rectangle 6"/>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pic>
        <p:nvPicPr>
          <p:cNvPr id="1030" name="Picture 7" descr="PPt_TopBand_Artwork"/>
          <p:cNvPicPr>
            <a:picLocks noChangeAspect="1" noChangeArrowheads="1"/>
          </p:cNvPicPr>
          <p:nvPr/>
        </p:nvPicPr>
        <p:blipFill>
          <a:blip r:embed="rId14" cstate="print"/>
          <a:srcRect/>
          <a:stretch>
            <a:fillRect/>
          </a:stretch>
        </p:blipFill>
        <p:spPr bwMode="auto">
          <a:xfrm>
            <a:off x="0" y="0"/>
            <a:ext cx="9140825" cy="685800"/>
          </a:xfrm>
          <a:prstGeom prst="rect">
            <a:avLst/>
          </a:prstGeom>
          <a:noFill/>
          <a:ln w="9525">
            <a:noFill/>
            <a:miter lim="800000"/>
            <a:headEnd/>
            <a:tailEnd/>
          </a:ln>
        </p:spPr>
      </p:pic>
      <p:sp>
        <p:nvSpPr>
          <p:cNvPr id="1031" name="Rectangle 8"/>
          <p:cNvSpPr>
            <a:spLocks noChangeArrowheads="1"/>
          </p:cNvSpPr>
          <p:nvPr/>
        </p:nvSpPr>
        <p:spPr bwMode="auto">
          <a:xfrm>
            <a:off x="4498975" y="6670675"/>
            <a:ext cx="2347913" cy="190500"/>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2007 – 2010, Cisco Systems, Inc. All rights reserved.</a:t>
            </a:r>
          </a:p>
        </p:txBody>
      </p:sp>
      <p:sp>
        <p:nvSpPr>
          <p:cNvPr id="1032" name="Rectangle 9"/>
          <p:cNvSpPr>
            <a:spLocks noChangeArrowheads="1"/>
          </p:cNvSpPr>
          <p:nvPr/>
        </p:nvSpPr>
        <p:spPr bwMode="auto">
          <a:xfrm>
            <a:off x="7123113" y="6672263"/>
            <a:ext cx="650875"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Public</a:t>
            </a:r>
          </a:p>
        </p:txBody>
      </p:sp>
    </p:spTree>
  </p:cSld>
  <p:clrMap bg1="lt1" tx1="dk1" bg2="lt2" tx2="dk2" accent1="accent1" accent2="accent2" accent3="accent3" accent4="accent4" accent5="accent5" accent6="accent6" hlink="hlink" folHlink="folHlink"/>
  <p:sldLayoutIdLst>
    <p:sldLayoutId id="2147484455" r:id="rId1"/>
    <p:sldLayoutId id="2147484434" r:id="rId2"/>
    <p:sldLayoutId id="2147484435" r:id="rId3"/>
    <p:sldLayoutId id="2147484436" r:id="rId4"/>
    <p:sldLayoutId id="2147484437" r:id="rId5"/>
    <p:sldLayoutId id="2147484438" r:id="rId6"/>
    <p:sldLayoutId id="2147484439" r:id="rId7"/>
    <p:sldLayoutId id="2147484440" r:id="rId8"/>
    <p:sldLayoutId id="2147484441" r:id="rId9"/>
    <p:sldLayoutId id="2147484442" r:id="rId10"/>
    <p:sldLayoutId id="2147484443" r:id="rId11"/>
    <p:sldLayoutId id="2147484444" r:id="rId12"/>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fontAlgn="base">
        <a:lnSpc>
          <a:spcPct val="90000"/>
        </a:lnSpc>
        <a:spcBef>
          <a:spcPct val="0"/>
        </a:spcBef>
        <a:spcAft>
          <a:spcPct val="0"/>
        </a:spcAft>
        <a:defRPr sz="3200" b="1">
          <a:solidFill>
            <a:srgbClr val="708CA1"/>
          </a:solidFill>
          <a:latin typeface="Arial" charset="0"/>
        </a:defRPr>
      </a:lvl6pPr>
      <a:lvl7pPr marL="914400" algn="l" defTabSz="814388" rtl="0" fontAlgn="base">
        <a:lnSpc>
          <a:spcPct val="90000"/>
        </a:lnSpc>
        <a:spcBef>
          <a:spcPct val="0"/>
        </a:spcBef>
        <a:spcAft>
          <a:spcPct val="0"/>
        </a:spcAft>
        <a:defRPr sz="3200" b="1">
          <a:solidFill>
            <a:srgbClr val="708CA1"/>
          </a:solidFill>
          <a:latin typeface="Arial" charset="0"/>
        </a:defRPr>
      </a:lvl7pPr>
      <a:lvl8pPr marL="1371600" algn="l" defTabSz="814388" rtl="0" fontAlgn="base">
        <a:lnSpc>
          <a:spcPct val="90000"/>
        </a:lnSpc>
        <a:spcBef>
          <a:spcPct val="0"/>
        </a:spcBef>
        <a:spcAft>
          <a:spcPct val="0"/>
        </a:spcAft>
        <a:defRPr sz="3200" b="1">
          <a:solidFill>
            <a:srgbClr val="708CA1"/>
          </a:solidFill>
          <a:latin typeface="Arial" charset="0"/>
        </a:defRPr>
      </a:lvl8pPr>
      <a:lvl9pPr marL="1828800" algn="l" defTabSz="814388" rtl="0" fontAlgn="base">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0" fontAlgn="base" hangingPunct="0">
        <a:lnSpc>
          <a:spcPct val="95000"/>
        </a:lnSpc>
        <a:spcBef>
          <a:spcPct val="35000"/>
        </a:spcBef>
        <a:spcAft>
          <a:spcPct val="0"/>
        </a:spcAft>
        <a:buClr>
          <a:srgbClr val="708CA1"/>
        </a:buClr>
        <a:defRPr sz="2000">
          <a:solidFill>
            <a:schemeClr val="tx1"/>
          </a:solidFill>
          <a:latin typeface="+mn-lt"/>
        </a:defRPr>
      </a:lvl6pPr>
      <a:lvl7pPr marL="2519363" algn="l" defTabSz="814388" rtl="0" eaLnBrk="0" fontAlgn="base" hangingPunct="0">
        <a:lnSpc>
          <a:spcPct val="95000"/>
        </a:lnSpc>
        <a:spcBef>
          <a:spcPct val="35000"/>
        </a:spcBef>
        <a:spcAft>
          <a:spcPct val="0"/>
        </a:spcAft>
        <a:buClr>
          <a:srgbClr val="708CA1"/>
        </a:buClr>
        <a:defRPr sz="2000">
          <a:solidFill>
            <a:schemeClr val="tx1"/>
          </a:solidFill>
          <a:latin typeface="+mn-lt"/>
        </a:defRPr>
      </a:lvl7pPr>
      <a:lvl8pPr marL="2976563" algn="l" defTabSz="814388" rtl="0" eaLnBrk="0" fontAlgn="base" hangingPunct="0">
        <a:lnSpc>
          <a:spcPct val="95000"/>
        </a:lnSpc>
        <a:spcBef>
          <a:spcPct val="35000"/>
        </a:spcBef>
        <a:spcAft>
          <a:spcPct val="0"/>
        </a:spcAft>
        <a:buClr>
          <a:srgbClr val="708CA1"/>
        </a:buClr>
        <a:defRPr sz="2000">
          <a:solidFill>
            <a:schemeClr val="tx1"/>
          </a:solidFill>
          <a:latin typeface="+mn-lt"/>
        </a:defRPr>
      </a:lvl8pPr>
      <a:lvl9pPr marL="3433763" algn="l" defTabSz="814388" rtl="0" eaLnBrk="0" fontAlgn="base" hangingPunct="0">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6146"/>
          <p:cNvSpPr>
            <a:spLocks noGrp="1" noChangeArrowheads="1"/>
          </p:cNvSpPr>
          <p:nvPr>
            <p:ph type="title"/>
          </p:nvPr>
        </p:nvSpPr>
        <p:spPr bwMode="auto">
          <a:xfrm>
            <a:off x="655638" y="798513"/>
            <a:ext cx="8145462"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p>
            <a:pPr lvl="0"/>
            <a:r>
              <a:rPr lang="en-US"/>
              <a:t>Slide Title</a:t>
            </a:r>
          </a:p>
        </p:txBody>
      </p:sp>
      <p:sp>
        <p:nvSpPr>
          <p:cNvPr id="2051" name="Rectangle 6281"/>
          <p:cNvSpPr>
            <a:spLocks noChangeArrowheads="1"/>
          </p:cNvSpPr>
          <p:nvPr/>
        </p:nvSpPr>
        <p:spPr bwMode="auto">
          <a:xfrm>
            <a:off x="193675" y="6672263"/>
            <a:ext cx="962025" cy="188912"/>
          </a:xfrm>
          <a:prstGeom prst="rect">
            <a:avLst/>
          </a:prstGeom>
          <a:noFill/>
          <a:ln w="9525">
            <a:noFill/>
            <a:miter lim="800000"/>
            <a:headEnd/>
            <a:tailEnd/>
          </a:ln>
        </p:spPr>
        <p:txBody>
          <a:bodyPr lIns="82124" tIns="41061" rIns="82124" bIns="41061" anchor="b">
            <a:spAutoFit/>
          </a:bodyPr>
          <a:lstStyle/>
          <a:p>
            <a:pPr algn="l" defTabSz="814388">
              <a:lnSpc>
                <a:spcPct val="100000"/>
              </a:lnSpc>
              <a:defRPr/>
            </a:pPr>
            <a:r>
              <a:rPr lang="en-US" sz="700" dirty="0">
                <a:solidFill>
                  <a:srgbClr val="D3D3D3"/>
                </a:solidFill>
              </a:rPr>
              <a:t>Presentation_ID</a:t>
            </a:r>
          </a:p>
        </p:txBody>
      </p:sp>
      <p:sp>
        <p:nvSpPr>
          <p:cNvPr id="2052" name="Rectangle 6282"/>
          <p:cNvSpPr>
            <a:spLocks noChangeArrowheads="1"/>
          </p:cNvSpPr>
          <p:nvPr/>
        </p:nvSpPr>
        <p:spPr bwMode="auto">
          <a:xfrm>
            <a:off x="8596313" y="6626225"/>
            <a:ext cx="320675" cy="234950"/>
          </a:xfrm>
          <a:prstGeom prst="rect">
            <a:avLst/>
          </a:prstGeom>
          <a:noFill/>
          <a:ln w="9525" algn="ctr">
            <a:noFill/>
            <a:miter lim="800000"/>
            <a:headEnd/>
            <a:tailEnd/>
          </a:ln>
        </p:spPr>
        <p:txBody>
          <a:bodyPr wrap="none" lIns="82124" tIns="41061" rIns="82124" bIns="41061" anchor="b">
            <a:spAutoFit/>
          </a:bodyPr>
          <a:lstStyle/>
          <a:p>
            <a:pPr algn="r" defTabSz="814388">
              <a:lnSpc>
                <a:spcPct val="100000"/>
              </a:lnSpc>
              <a:defRPr/>
            </a:pPr>
            <a:fld id="{85C5E045-6C48-46C0-92AE-30A8710B0BBD}" type="slidenum">
              <a:rPr lang="en-US" sz="1000">
                <a:solidFill>
                  <a:srgbClr val="D3D3D3"/>
                </a:solidFill>
              </a:rPr>
              <a:pPr algn="r" defTabSz="814388">
                <a:lnSpc>
                  <a:spcPct val="100000"/>
                </a:lnSpc>
                <a:defRPr/>
              </a:pPr>
              <a:t>‹nr.›</a:t>
            </a:fld>
            <a:endParaRPr lang="en-US" sz="1000" dirty="0">
              <a:solidFill>
                <a:srgbClr val="D3D3D3"/>
              </a:solidFill>
            </a:endParaRPr>
          </a:p>
        </p:txBody>
      </p:sp>
      <p:sp>
        <p:nvSpPr>
          <p:cNvPr id="2053" name="Rectangle 6284"/>
          <p:cNvSpPr>
            <a:spLocks noGrp="1" noChangeArrowheads="1"/>
          </p:cNvSpPr>
          <p:nvPr>
            <p:ph type="body" idx="1"/>
          </p:nvPr>
        </p:nvSpPr>
        <p:spPr bwMode="auto">
          <a:xfrm>
            <a:off x="655638" y="2014538"/>
            <a:ext cx="7940675" cy="3571875"/>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p>
            <a:pPr lvl="0"/>
            <a:r>
              <a:rPr lang="en-US"/>
              <a:t>Body Text</a:t>
            </a:r>
          </a:p>
          <a:p>
            <a:pPr lvl="1"/>
            <a:r>
              <a:rPr lang="en-US"/>
              <a:t>Second Level</a:t>
            </a:r>
          </a:p>
          <a:p>
            <a:pPr lvl="2"/>
            <a:r>
              <a:rPr lang="en-US"/>
              <a:t>Third Level</a:t>
            </a:r>
          </a:p>
          <a:p>
            <a:pPr lvl="3"/>
            <a:r>
              <a:rPr lang="en-US"/>
              <a:t>Fourth Level</a:t>
            </a:r>
          </a:p>
          <a:p>
            <a:pPr lvl="4"/>
            <a:r>
              <a:rPr lang="en-US"/>
              <a:t>Fifth Level</a:t>
            </a:r>
          </a:p>
        </p:txBody>
      </p:sp>
      <p:sp>
        <p:nvSpPr>
          <p:cNvPr id="2054" name="Rectangle 6312"/>
          <p:cNvSpPr>
            <a:spLocks noChangeArrowheads="1"/>
          </p:cNvSpPr>
          <p:nvPr/>
        </p:nvSpPr>
        <p:spPr bwMode="auto">
          <a:xfrm>
            <a:off x="4498975" y="6672263"/>
            <a:ext cx="2022475" cy="188912"/>
          </a:xfrm>
          <a:prstGeom prst="rect">
            <a:avLst/>
          </a:prstGeom>
          <a:noFill/>
          <a:ln w="9525">
            <a:noFill/>
            <a:miter lim="800000"/>
            <a:headEnd/>
            <a:tailEnd/>
          </a:ln>
        </p:spPr>
        <p:txBody>
          <a:bodyPr wrap="none" lIns="82124" tIns="41061" rIns="82124" bIns="41061" anchor="b" anchorCtr="1">
            <a:spAutoFit/>
          </a:bodyPr>
          <a:lstStyle/>
          <a:p>
            <a:pPr algn="l" defTabSz="814388">
              <a:lnSpc>
                <a:spcPct val="100000"/>
              </a:lnSpc>
              <a:defRPr/>
            </a:pPr>
            <a:r>
              <a:rPr lang="en-US" sz="700" dirty="0">
                <a:solidFill>
                  <a:srgbClr val="D3D3D3"/>
                </a:solidFill>
              </a:rPr>
              <a:t>© 2008 Cisco Systems, Inc. All rights reserved.</a:t>
            </a:r>
          </a:p>
        </p:txBody>
      </p:sp>
      <p:sp>
        <p:nvSpPr>
          <p:cNvPr id="2055" name="Rectangle 6313"/>
          <p:cNvSpPr>
            <a:spLocks noChangeArrowheads="1"/>
          </p:cNvSpPr>
          <p:nvPr/>
        </p:nvSpPr>
        <p:spPr bwMode="auto">
          <a:xfrm>
            <a:off x="6896100" y="6672263"/>
            <a:ext cx="877888" cy="188912"/>
          </a:xfrm>
          <a:prstGeom prst="rect">
            <a:avLst/>
          </a:prstGeom>
          <a:noFill/>
          <a:ln w="9525">
            <a:noFill/>
            <a:miter lim="800000"/>
            <a:headEnd/>
            <a:tailEnd/>
          </a:ln>
        </p:spPr>
        <p:txBody>
          <a:bodyPr wrap="none" lIns="82124" tIns="41061" rIns="82124" bIns="41061" anchor="b">
            <a:spAutoFit/>
          </a:bodyPr>
          <a:lstStyle/>
          <a:p>
            <a:pPr algn="r" defTabSz="814388">
              <a:lnSpc>
                <a:spcPct val="100000"/>
              </a:lnSpc>
              <a:defRPr/>
            </a:pPr>
            <a:r>
              <a:rPr lang="en-US" sz="700" dirty="0">
                <a:solidFill>
                  <a:srgbClr val="D3D3D3"/>
                </a:solidFill>
              </a:rPr>
              <a:t>Cisco Confidential</a:t>
            </a:r>
          </a:p>
        </p:txBody>
      </p:sp>
      <p:pic>
        <p:nvPicPr>
          <p:cNvPr id="2056" name="Picture 8" descr="Rev08_Cisco_BrandBar10_060408.png"/>
          <p:cNvPicPr>
            <a:picLocks noChangeAspect="1"/>
          </p:cNvPicPr>
          <p:nvPr/>
        </p:nvPicPr>
        <p:blipFill>
          <a:blip r:embed="rId13" cstate="print"/>
          <a:srcRect/>
          <a:stretch>
            <a:fillRect/>
          </a:stretch>
        </p:blipFill>
        <p:spPr bwMode="auto">
          <a:xfrm>
            <a:off x="0" y="0"/>
            <a:ext cx="9144000" cy="3413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456" r:id="rId1"/>
    <p:sldLayoutId id="2147484445" r:id="rId2"/>
    <p:sldLayoutId id="2147484446" r:id="rId3"/>
    <p:sldLayoutId id="2147484447" r:id="rId4"/>
    <p:sldLayoutId id="2147484448" r:id="rId5"/>
    <p:sldLayoutId id="2147484449" r:id="rId6"/>
    <p:sldLayoutId id="2147484450" r:id="rId7"/>
    <p:sldLayoutId id="2147484451" r:id="rId8"/>
    <p:sldLayoutId id="2147484452" r:id="rId9"/>
    <p:sldLayoutId id="2147484453" r:id="rId10"/>
    <p:sldLayoutId id="2147484454" r:id="rId11"/>
  </p:sldLayoutIdLst>
  <p:txStyles>
    <p:title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eaLnBrk="1" fontAlgn="base" hangingPunct="1">
        <a:lnSpc>
          <a:spcPct val="90000"/>
        </a:lnSpc>
        <a:spcBef>
          <a:spcPct val="0"/>
        </a:spcBef>
        <a:spcAft>
          <a:spcPct val="0"/>
        </a:spcAft>
        <a:defRPr sz="3200" b="1">
          <a:solidFill>
            <a:srgbClr val="708CA1"/>
          </a:solidFill>
          <a:latin typeface="Arial" charset="0"/>
        </a:defRPr>
      </a:lvl6pPr>
      <a:lvl7pPr marL="914400" algn="l" defTabSz="814388" rtl="0" eaLnBrk="1" fontAlgn="base" hangingPunct="1">
        <a:lnSpc>
          <a:spcPct val="90000"/>
        </a:lnSpc>
        <a:spcBef>
          <a:spcPct val="0"/>
        </a:spcBef>
        <a:spcAft>
          <a:spcPct val="0"/>
        </a:spcAft>
        <a:defRPr sz="3200" b="1">
          <a:solidFill>
            <a:srgbClr val="708CA1"/>
          </a:solidFill>
          <a:latin typeface="Arial" charset="0"/>
        </a:defRPr>
      </a:lvl7pPr>
      <a:lvl8pPr marL="1371600" algn="l" defTabSz="814388" rtl="0" eaLnBrk="1" fontAlgn="base" hangingPunct="1">
        <a:lnSpc>
          <a:spcPct val="90000"/>
        </a:lnSpc>
        <a:spcBef>
          <a:spcPct val="0"/>
        </a:spcBef>
        <a:spcAft>
          <a:spcPct val="0"/>
        </a:spcAft>
        <a:defRPr sz="3200" b="1">
          <a:solidFill>
            <a:srgbClr val="708CA1"/>
          </a:solidFill>
          <a:latin typeface="Arial" charset="0"/>
        </a:defRPr>
      </a:lvl8pPr>
      <a:lvl9pPr marL="1828800" algn="l" defTabSz="814388" rtl="0" eaLnBrk="1" fontAlgn="base" hangingPunct="1">
        <a:lnSpc>
          <a:spcPct val="90000"/>
        </a:lnSpc>
        <a:spcBef>
          <a:spcPct val="0"/>
        </a:spcBef>
        <a:spcAft>
          <a:spcPct val="0"/>
        </a:spcAft>
        <a:defRPr sz="3200" b="1">
          <a:solidFill>
            <a:srgbClr val="708CA1"/>
          </a:solidFill>
          <a:latin typeface="Arial" charset="0"/>
        </a:defRPr>
      </a:lvl9pPr>
    </p:titleStyle>
    <p:body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74638" y="0"/>
            <a:ext cx="8145462" cy="838200"/>
          </a:xfrm>
        </p:spPr>
        <p:txBody>
          <a:bodyPr/>
          <a:lstStyle/>
          <a:p>
            <a:pPr eaLnBrk="1" hangingPunct="1"/>
            <a:r>
              <a:rPr lang="en-US" dirty="0" err="1">
                <a:ea typeface="ＭＳ Ｐゴシック" pitchFamily="34" charset="-128"/>
              </a:rPr>
              <a:t>Indhold</a:t>
            </a:r>
            <a:endParaRPr lang="en-US" dirty="0">
              <a:ea typeface="ＭＳ Ｐゴシック" pitchFamily="34" charset="-128"/>
            </a:endParaRPr>
          </a:p>
        </p:txBody>
      </p:sp>
      <p:sp>
        <p:nvSpPr>
          <p:cNvPr id="6147" name="Rectangle 3"/>
          <p:cNvSpPr>
            <a:spLocks noGrp="1" noChangeArrowheads="1"/>
          </p:cNvSpPr>
          <p:nvPr>
            <p:ph idx="1"/>
          </p:nvPr>
        </p:nvSpPr>
        <p:spPr>
          <a:xfrm>
            <a:off x="162597" y="1066498"/>
            <a:ext cx="8676142" cy="5669968"/>
          </a:xfrm>
        </p:spPr>
        <p:txBody>
          <a:bodyPr/>
          <a:lstStyle/>
          <a:p>
            <a:pPr marL="0" indent="0" eaLnBrk="1" hangingPunct="1">
              <a:buNone/>
            </a:pPr>
            <a:r>
              <a:rPr lang="en-US" sz="2600">
                <a:cs typeface="Arial" charset="0"/>
              </a:rPr>
              <a:t>Hvad skal vi overhovedet bruge WAN forbindelser til?</a:t>
            </a:r>
          </a:p>
          <a:p>
            <a:pPr marL="0" indent="0" eaLnBrk="1" hangingPunct="1">
              <a:buNone/>
            </a:pPr>
            <a:r>
              <a:rPr lang="en-US" sz="2600">
                <a:cs typeface="Arial" charset="0"/>
              </a:rPr>
              <a:t>Hvilke muligheder </a:t>
            </a:r>
            <a:r>
              <a:rPr lang="en-US" sz="2600" dirty="0">
                <a:cs typeface="Arial" charset="0"/>
              </a:rPr>
              <a:t>der </a:t>
            </a:r>
            <a:r>
              <a:rPr lang="en-US" sz="2600" dirty="0" err="1">
                <a:cs typeface="Arial" charset="0"/>
              </a:rPr>
              <a:t>er</a:t>
            </a:r>
            <a:r>
              <a:rPr lang="en-US" sz="2600" dirty="0">
                <a:cs typeface="Arial" charset="0"/>
              </a:rPr>
              <a:t>, </a:t>
            </a:r>
            <a:r>
              <a:rPr lang="en-US" sz="2600" dirty="0" err="1">
                <a:cs typeface="Arial" charset="0"/>
              </a:rPr>
              <a:t>når</a:t>
            </a:r>
            <a:r>
              <a:rPr lang="en-US" sz="2600" dirty="0">
                <a:cs typeface="Arial" charset="0"/>
              </a:rPr>
              <a:t> vi </a:t>
            </a:r>
            <a:r>
              <a:rPr lang="en-US" sz="2600" dirty="0" err="1">
                <a:cs typeface="Arial" charset="0"/>
              </a:rPr>
              <a:t>skal</a:t>
            </a:r>
            <a:r>
              <a:rPr lang="en-US" sz="2600" dirty="0">
                <a:cs typeface="Arial" charset="0"/>
              </a:rPr>
              <a:t> </a:t>
            </a:r>
            <a:r>
              <a:rPr lang="en-US" sz="2600" dirty="0" err="1">
                <a:cs typeface="Arial" charset="0"/>
              </a:rPr>
              <a:t>vælge</a:t>
            </a:r>
            <a:r>
              <a:rPr lang="en-US" sz="2600" dirty="0">
                <a:cs typeface="Arial" charset="0"/>
              </a:rPr>
              <a:t> </a:t>
            </a:r>
            <a:r>
              <a:rPr lang="en-US" sz="2600">
                <a:cs typeface="Arial" charset="0"/>
              </a:rPr>
              <a:t>WAN forbindelser?</a:t>
            </a:r>
            <a:endParaRPr lang="en-US" sz="2600" dirty="0">
              <a:cs typeface="Arial" charset="0"/>
            </a:endParaRPr>
          </a:p>
          <a:p>
            <a:pPr marL="0" indent="0" eaLnBrk="1" hangingPunct="1">
              <a:buNone/>
            </a:pPr>
            <a:endParaRPr lang="en-US" sz="2600">
              <a:cs typeface="Arial" charset="0"/>
            </a:endParaRPr>
          </a:p>
          <a:p>
            <a:pPr marL="0" indent="0" eaLnBrk="1" hangingPunct="1">
              <a:buNone/>
            </a:pPr>
            <a:endParaRPr lang="en-US" sz="2600">
              <a:cs typeface="Arial" charset="0"/>
            </a:endParaRPr>
          </a:p>
          <a:p>
            <a:pPr marL="0" indent="0" eaLnBrk="1" hangingPunct="1">
              <a:buNone/>
            </a:pPr>
            <a:endParaRPr lang="en-US" sz="2600">
              <a:cs typeface="Arial" charset="0"/>
            </a:endParaRPr>
          </a:p>
          <a:p>
            <a:pPr marL="0" indent="0" eaLnBrk="1" hangingPunct="1">
              <a:buNone/>
            </a:pPr>
            <a:endParaRPr lang="en-US" sz="2600">
              <a:cs typeface="Arial" charset="0"/>
            </a:endParaRPr>
          </a:p>
          <a:p>
            <a:pPr marL="0" indent="0" eaLnBrk="1" hangingPunct="1">
              <a:buNone/>
            </a:pPr>
            <a:endParaRPr lang="en-US" sz="2600">
              <a:cs typeface="Arial" charset="0"/>
            </a:endParaRPr>
          </a:p>
          <a:p>
            <a:pPr marL="0" indent="0" eaLnBrk="1" hangingPunct="1">
              <a:buNone/>
            </a:pPr>
            <a:endParaRPr lang="en-US" sz="2600">
              <a:cs typeface="Arial" charset="0"/>
            </a:endParaRPr>
          </a:p>
          <a:p>
            <a:pPr marL="0" indent="0" eaLnBrk="1" hangingPunct="1">
              <a:buNone/>
            </a:pPr>
            <a:r>
              <a:rPr lang="en-US" sz="2600" dirty="0">
                <a:cs typeface="Arial" charset="0"/>
              </a:rPr>
              <a:t>			</a:t>
            </a:r>
            <a:r>
              <a:rPr lang="en-US" sz="2600">
                <a:cs typeface="Arial" charset="0"/>
              </a:rPr>
              <a:t>	ca. 20 dias/en lille halv times tid.</a:t>
            </a:r>
            <a:endParaRPr lang="en-US" sz="2600" dirty="0">
              <a:cs typeface="Arial" charset="0"/>
            </a:endParaRPr>
          </a:p>
        </p:txBody>
      </p:sp>
    </p:spTree>
    <p:extLst>
      <p:ext uri="{BB962C8B-B14F-4D97-AF65-F5344CB8AC3E}">
        <p14:creationId xmlns:p14="http://schemas.microsoft.com/office/powerpoint/2010/main" val="613483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46401" y="854377"/>
            <a:ext cx="6095999" cy="4128508"/>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0" y="0"/>
            <a:ext cx="9622971" cy="838200"/>
          </a:xfrm>
        </p:spPr>
        <p:txBody>
          <a:bodyPr/>
          <a:lstStyle/>
          <a:p>
            <a:br>
              <a:rPr lang="en-US" sz="2600" dirty="0">
                <a:ea typeface="ＭＳ Ｐゴシック" pitchFamily="34" charset="-128"/>
              </a:rPr>
            </a:br>
            <a:r>
              <a:rPr lang="en-US" sz="2600" dirty="0" err="1"/>
              <a:t>Hvorfor</a:t>
            </a:r>
            <a:r>
              <a:rPr lang="en-US" sz="2600" dirty="0"/>
              <a:t> </a:t>
            </a:r>
            <a:r>
              <a:rPr lang="en-US" sz="2600" dirty="0" err="1"/>
              <a:t>overhovedet</a:t>
            </a:r>
            <a:r>
              <a:rPr lang="en-US" sz="2600" dirty="0"/>
              <a:t> WAN? </a:t>
            </a:r>
            <a:r>
              <a:rPr lang="en-US" sz="2600" dirty="0" err="1"/>
              <a:t>Hvad</a:t>
            </a:r>
            <a:r>
              <a:rPr lang="en-US" sz="2600" dirty="0"/>
              <a:t> </a:t>
            </a:r>
            <a:r>
              <a:rPr lang="en-US" sz="2600" dirty="0" err="1"/>
              <a:t>er</a:t>
            </a:r>
            <a:r>
              <a:rPr lang="en-US" sz="2600" dirty="0"/>
              <a:t> </a:t>
            </a:r>
            <a:r>
              <a:rPr lang="en-US" sz="2600" dirty="0" err="1"/>
              <a:t>det</a:t>
            </a:r>
            <a:r>
              <a:rPr lang="en-US" sz="2600" dirty="0"/>
              <a:t> </a:t>
            </a:r>
            <a:r>
              <a:rPr lang="en-US" sz="2600" dirty="0" err="1"/>
              <a:t>i</a:t>
            </a:r>
            <a:r>
              <a:rPr lang="en-US" sz="2600" dirty="0"/>
              <a:t> </a:t>
            </a:r>
            <a:r>
              <a:rPr lang="en-US" sz="2600" dirty="0" err="1"/>
              <a:t>forhold</a:t>
            </a:r>
            <a:r>
              <a:rPr lang="en-US" sz="2600" dirty="0"/>
              <a:t> </a:t>
            </a:r>
            <a:r>
              <a:rPr lang="en-US" sz="2600" dirty="0" err="1"/>
              <a:t>til</a:t>
            </a:r>
            <a:r>
              <a:rPr lang="en-US" sz="2600" dirty="0"/>
              <a:t> LAN?</a:t>
            </a:r>
          </a:p>
        </p:txBody>
      </p:sp>
      <p:sp>
        <p:nvSpPr>
          <p:cNvPr id="3" name="Content Placeholder 2"/>
          <p:cNvSpPr>
            <a:spLocks noGrp="1"/>
          </p:cNvSpPr>
          <p:nvPr>
            <p:ph idx="1"/>
          </p:nvPr>
        </p:nvSpPr>
        <p:spPr>
          <a:xfrm>
            <a:off x="1" y="5065450"/>
            <a:ext cx="9013371" cy="733005"/>
          </a:xfrm>
        </p:spPr>
        <p:txBody>
          <a:bodyPr/>
          <a:lstStyle/>
          <a:p>
            <a:r>
              <a:rPr lang="en-US" sz="2000" dirty="0"/>
              <a:t>Used to </a:t>
            </a:r>
            <a:r>
              <a:rPr lang="en-US" sz="2000" dirty="0">
                <a:solidFill>
                  <a:srgbClr val="0070C0"/>
                </a:solidFill>
              </a:rPr>
              <a:t>interconnect the enterprise LAN </a:t>
            </a:r>
            <a:r>
              <a:rPr lang="en-US" sz="2000" dirty="0"/>
              <a:t>to remote LANs in branch sites and telecommuter sites</a:t>
            </a:r>
          </a:p>
        </p:txBody>
      </p:sp>
      <p:sp>
        <p:nvSpPr>
          <p:cNvPr id="5" name="Content Placeholder 2"/>
          <p:cNvSpPr txBox="1">
            <a:spLocks/>
          </p:cNvSpPr>
          <p:nvPr/>
        </p:nvSpPr>
        <p:spPr bwMode="auto">
          <a:xfrm>
            <a:off x="0" y="5798455"/>
            <a:ext cx="9144000" cy="1059544"/>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r>
              <a:rPr lang="en-US" sz="2000" kern="0" dirty="0">
                <a:solidFill>
                  <a:srgbClr val="FF00FF"/>
                </a:solidFill>
              </a:rPr>
              <a:t>Owned by a service provider</a:t>
            </a:r>
          </a:p>
          <a:p>
            <a:r>
              <a:rPr lang="en-US" sz="2000" kern="0" dirty="0"/>
              <a:t>Organization must pay a fee to use the provider’s services to connect sites</a:t>
            </a:r>
          </a:p>
        </p:txBody>
      </p:sp>
      <p:sp>
        <p:nvSpPr>
          <p:cNvPr id="6" name="Content Placeholder 2"/>
          <p:cNvSpPr txBox="1">
            <a:spLocks/>
          </p:cNvSpPr>
          <p:nvPr/>
        </p:nvSpPr>
        <p:spPr bwMode="auto">
          <a:xfrm>
            <a:off x="1" y="2172187"/>
            <a:ext cx="2946400" cy="1284547"/>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r>
              <a:rPr lang="en-US" sz="2000" kern="0" dirty="0"/>
              <a:t>WAN - Operates beyond the geographic scope of a LAN!!!</a:t>
            </a:r>
          </a:p>
        </p:txBody>
      </p:sp>
    </p:spTree>
    <p:extLst>
      <p:ext uri="{BB962C8B-B14F-4D97-AF65-F5344CB8AC3E}">
        <p14:creationId xmlns:p14="http://schemas.microsoft.com/office/powerpoint/2010/main" val="142172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51199" y="1500463"/>
            <a:ext cx="5892800" cy="4786444"/>
          </a:xfrm>
          <a:prstGeom prst="rect">
            <a:avLst/>
          </a:prstGeom>
          <a:noFill/>
          <a:ln w="9525">
            <a:noFill/>
            <a:bevel/>
            <a:headEnd/>
            <a:tailEnd/>
          </a:ln>
          <a:extLst>
            <a:ext uri="{909E8E84-426E-40DD-AFC4-6F175D3DCCD1}">
              <a14:hiddenFill xmlns:a14="http://schemas.microsoft.com/office/drawing/2010/main">
                <a:solidFill>
                  <a:schemeClr val="accent1"/>
                </a:solidFill>
              </a14:hiddenFill>
            </a:ext>
          </a:extLst>
        </p:spPr>
      </p:pic>
      <p:sp>
        <p:nvSpPr>
          <p:cNvPr id="7171" name="Rectangle 3"/>
          <p:cNvSpPr>
            <a:spLocks noGrp="1" noChangeArrowheads="1"/>
          </p:cNvSpPr>
          <p:nvPr>
            <p:ph type="body" idx="1"/>
          </p:nvPr>
        </p:nvSpPr>
        <p:spPr>
          <a:xfrm>
            <a:off x="0" y="838200"/>
            <a:ext cx="8868229" cy="1440543"/>
          </a:xfrm>
        </p:spPr>
        <p:txBody>
          <a:bodyPr/>
          <a:lstStyle/>
          <a:p>
            <a:pPr marL="0" indent="0">
              <a:buNone/>
            </a:pPr>
            <a:endParaRPr lang="en-CA" altLang="ja-JP" sz="2200" dirty="0">
              <a:ea typeface="ＭＳ Ｐゴシック" charset="-128"/>
              <a:sym typeface="Wingdings" panose="05000000000000000000" pitchFamily="2" charset="2"/>
            </a:endParaRPr>
          </a:p>
          <a:p>
            <a:pPr marL="0" indent="0">
              <a:buNone/>
            </a:pPr>
            <a:endParaRPr lang="en-CA" altLang="ja-JP" sz="2200" dirty="0">
              <a:ea typeface="ＭＳ Ｐゴシック" charset="-128"/>
              <a:sym typeface="Wingdings" panose="05000000000000000000" pitchFamily="2" charset="2"/>
            </a:endParaRPr>
          </a:p>
          <a:p>
            <a:pPr marL="0" indent="0">
              <a:buNone/>
            </a:pPr>
            <a:endParaRPr lang="en-CA" altLang="ja-JP" sz="2200" dirty="0">
              <a:ea typeface="ＭＳ Ｐゴシック" charset="-128"/>
              <a:sym typeface="Wingdings" panose="05000000000000000000" pitchFamily="2" charset="2"/>
            </a:endParaRPr>
          </a:p>
          <a:p>
            <a:pPr marL="0" indent="0">
              <a:buNone/>
            </a:pPr>
            <a:endParaRPr lang="en-CA" altLang="ja-JP" sz="2200" dirty="0">
              <a:ea typeface="ＭＳ Ｐゴシック" charset="-128"/>
              <a:sym typeface="Wingdings" panose="05000000000000000000" pitchFamily="2" charset="2"/>
            </a:endParaRPr>
          </a:p>
          <a:p>
            <a:pPr marL="0" indent="0">
              <a:buNone/>
            </a:pPr>
            <a:endParaRPr lang="en-CA" altLang="ja-JP" sz="2200" dirty="0">
              <a:ea typeface="ＭＳ Ｐゴシック" charset="-128"/>
              <a:sym typeface="Wingdings" panose="05000000000000000000" pitchFamily="2" charset="2"/>
            </a:endParaRPr>
          </a:p>
          <a:p>
            <a:pPr marL="0" indent="0">
              <a:buNone/>
            </a:pPr>
            <a:endParaRPr lang="en-US" altLang="da-DK" sz="2200" dirty="0"/>
          </a:p>
          <a:p>
            <a:pPr>
              <a:buFont typeface="Symbol" pitchFamily="18" charset="2"/>
              <a:buChar char=""/>
            </a:pPr>
            <a:endParaRPr lang="en-US" altLang="da-DK" sz="2200" dirty="0"/>
          </a:p>
        </p:txBody>
      </p:sp>
      <p:sp>
        <p:nvSpPr>
          <p:cNvPr id="6" name="Title 1"/>
          <p:cNvSpPr txBox="1">
            <a:spLocks/>
          </p:cNvSpPr>
          <p:nvPr/>
        </p:nvSpPr>
        <p:spPr bwMode="auto">
          <a:xfrm>
            <a:off x="0" y="0"/>
            <a:ext cx="9622971" cy="838200"/>
          </a:xfrm>
          <a:prstGeom prst="rect">
            <a:avLst/>
          </a:prstGeom>
          <a:noFill/>
          <a:ln w="9525" algn="ctr">
            <a:noFill/>
            <a:miter lim="800000"/>
            <a:headEnd/>
            <a:tailEnd/>
          </a:ln>
        </p:spPr>
        <p:txBody>
          <a:bodyPr vert="horz" wrap="square" lIns="82124" tIns="41061" rIns="82124" bIns="41061" numCol="1" anchor="b" anchorCtr="0" compatLnSpc="1">
            <a:prstTxWarp prst="textNoShape">
              <a:avLst/>
            </a:prstTxWarp>
          </a:bodyPr>
          <a:lstStyle>
            <a:lvl1pPr algn="l" defTabSz="814388" rtl="0" eaLnBrk="0" fontAlgn="base" hangingPunct="0">
              <a:lnSpc>
                <a:spcPct val="90000"/>
              </a:lnSpc>
              <a:spcBef>
                <a:spcPct val="0"/>
              </a:spcBef>
              <a:spcAft>
                <a:spcPct val="0"/>
              </a:spcAft>
              <a:defRPr sz="3200" b="1">
                <a:solidFill>
                  <a:srgbClr val="708CA1"/>
                </a:solidFill>
                <a:latin typeface="+mj-lt"/>
                <a:ea typeface="+mj-ea"/>
                <a:cs typeface="+mj-cs"/>
              </a:defRPr>
            </a:lvl1pPr>
            <a:lvl2pPr algn="l" defTabSz="814388" rtl="0" eaLnBrk="0" fontAlgn="base" hangingPunct="0">
              <a:lnSpc>
                <a:spcPct val="90000"/>
              </a:lnSpc>
              <a:spcBef>
                <a:spcPct val="0"/>
              </a:spcBef>
              <a:spcAft>
                <a:spcPct val="0"/>
              </a:spcAft>
              <a:defRPr sz="3200" b="1">
                <a:solidFill>
                  <a:srgbClr val="708CA1"/>
                </a:solidFill>
                <a:latin typeface="Arial" charset="0"/>
              </a:defRPr>
            </a:lvl2pPr>
            <a:lvl3pPr algn="l" defTabSz="814388" rtl="0" eaLnBrk="0" fontAlgn="base" hangingPunct="0">
              <a:lnSpc>
                <a:spcPct val="90000"/>
              </a:lnSpc>
              <a:spcBef>
                <a:spcPct val="0"/>
              </a:spcBef>
              <a:spcAft>
                <a:spcPct val="0"/>
              </a:spcAft>
              <a:defRPr sz="3200" b="1">
                <a:solidFill>
                  <a:srgbClr val="708CA1"/>
                </a:solidFill>
                <a:latin typeface="Arial" charset="0"/>
              </a:defRPr>
            </a:lvl3pPr>
            <a:lvl4pPr algn="l" defTabSz="814388" rtl="0" eaLnBrk="0" fontAlgn="base" hangingPunct="0">
              <a:lnSpc>
                <a:spcPct val="90000"/>
              </a:lnSpc>
              <a:spcBef>
                <a:spcPct val="0"/>
              </a:spcBef>
              <a:spcAft>
                <a:spcPct val="0"/>
              </a:spcAft>
              <a:defRPr sz="3200" b="1">
                <a:solidFill>
                  <a:srgbClr val="708CA1"/>
                </a:solidFill>
                <a:latin typeface="Arial" charset="0"/>
              </a:defRPr>
            </a:lvl4pPr>
            <a:lvl5pPr algn="l" defTabSz="814388" rtl="0" eaLnBrk="0" fontAlgn="base" hangingPunct="0">
              <a:lnSpc>
                <a:spcPct val="90000"/>
              </a:lnSpc>
              <a:spcBef>
                <a:spcPct val="0"/>
              </a:spcBef>
              <a:spcAft>
                <a:spcPct val="0"/>
              </a:spcAft>
              <a:defRPr sz="3200" b="1">
                <a:solidFill>
                  <a:srgbClr val="708CA1"/>
                </a:solidFill>
                <a:latin typeface="Arial" charset="0"/>
              </a:defRPr>
            </a:lvl5pPr>
            <a:lvl6pPr marL="457200" algn="l" defTabSz="814388" rtl="0" eaLnBrk="1" fontAlgn="base" hangingPunct="1">
              <a:lnSpc>
                <a:spcPct val="90000"/>
              </a:lnSpc>
              <a:spcBef>
                <a:spcPct val="0"/>
              </a:spcBef>
              <a:spcAft>
                <a:spcPct val="0"/>
              </a:spcAft>
              <a:defRPr sz="3200" b="1">
                <a:solidFill>
                  <a:srgbClr val="708CA1"/>
                </a:solidFill>
                <a:latin typeface="Arial" charset="0"/>
              </a:defRPr>
            </a:lvl6pPr>
            <a:lvl7pPr marL="914400" algn="l" defTabSz="814388" rtl="0" eaLnBrk="1" fontAlgn="base" hangingPunct="1">
              <a:lnSpc>
                <a:spcPct val="90000"/>
              </a:lnSpc>
              <a:spcBef>
                <a:spcPct val="0"/>
              </a:spcBef>
              <a:spcAft>
                <a:spcPct val="0"/>
              </a:spcAft>
              <a:defRPr sz="3200" b="1">
                <a:solidFill>
                  <a:srgbClr val="708CA1"/>
                </a:solidFill>
                <a:latin typeface="Arial" charset="0"/>
              </a:defRPr>
            </a:lvl7pPr>
            <a:lvl8pPr marL="1371600" algn="l" defTabSz="814388" rtl="0" eaLnBrk="1" fontAlgn="base" hangingPunct="1">
              <a:lnSpc>
                <a:spcPct val="90000"/>
              </a:lnSpc>
              <a:spcBef>
                <a:spcPct val="0"/>
              </a:spcBef>
              <a:spcAft>
                <a:spcPct val="0"/>
              </a:spcAft>
              <a:defRPr sz="3200" b="1">
                <a:solidFill>
                  <a:srgbClr val="708CA1"/>
                </a:solidFill>
                <a:latin typeface="Arial" charset="0"/>
              </a:defRPr>
            </a:lvl8pPr>
            <a:lvl9pPr marL="1828800" algn="l" defTabSz="814388" rtl="0" eaLnBrk="1" fontAlgn="base" hangingPunct="1">
              <a:lnSpc>
                <a:spcPct val="90000"/>
              </a:lnSpc>
              <a:spcBef>
                <a:spcPct val="0"/>
              </a:spcBef>
              <a:spcAft>
                <a:spcPct val="0"/>
              </a:spcAft>
              <a:defRPr sz="3200" b="1">
                <a:solidFill>
                  <a:srgbClr val="708CA1"/>
                </a:solidFill>
                <a:latin typeface="Arial" charset="0"/>
              </a:defRPr>
            </a:lvl9pPr>
          </a:lstStyle>
          <a:p>
            <a:br>
              <a:rPr lang="en-US" sz="2600" kern="0">
                <a:ea typeface="ＭＳ Ｐゴシック" pitchFamily="34" charset="-128"/>
              </a:rPr>
            </a:br>
            <a:r>
              <a:rPr lang="en-US" sz="2600" kern="0"/>
              <a:t>Hvorfor overhovedet WAN? Hvad er det i forhold til LAN?</a:t>
            </a:r>
            <a:endParaRPr lang="en-US" sz="2600" kern="0" dirty="0"/>
          </a:p>
        </p:txBody>
      </p:sp>
      <p:sp>
        <p:nvSpPr>
          <p:cNvPr id="10" name="Rectangle 3"/>
          <p:cNvSpPr txBox="1">
            <a:spLocks noChangeArrowheads="1"/>
          </p:cNvSpPr>
          <p:nvPr/>
        </p:nvSpPr>
        <p:spPr bwMode="auto">
          <a:xfrm>
            <a:off x="0" y="1500463"/>
            <a:ext cx="3570515" cy="3051629"/>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buFont typeface="Wingdings" pitchFamily="2" charset="2"/>
              <a:buNone/>
            </a:pPr>
            <a:r>
              <a:rPr lang="en-CA" altLang="ja-JP" sz="2200" kern="0" dirty="0">
                <a:ea typeface="ＭＳ Ｐゴシック" charset="-128"/>
              </a:rPr>
              <a:t>Vi </a:t>
            </a:r>
            <a:r>
              <a:rPr lang="en-CA" altLang="ja-JP" sz="2200" kern="0" dirty="0" err="1">
                <a:ea typeface="ＭＳ Ｐゴシック" charset="-128"/>
              </a:rPr>
              <a:t>skal</a:t>
            </a:r>
            <a:r>
              <a:rPr lang="en-CA" altLang="ja-JP" sz="2200" kern="0" dirty="0">
                <a:ea typeface="ＭＳ Ｐゴシック" charset="-128"/>
              </a:rPr>
              <a:t> </a:t>
            </a:r>
            <a:r>
              <a:rPr lang="en-CA" altLang="ja-JP" sz="2200" kern="0" dirty="0" err="1">
                <a:ea typeface="ＭＳ Ｐゴシック" charset="-128"/>
              </a:rPr>
              <a:t>binde</a:t>
            </a:r>
            <a:r>
              <a:rPr lang="en-CA" altLang="ja-JP" sz="2200" kern="0" dirty="0">
                <a:ea typeface="ＭＳ Ｐゴシック" charset="-128"/>
              </a:rPr>
              <a:t> </a:t>
            </a:r>
            <a:r>
              <a:rPr lang="en-CA" altLang="ja-JP" sz="2200" kern="0" dirty="0" err="1">
                <a:ea typeface="ＭＳ Ｐゴシック" charset="-128"/>
              </a:rPr>
              <a:t>forskellige</a:t>
            </a:r>
            <a:r>
              <a:rPr lang="en-CA" altLang="ja-JP" sz="2200" kern="0" dirty="0">
                <a:ea typeface="ＭＳ Ｐゴシック" charset="-128"/>
              </a:rPr>
              <a:t> </a:t>
            </a:r>
            <a:r>
              <a:rPr lang="en-CA" altLang="ja-JP" sz="2200" kern="0" dirty="0" err="1">
                <a:ea typeface="ＭＳ Ｐゴシック" charset="-128"/>
              </a:rPr>
              <a:t>afdelinger</a:t>
            </a:r>
            <a:r>
              <a:rPr lang="en-CA" altLang="ja-JP" sz="2200" kern="0" dirty="0">
                <a:ea typeface="ＭＳ Ｐゴシック" charset="-128"/>
              </a:rPr>
              <a:t> </a:t>
            </a:r>
            <a:r>
              <a:rPr lang="en-CA" altLang="ja-JP" sz="2200" kern="0" dirty="0" err="1">
                <a:ea typeface="ＭＳ Ｐゴシック" charset="-128"/>
              </a:rPr>
              <a:t>og</a:t>
            </a:r>
            <a:r>
              <a:rPr lang="en-CA" altLang="ja-JP" sz="2200" kern="0" dirty="0">
                <a:ea typeface="ＭＳ Ｐゴシック" charset="-128"/>
              </a:rPr>
              <a:t> </a:t>
            </a:r>
            <a:r>
              <a:rPr lang="en-CA" altLang="ja-JP" sz="2200" kern="0" dirty="0" err="1">
                <a:ea typeface="ＭＳ Ｐゴシック" charset="-128"/>
              </a:rPr>
              <a:t>hjemmearbejdspladser</a:t>
            </a:r>
            <a:r>
              <a:rPr lang="en-CA" altLang="ja-JP" sz="2200" kern="0" dirty="0">
                <a:ea typeface="ＭＳ Ｐゴシック" charset="-128"/>
              </a:rPr>
              <a:t> </a:t>
            </a:r>
            <a:r>
              <a:rPr lang="en-CA" altLang="ja-JP" sz="2200" kern="0" dirty="0" err="1">
                <a:ea typeface="ＭＳ Ｐゴシック" charset="-128"/>
              </a:rPr>
              <a:t>sammen</a:t>
            </a:r>
            <a:r>
              <a:rPr lang="en-CA" altLang="ja-JP" sz="2200" kern="0" dirty="0">
                <a:ea typeface="ＭＳ Ｐゴシック" charset="-128"/>
              </a:rPr>
              <a:t> med </a:t>
            </a:r>
            <a:r>
              <a:rPr lang="en-CA" altLang="ja-JP" sz="2200" kern="0" dirty="0" err="1">
                <a:ea typeface="ＭＳ Ｐゴシック" charset="-128"/>
              </a:rPr>
              <a:t>hovedkvarteret</a:t>
            </a:r>
            <a:r>
              <a:rPr lang="en-CA" altLang="ja-JP" sz="2200" kern="0" dirty="0">
                <a:ea typeface="ＭＳ Ｐゴシック" charset="-128"/>
              </a:rPr>
              <a:t>. </a:t>
            </a:r>
            <a:r>
              <a:rPr lang="en-CA" altLang="ja-JP" sz="2200" kern="0" dirty="0" err="1">
                <a:ea typeface="ＭＳ Ｐゴシック" charset="-128"/>
              </a:rPr>
              <a:t>Og</a:t>
            </a:r>
            <a:r>
              <a:rPr lang="en-CA" altLang="ja-JP" sz="2200" kern="0" dirty="0">
                <a:ea typeface="ＭＳ Ｐゴシック" charset="-128"/>
              </a:rPr>
              <a:t> </a:t>
            </a:r>
            <a:r>
              <a:rPr lang="en-CA" altLang="ja-JP" sz="2200" kern="0" dirty="0" err="1">
                <a:ea typeface="ＭＳ Ｐゴシック" charset="-128"/>
              </a:rPr>
              <a:t>alle</a:t>
            </a:r>
            <a:r>
              <a:rPr lang="en-CA" altLang="ja-JP" sz="2200" kern="0" dirty="0">
                <a:ea typeface="ＭＳ Ｐゴシック" charset="-128"/>
              </a:rPr>
              <a:t> </a:t>
            </a:r>
            <a:r>
              <a:rPr lang="en-CA" altLang="ja-JP" sz="2200" kern="0" dirty="0" err="1">
                <a:ea typeface="ＭＳ Ｐゴシック" charset="-128"/>
              </a:rPr>
              <a:t>applikationer</a:t>
            </a:r>
            <a:r>
              <a:rPr lang="en-CA" altLang="ja-JP" sz="2200" kern="0" dirty="0">
                <a:ea typeface="ＭＳ Ｐゴシック" charset="-128"/>
              </a:rPr>
              <a:t> </a:t>
            </a:r>
            <a:r>
              <a:rPr lang="en-CA" altLang="ja-JP" sz="2200" kern="0" dirty="0" err="1">
                <a:ea typeface="ＭＳ Ｐゴシック" charset="-128"/>
              </a:rPr>
              <a:t>skal</a:t>
            </a:r>
            <a:r>
              <a:rPr lang="en-CA" altLang="ja-JP" sz="2200" kern="0" dirty="0">
                <a:ea typeface="ＭＳ Ｐゴシック" charset="-128"/>
              </a:rPr>
              <a:t> </a:t>
            </a:r>
            <a:r>
              <a:rPr lang="en-CA" altLang="ja-JP" sz="2200" kern="0" dirty="0" err="1">
                <a:ea typeface="ＭＳ Ｐゴシック" charset="-128"/>
              </a:rPr>
              <a:t>selvfølgelig</a:t>
            </a:r>
            <a:r>
              <a:rPr lang="en-CA" altLang="ja-JP" sz="2200" kern="0" dirty="0">
                <a:ea typeface="ＭＳ Ｐゴシック" charset="-128"/>
              </a:rPr>
              <a:t> </a:t>
            </a:r>
            <a:r>
              <a:rPr lang="en-CA" altLang="ja-JP" sz="2200" kern="0" dirty="0" err="1">
                <a:ea typeface="ＭＳ Ｐゴシック" charset="-128"/>
              </a:rPr>
              <a:t>fungere</a:t>
            </a:r>
            <a:r>
              <a:rPr lang="en-CA" altLang="ja-JP" sz="2200" kern="0" dirty="0">
                <a:ea typeface="ＭＳ Ｐゴシック" charset="-128"/>
              </a:rPr>
              <a:t>!</a:t>
            </a:r>
          </a:p>
          <a:p>
            <a:pPr marL="0" indent="0">
              <a:buFont typeface="Wingdings" pitchFamily="2" charset="2"/>
              <a:buNone/>
            </a:pPr>
            <a:endParaRPr lang="en-CA" altLang="ja-JP" sz="2200" kern="0" dirty="0">
              <a:ea typeface="ＭＳ Ｐゴシック" charset="-128"/>
            </a:endParaRPr>
          </a:p>
          <a:p>
            <a:pPr marL="0" indent="0">
              <a:buFont typeface="Wingdings" pitchFamily="2" charset="2"/>
              <a:buNone/>
            </a:pPr>
            <a:r>
              <a:rPr lang="en-CA" altLang="ja-JP" sz="2200" kern="0" dirty="0" err="1">
                <a:ea typeface="ＭＳ Ｐゴシック" charset="-128"/>
              </a:rPr>
              <a:t>Det</a:t>
            </a:r>
            <a:r>
              <a:rPr lang="en-CA" altLang="ja-JP" sz="2200" kern="0" dirty="0">
                <a:ea typeface="ＭＳ Ｐゴシック" charset="-128"/>
              </a:rPr>
              <a:t> stiller </a:t>
            </a:r>
            <a:r>
              <a:rPr lang="en-CA" altLang="ja-JP" sz="2200" kern="0" dirty="0" err="1">
                <a:ea typeface="ＭＳ Ｐゴシック" charset="-128"/>
              </a:rPr>
              <a:t>krav</a:t>
            </a:r>
            <a:r>
              <a:rPr lang="en-CA" altLang="ja-JP" sz="2200" kern="0" dirty="0">
                <a:ea typeface="ＭＳ Ｐゴシック" charset="-128"/>
              </a:rPr>
              <a:t> </a:t>
            </a:r>
            <a:r>
              <a:rPr lang="en-CA" altLang="ja-JP" sz="2200" kern="0" dirty="0" err="1">
                <a:ea typeface="ＭＳ Ｐゴシック" charset="-128"/>
              </a:rPr>
              <a:t>til</a:t>
            </a:r>
            <a:r>
              <a:rPr lang="en-CA" altLang="ja-JP" sz="2200" kern="0" dirty="0">
                <a:ea typeface="ＭＳ Ｐゴシック" charset="-128"/>
              </a:rPr>
              <a:t> </a:t>
            </a:r>
            <a:r>
              <a:rPr lang="en-CA" altLang="ja-JP" sz="2200" kern="0" dirty="0" err="1">
                <a:ea typeface="ＭＳ Ｐゴシック" charset="-128"/>
              </a:rPr>
              <a:t>vores</a:t>
            </a:r>
            <a:r>
              <a:rPr lang="en-CA" altLang="ja-JP" sz="2200" kern="0" dirty="0">
                <a:ea typeface="ＭＳ Ｐゴシック" charset="-128"/>
              </a:rPr>
              <a:t> WAN links </a:t>
            </a:r>
            <a:r>
              <a:rPr lang="en-CA" altLang="ja-JP" sz="2200" kern="0" dirty="0">
                <a:ea typeface="ＭＳ Ｐゴシック" charset="-128"/>
                <a:sym typeface="Wingdings" panose="05000000000000000000" pitchFamily="2" charset="2"/>
              </a:rPr>
              <a:t></a:t>
            </a:r>
          </a:p>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US" altLang="da-DK" sz="2200" kern="0" dirty="0"/>
          </a:p>
          <a:p>
            <a:pPr>
              <a:buFont typeface="Symbol" pitchFamily="18" charset="2"/>
              <a:buChar char=""/>
            </a:pPr>
            <a:endParaRPr lang="en-US" altLang="da-DK" sz="2200" kern="0" dirty="0"/>
          </a:p>
        </p:txBody>
      </p:sp>
      <p:sp>
        <p:nvSpPr>
          <p:cNvPr id="11" name="Rectangle 3"/>
          <p:cNvSpPr txBox="1">
            <a:spLocks noChangeArrowheads="1"/>
          </p:cNvSpPr>
          <p:nvPr/>
        </p:nvSpPr>
        <p:spPr bwMode="auto">
          <a:xfrm>
            <a:off x="-2" y="6136369"/>
            <a:ext cx="9144001" cy="859517"/>
          </a:xfrm>
          <a:prstGeom prst="rect">
            <a:avLst/>
          </a:prstGeom>
          <a:noFill/>
          <a:ln w="9525" algn="ctr">
            <a:noFill/>
            <a:miter lim="800000"/>
            <a:headEnd/>
            <a:tailEnd/>
          </a:ln>
        </p:spPr>
        <p:txBody>
          <a:bodyPr vert="horz" wrap="square" lIns="82124" tIns="41061" rIns="82124" bIns="41061" numCol="1" anchor="t" anchorCtr="0" compatLnSpc="1">
            <a:prstTxWarp prst="textNoShape">
              <a:avLst/>
            </a:prstTxWarp>
          </a:bodyPr>
          <a:lstStyle>
            <a:lvl1pPr marL="236538" indent="-236538" algn="l" defTabSz="814388" rtl="0" eaLnBrk="0" fontAlgn="base" hangingPunct="0">
              <a:lnSpc>
                <a:spcPct val="95000"/>
              </a:lnSpc>
              <a:spcBef>
                <a:spcPct val="50000"/>
              </a:spcBef>
              <a:spcAft>
                <a:spcPct val="0"/>
              </a:spcAft>
              <a:buClr>
                <a:srgbClr val="708CA1"/>
              </a:buClr>
              <a:buFont typeface="Wingdings" pitchFamily="2" charset="2"/>
              <a:buChar char="§"/>
              <a:defRPr sz="2400">
                <a:solidFill>
                  <a:schemeClr val="tx1"/>
                </a:solidFill>
                <a:latin typeface="+mn-lt"/>
                <a:ea typeface="+mn-ea"/>
                <a:cs typeface="+mn-cs"/>
              </a:defRPr>
            </a:lvl1pPr>
            <a:lvl2pPr marL="57467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2pPr>
            <a:lvl3pPr marL="914400" algn="l" defTabSz="814388" rtl="0" eaLnBrk="0" fontAlgn="base" hangingPunct="0">
              <a:lnSpc>
                <a:spcPct val="95000"/>
              </a:lnSpc>
              <a:spcBef>
                <a:spcPct val="35000"/>
              </a:spcBef>
              <a:spcAft>
                <a:spcPct val="0"/>
              </a:spcAft>
              <a:buClr>
                <a:srgbClr val="708CA1"/>
              </a:buClr>
              <a:defRPr sz="2000">
                <a:solidFill>
                  <a:schemeClr val="tx1"/>
                </a:solidFill>
                <a:latin typeface="+mn-lt"/>
              </a:defRPr>
            </a:lvl3pPr>
            <a:lvl4pPr marL="1254125" indent="117475" algn="l" defTabSz="814388" rtl="0" eaLnBrk="0" fontAlgn="base" hangingPunct="0">
              <a:lnSpc>
                <a:spcPct val="95000"/>
              </a:lnSpc>
              <a:spcBef>
                <a:spcPct val="35000"/>
              </a:spcBef>
              <a:spcAft>
                <a:spcPct val="0"/>
              </a:spcAft>
              <a:buClr>
                <a:srgbClr val="708CA1"/>
              </a:buClr>
              <a:defRPr sz="2000">
                <a:solidFill>
                  <a:schemeClr val="tx1"/>
                </a:solidFill>
                <a:latin typeface="+mn-lt"/>
              </a:defRPr>
            </a:lvl4pPr>
            <a:lvl5pPr marL="1604963" indent="223838" algn="l" defTabSz="814388" rtl="0" eaLnBrk="0" fontAlgn="base" hangingPunct="0">
              <a:lnSpc>
                <a:spcPct val="95000"/>
              </a:lnSpc>
              <a:spcBef>
                <a:spcPct val="35000"/>
              </a:spcBef>
              <a:spcAft>
                <a:spcPct val="0"/>
              </a:spcAft>
              <a:buClr>
                <a:srgbClr val="708CA1"/>
              </a:buClr>
              <a:defRPr sz="2000">
                <a:solidFill>
                  <a:schemeClr val="tx1"/>
                </a:solidFill>
                <a:latin typeface="+mn-lt"/>
              </a:defRPr>
            </a:lvl5pPr>
            <a:lvl6pPr marL="2062163" algn="l" defTabSz="814388" rtl="0" eaLnBrk="1" fontAlgn="base" hangingPunct="1">
              <a:lnSpc>
                <a:spcPct val="95000"/>
              </a:lnSpc>
              <a:spcBef>
                <a:spcPct val="35000"/>
              </a:spcBef>
              <a:spcAft>
                <a:spcPct val="0"/>
              </a:spcAft>
              <a:buClr>
                <a:srgbClr val="708CA1"/>
              </a:buClr>
              <a:defRPr sz="2000">
                <a:solidFill>
                  <a:schemeClr val="tx1"/>
                </a:solidFill>
                <a:latin typeface="+mn-lt"/>
              </a:defRPr>
            </a:lvl6pPr>
            <a:lvl7pPr marL="2519363" algn="l" defTabSz="814388" rtl="0" eaLnBrk="1" fontAlgn="base" hangingPunct="1">
              <a:lnSpc>
                <a:spcPct val="95000"/>
              </a:lnSpc>
              <a:spcBef>
                <a:spcPct val="35000"/>
              </a:spcBef>
              <a:spcAft>
                <a:spcPct val="0"/>
              </a:spcAft>
              <a:buClr>
                <a:srgbClr val="708CA1"/>
              </a:buClr>
              <a:defRPr sz="2000">
                <a:solidFill>
                  <a:schemeClr val="tx1"/>
                </a:solidFill>
                <a:latin typeface="+mn-lt"/>
              </a:defRPr>
            </a:lvl7pPr>
            <a:lvl8pPr marL="2976563" algn="l" defTabSz="814388" rtl="0" eaLnBrk="1" fontAlgn="base" hangingPunct="1">
              <a:lnSpc>
                <a:spcPct val="95000"/>
              </a:lnSpc>
              <a:spcBef>
                <a:spcPct val="35000"/>
              </a:spcBef>
              <a:spcAft>
                <a:spcPct val="0"/>
              </a:spcAft>
              <a:buClr>
                <a:srgbClr val="708CA1"/>
              </a:buClr>
              <a:defRPr sz="2000">
                <a:solidFill>
                  <a:schemeClr val="tx1"/>
                </a:solidFill>
                <a:latin typeface="+mn-lt"/>
              </a:defRPr>
            </a:lvl8pPr>
            <a:lvl9pPr marL="3433763" algn="l" defTabSz="814388" rtl="0" eaLnBrk="1" fontAlgn="base" hangingPunct="1">
              <a:lnSpc>
                <a:spcPct val="95000"/>
              </a:lnSpc>
              <a:spcBef>
                <a:spcPct val="35000"/>
              </a:spcBef>
              <a:spcAft>
                <a:spcPct val="0"/>
              </a:spcAft>
              <a:buClr>
                <a:srgbClr val="708CA1"/>
              </a:buClr>
              <a:defRPr sz="2000">
                <a:solidFill>
                  <a:schemeClr val="tx1"/>
                </a:solidFill>
                <a:latin typeface="+mn-lt"/>
              </a:defRPr>
            </a:lvl9pPr>
          </a:lstStyle>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CA" altLang="ja-JP" sz="2200" kern="0" dirty="0">
              <a:ea typeface="ＭＳ Ｐゴシック" charset="-128"/>
              <a:sym typeface="Wingdings" panose="05000000000000000000" pitchFamily="2" charset="2"/>
            </a:endParaRPr>
          </a:p>
          <a:p>
            <a:pPr marL="0" indent="0">
              <a:buFont typeface="Wingdings" pitchFamily="2" charset="2"/>
              <a:buNone/>
            </a:pPr>
            <a:endParaRPr lang="en-US" altLang="da-DK" sz="2200" kern="0" dirty="0"/>
          </a:p>
          <a:p>
            <a:pPr>
              <a:buFont typeface="Symbol" pitchFamily="18" charset="2"/>
              <a:buChar char=""/>
            </a:pPr>
            <a:endParaRPr lang="en-US" altLang="da-DK" sz="2200" kern="0" dirty="0"/>
          </a:p>
        </p:txBody>
      </p:sp>
    </p:spTree>
    <p:extLst>
      <p:ext uri="{BB962C8B-B14F-4D97-AF65-F5344CB8AC3E}">
        <p14:creationId xmlns:p14="http://schemas.microsoft.com/office/powerpoint/2010/main" val="2540253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92782"/>
            <a:ext cx="8853714" cy="6585921"/>
          </a:xfrm>
          <a:prstGeom prst="rect">
            <a:avLst/>
          </a:prstGeom>
          <a:noFill/>
          <a:ln w="9525">
            <a:solidFill>
              <a:schemeClr val="tx1"/>
            </a:solidFill>
            <a:bevel/>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3682774" y="394382"/>
            <a:ext cx="5461226" cy="424316"/>
          </a:xfrm>
        </p:spPr>
        <p:txBody>
          <a:bodyPr/>
          <a:lstStyle/>
          <a:p>
            <a:br>
              <a:rPr lang="en-US" dirty="0">
                <a:ea typeface="ＭＳ Ｐゴシック" pitchFamily="34" charset="-128"/>
              </a:rPr>
            </a:br>
            <a:r>
              <a:rPr lang="en-US" dirty="0"/>
              <a:t>WANs in the OSI Model</a:t>
            </a:r>
          </a:p>
        </p:txBody>
      </p:sp>
      <p:sp>
        <p:nvSpPr>
          <p:cNvPr id="3" name="TextBox 2"/>
          <p:cNvSpPr txBox="1"/>
          <p:nvPr/>
        </p:nvSpPr>
        <p:spPr>
          <a:xfrm>
            <a:off x="3667585" y="2225679"/>
            <a:ext cx="4823272" cy="1754326"/>
          </a:xfrm>
          <a:prstGeom prst="rect">
            <a:avLst/>
          </a:prstGeom>
          <a:noFill/>
        </p:spPr>
        <p:txBody>
          <a:bodyPr wrap="square" rtlCol="0">
            <a:spAutoFit/>
          </a:bodyPr>
          <a:lstStyle/>
          <a:p>
            <a:pPr algn="l"/>
            <a:r>
              <a:rPr lang="en-US" sz="2000" dirty="0">
                <a:solidFill>
                  <a:srgbClr val="FF00FF"/>
                </a:solidFill>
              </a:rPr>
              <a:t>WAN </a:t>
            </a:r>
            <a:r>
              <a:rPr lang="en-US" sz="2000" dirty="0" err="1">
                <a:solidFill>
                  <a:srgbClr val="FF00FF"/>
                </a:solidFill>
              </a:rPr>
              <a:t>standarder</a:t>
            </a:r>
            <a:r>
              <a:rPr lang="en-US" sz="2000" dirty="0">
                <a:solidFill>
                  <a:srgbClr val="FF00FF"/>
                </a:solidFill>
              </a:rPr>
              <a:t> finder man </a:t>
            </a:r>
            <a:r>
              <a:rPr lang="en-US" sz="2000" dirty="0" err="1">
                <a:solidFill>
                  <a:srgbClr val="FF00FF"/>
                </a:solidFill>
              </a:rPr>
              <a:t>typisk</a:t>
            </a:r>
            <a:r>
              <a:rPr lang="en-US" sz="2000" dirty="0">
                <a:solidFill>
                  <a:srgbClr val="FF00FF"/>
                </a:solidFill>
              </a:rPr>
              <a:t> </a:t>
            </a:r>
            <a:r>
              <a:rPr lang="en-US" sz="2000" dirty="0" err="1">
                <a:solidFill>
                  <a:srgbClr val="FF00FF"/>
                </a:solidFill>
              </a:rPr>
              <a:t>på</a:t>
            </a:r>
            <a:r>
              <a:rPr lang="en-US" sz="2000" dirty="0">
                <a:solidFill>
                  <a:srgbClr val="FF00FF"/>
                </a:solidFill>
              </a:rPr>
              <a:t> OSI lag 2: </a:t>
            </a:r>
            <a:r>
              <a:rPr lang="en-US" sz="2000" dirty="0" err="1">
                <a:solidFill>
                  <a:srgbClr val="FF00FF"/>
                </a:solidFill>
              </a:rPr>
              <a:t>adressering</a:t>
            </a:r>
            <a:r>
              <a:rPr lang="en-US" sz="2000" dirty="0">
                <a:solidFill>
                  <a:srgbClr val="FF00FF"/>
                </a:solidFill>
              </a:rPr>
              <a:t> </a:t>
            </a:r>
            <a:r>
              <a:rPr lang="en-US" sz="2000" dirty="0" err="1">
                <a:solidFill>
                  <a:srgbClr val="FF00FF"/>
                </a:solidFill>
              </a:rPr>
              <a:t>og</a:t>
            </a:r>
            <a:r>
              <a:rPr lang="en-US" sz="2000" dirty="0">
                <a:solidFill>
                  <a:srgbClr val="FF00FF"/>
                </a:solidFill>
              </a:rPr>
              <a:t> encapsulation.</a:t>
            </a:r>
          </a:p>
          <a:p>
            <a:pPr algn="l"/>
            <a:endParaRPr lang="en-US" sz="2000" dirty="0">
              <a:solidFill>
                <a:srgbClr val="FF00FF"/>
              </a:solidFill>
            </a:endParaRPr>
          </a:p>
          <a:p>
            <a:pPr algn="l"/>
            <a:r>
              <a:rPr lang="en-US" sz="2000" dirty="0">
                <a:solidFill>
                  <a:srgbClr val="FF00FF"/>
                </a:solidFill>
              </a:rPr>
              <a:t>De </a:t>
            </a:r>
            <a:r>
              <a:rPr lang="en-US" sz="2000" dirty="0" err="1">
                <a:solidFill>
                  <a:srgbClr val="FF00FF"/>
                </a:solidFill>
              </a:rPr>
              <a:t>elektriske</a:t>
            </a:r>
            <a:r>
              <a:rPr lang="en-US" sz="2000" dirty="0">
                <a:solidFill>
                  <a:srgbClr val="FF00FF"/>
                </a:solidFill>
              </a:rPr>
              <a:t> </a:t>
            </a:r>
            <a:r>
              <a:rPr lang="en-US" sz="2000" dirty="0" err="1">
                <a:solidFill>
                  <a:srgbClr val="FF00FF"/>
                </a:solidFill>
              </a:rPr>
              <a:t>og</a:t>
            </a:r>
            <a:r>
              <a:rPr lang="en-US" sz="2000" dirty="0">
                <a:solidFill>
                  <a:srgbClr val="FF00FF"/>
                </a:solidFill>
              </a:rPr>
              <a:t> </a:t>
            </a:r>
            <a:r>
              <a:rPr lang="en-US" sz="2000" dirty="0" err="1">
                <a:solidFill>
                  <a:srgbClr val="FF00FF"/>
                </a:solidFill>
              </a:rPr>
              <a:t>mekaniske</a:t>
            </a:r>
            <a:r>
              <a:rPr lang="en-US" sz="2000" dirty="0">
                <a:solidFill>
                  <a:srgbClr val="FF00FF"/>
                </a:solidFill>
              </a:rPr>
              <a:t>  </a:t>
            </a:r>
            <a:r>
              <a:rPr lang="en-US" sz="2000" dirty="0" err="1">
                <a:solidFill>
                  <a:srgbClr val="FF00FF"/>
                </a:solidFill>
              </a:rPr>
              <a:t>specifikationer</a:t>
            </a:r>
            <a:r>
              <a:rPr lang="en-US" sz="2000" dirty="0">
                <a:solidFill>
                  <a:srgbClr val="FF00FF"/>
                </a:solidFill>
              </a:rPr>
              <a:t>  </a:t>
            </a:r>
            <a:r>
              <a:rPr lang="en-US" sz="2000" dirty="0" err="1">
                <a:solidFill>
                  <a:srgbClr val="FF00FF"/>
                </a:solidFill>
              </a:rPr>
              <a:t>beskrives</a:t>
            </a:r>
            <a:r>
              <a:rPr lang="en-US" sz="2000" dirty="0">
                <a:solidFill>
                  <a:srgbClr val="FF00FF"/>
                </a:solidFill>
              </a:rPr>
              <a:t> </a:t>
            </a:r>
            <a:r>
              <a:rPr lang="en-US" sz="2000" dirty="0" err="1">
                <a:solidFill>
                  <a:srgbClr val="FF00FF"/>
                </a:solidFill>
              </a:rPr>
              <a:t>på</a:t>
            </a:r>
            <a:r>
              <a:rPr lang="en-US" sz="2000" dirty="0">
                <a:solidFill>
                  <a:srgbClr val="FF00FF"/>
                </a:solidFill>
              </a:rPr>
              <a:t> lag 1 </a:t>
            </a:r>
          </a:p>
          <a:p>
            <a:pPr algn="l"/>
            <a:endParaRPr lang="en-US" sz="2000" dirty="0"/>
          </a:p>
        </p:txBody>
      </p:sp>
    </p:spTree>
    <p:extLst>
      <p:ext uri="{BB962C8B-B14F-4D97-AF65-F5344CB8AC3E}">
        <p14:creationId xmlns:p14="http://schemas.microsoft.com/office/powerpoint/2010/main" val="3474240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269" y="285353"/>
            <a:ext cx="8145462" cy="540430"/>
          </a:xfrm>
        </p:spPr>
        <p:txBody>
          <a:bodyPr/>
          <a:lstStyle/>
          <a:p>
            <a:br>
              <a:rPr lang="en-US" dirty="0">
                <a:ea typeface="ＭＳ Ｐゴシック" pitchFamily="34" charset="-128"/>
              </a:rPr>
            </a:br>
            <a:r>
              <a:rPr lang="en-US"/>
              <a:t>Circuit Switching  …… vigtigt at forstå!</a:t>
            </a:r>
            <a:endParaRPr lang="en-US" dirty="0"/>
          </a:p>
        </p:txBody>
      </p:sp>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9696" y="3248710"/>
            <a:ext cx="6244607" cy="3816149"/>
          </a:xfrm>
          <a:prstGeom prst="rect">
            <a:avLst/>
          </a:prstGeom>
          <a:noFill/>
          <a:ln w="9525">
            <a:noFill/>
            <a:bevel/>
            <a:headEnd/>
            <a:tailEnd/>
          </a:ln>
          <a:extLst>
            <a:ext uri="{909E8E84-426E-40DD-AFC4-6F175D3DCCD1}">
              <a14:hiddenFill xmlns:a14="http://schemas.microsoft.com/office/drawing/2010/main">
                <a:solidFill>
                  <a:schemeClr val="accent1"/>
                </a:solidFill>
              </a14:hiddenFill>
            </a:ext>
          </a:extLst>
        </p:spPr>
      </p:pic>
      <p:sp>
        <p:nvSpPr>
          <p:cNvPr id="3" name="Rectangle 2"/>
          <p:cNvSpPr/>
          <p:nvPr/>
        </p:nvSpPr>
        <p:spPr>
          <a:xfrm>
            <a:off x="0" y="1952455"/>
            <a:ext cx="9144000" cy="1477328"/>
          </a:xfrm>
          <a:prstGeom prst="rect">
            <a:avLst/>
          </a:prstGeom>
        </p:spPr>
        <p:txBody>
          <a:bodyPr wrap="square">
            <a:spAutoFit/>
          </a:bodyPr>
          <a:lstStyle/>
          <a:p>
            <a:pPr algn="l"/>
            <a:r>
              <a:rPr lang="en-US" sz="2000" dirty="0">
                <a:solidFill>
                  <a:srgbClr val="FF00FF"/>
                </a:solidFill>
              </a:rPr>
              <a:t>Circuit-switching </a:t>
            </a:r>
            <a:r>
              <a:rPr lang="en-US" sz="2000" dirty="0"/>
              <a:t>= “ring op” </a:t>
            </a:r>
            <a:r>
              <a:rPr lang="en-US" sz="2000" dirty="0" err="1"/>
              <a:t>og</a:t>
            </a:r>
            <a:r>
              <a:rPr lang="en-US" sz="2000" dirty="0"/>
              <a:t> hold </a:t>
            </a:r>
            <a:r>
              <a:rPr lang="en-US" sz="2000" dirty="0" err="1"/>
              <a:t>forbindelsen</a:t>
            </a:r>
            <a:r>
              <a:rPr lang="en-US" sz="2000" dirty="0"/>
              <a:t> </a:t>
            </a:r>
            <a:r>
              <a:rPr lang="en-US" sz="2000" dirty="0" err="1"/>
              <a:t>så</a:t>
            </a:r>
            <a:r>
              <a:rPr lang="en-US" sz="2000" dirty="0"/>
              <a:t> </a:t>
            </a:r>
            <a:r>
              <a:rPr lang="en-US" sz="2000" dirty="0" err="1"/>
              <a:t>længe</a:t>
            </a:r>
            <a:r>
              <a:rPr lang="en-US" sz="2000" dirty="0"/>
              <a:t> </a:t>
            </a:r>
            <a:r>
              <a:rPr lang="en-US" sz="2000" dirty="0" err="1"/>
              <a:t>sessionen</a:t>
            </a:r>
            <a:r>
              <a:rPr lang="en-US" sz="2000" dirty="0"/>
              <a:t> sender </a:t>
            </a:r>
            <a:r>
              <a:rPr lang="en-US" sz="2000" dirty="0" err="1"/>
              <a:t>pakker</a:t>
            </a:r>
            <a:r>
              <a:rPr lang="en-US" sz="2000" dirty="0"/>
              <a:t>. </a:t>
            </a:r>
            <a:r>
              <a:rPr lang="en-US" sz="2000" dirty="0" err="1">
                <a:solidFill>
                  <a:srgbClr val="00B0F0"/>
                </a:solidFill>
              </a:rPr>
              <a:t>Alle</a:t>
            </a:r>
            <a:r>
              <a:rPr lang="en-US" sz="2000" dirty="0">
                <a:solidFill>
                  <a:srgbClr val="00B0F0"/>
                </a:solidFill>
              </a:rPr>
              <a:t> </a:t>
            </a:r>
            <a:r>
              <a:rPr lang="en-US" sz="2000" dirty="0" err="1">
                <a:solidFill>
                  <a:srgbClr val="00B0F0"/>
                </a:solidFill>
              </a:rPr>
              <a:t>pakker</a:t>
            </a:r>
            <a:r>
              <a:rPr lang="en-US" sz="2000" dirty="0">
                <a:solidFill>
                  <a:srgbClr val="00B0F0"/>
                </a:solidFill>
              </a:rPr>
              <a:t> </a:t>
            </a:r>
            <a:r>
              <a:rPr lang="en-US" sz="2000" dirty="0" err="1">
                <a:solidFill>
                  <a:srgbClr val="00B0F0"/>
                </a:solidFill>
              </a:rPr>
              <a:t>rejser</a:t>
            </a:r>
            <a:r>
              <a:rPr lang="en-US" sz="2000" dirty="0">
                <a:solidFill>
                  <a:srgbClr val="00B0F0"/>
                </a:solidFill>
              </a:rPr>
              <a:t> </a:t>
            </a:r>
            <a:r>
              <a:rPr lang="en-US" sz="2000" dirty="0" err="1">
                <a:solidFill>
                  <a:srgbClr val="00B0F0"/>
                </a:solidFill>
              </a:rPr>
              <a:t>samme</a:t>
            </a:r>
            <a:r>
              <a:rPr lang="en-US" sz="2000" dirty="0">
                <a:solidFill>
                  <a:srgbClr val="00B0F0"/>
                </a:solidFill>
              </a:rPr>
              <a:t> </a:t>
            </a:r>
            <a:r>
              <a:rPr lang="en-US" sz="2000" dirty="0" err="1">
                <a:solidFill>
                  <a:srgbClr val="00B0F0"/>
                </a:solidFill>
              </a:rPr>
              <a:t>vej</a:t>
            </a:r>
            <a:r>
              <a:rPr lang="en-US" sz="2000" dirty="0">
                <a:solidFill>
                  <a:srgbClr val="00B0F0"/>
                </a:solidFill>
              </a:rPr>
              <a:t>. </a:t>
            </a:r>
          </a:p>
          <a:p>
            <a:pPr algn="l"/>
            <a:endParaRPr lang="en-US" sz="2000" dirty="0"/>
          </a:p>
          <a:p>
            <a:pPr algn="l"/>
            <a:r>
              <a:rPr lang="en-US" sz="2000" dirty="0"/>
              <a:t>Den </a:t>
            </a:r>
            <a:r>
              <a:rPr lang="en-US" sz="2000" dirty="0" err="1"/>
              <a:t>mest</a:t>
            </a:r>
            <a:r>
              <a:rPr lang="en-US" sz="2000" dirty="0"/>
              <a:t> </a:t>
            </a:r>
            <a:r>
              <a:rPr lang="en-US" sz="2000" dirty="0" err="1"/>
              <a:t>kendte</a:t>
            </a:r>
            <a:r>
              <a:rPr lang="en-US" sz="2000" dirty="0"/>
              <a:t> WAN </a:t>
            </a:r>
            <a:r>
              <a:rPr lang="en-US" sz="2000" dirty="0" err="1"/>
              <a:t>teknologi</a:t>
            </a:r>
            <a:r>
              <a:rPr lang="en-US" sz="2000" dirty="0"/>
              <a:t>  </a:t>
            </a:r>
            <a:r>
              <a:rPr lang="en-US" sz="2000" dirty="0" err="1"/>
              <a:t>som</a:t>
            </a:r>
            <a:r>
              <a:rPr lang="en-US" sz="2000" dirty="0"/>
              <a:t> </a:t>
            </a:r>
            <a:r>
              <a:rPr lang="en-US" sz="2000" dirty="0" err="1"/>
              <a:t>benytter</a:t>
            </a:r>
            <a:r>
              <a:rPr lang="en-US" sz="2000" dirty="0"/>
              <a:t> circuit-switching </a:t>
            </a:r>
            <a:r>
              <a:rPr lang="en-US" sz="2000" dirty="0" err="1"/>
              <a:t>er</a:t>
            </a:r>
            <a:r>
              <a:rPr lang="en-US" sz="2000" dirty="0"/>
              <a:t> </a:t>
            </a:r>
            <a:r>
              <a:rPr lang="en-US" sz="2000" dirty="0" err="1"/>
              <a:t>gammeldags</a:t>
            </a:r>
            <a:r>
              <a:rPr lang="en-US" sz="2000" dirty="0"/>
              <a:t> analog </a:t>
            </a:r>
            <a:r>
              <a:rPr lang="en-US" sz="2000" dirty="0" err="1"/>
              <a:t>telefoni</a:t>
            </a:r>
            <a:r>
              <a:rPr lang="en-US" sz="2000" dirty="0"/>
              <a:t> </a:t>
            </a:r>
            <a:r>
              <a:rPr lang="en-US" sz="2000" dirty="0" err="1"/>
              <a:t>og</a:t>
            </a:r>
            <a:r>
              <a:rPr lang="en-US" sz="2000" dirty="0"/>
              <a:t> ISDN (Integrated Services Digital Network) </a:t>
            </a:r>
            <a:r>
              <a:rPr lang="en-US" sz="2000" dirty="0" err="1"/>
              <a:t>linjer</a:t>
            </a:r>
            <a:r>
              <a:rPr lang="en-US" sz="2000" dirty="0"/>
              <a:t>.</a:t>
            </a:r>
          </a:p>
        </p:txBody>
      </p:sp>
      <p:sp>
        <p:nvSpPr>
          <p:cNvPr id="5" name="Rectangle 2"/>
          <p:cNvSpPr/>
          <p:nvPr/>
        </p:nvSpPr>
        <p:spPr>
          <a:xfrm>
            <a:off x="0" y="897609"/>
            <a:ext cx="9144000" cy="646331"/>
          </a:xfrm>
          <a:prstGeom prst="rect">
            <a:avLst/>
          </a:prstGeom>
        </p:spPr>
        <p:txBody>
          <a:bodyPr wrap="square">
            <a:spAutoFit/>
          </a:bodyPr>
          <a:lstStyle/>
          <a:p>
            <a:pPr algn="l"/>
            <a:r>
              <a:rPr lang="en-US" sz="2000" dirty="0" err="1"/>
              <a:t>Når</a:t>
            </a:r>
            <a:r>
              <a:rPr lang="en-US" sz="2000" dirty="0"/>
              <a:t> data </a:t>
            </a:r>
            <a:r>
              <a:rPr lang="en-US" sz="2000" dirty="0" err="1"/>
              <a:t>skal</a:t>
            </a:r>
            <a:r>
              <a:rPr lang="en-US" sz="2000" dirty="0"/>
              <a:t> </a:t>
            </a:r>
            <a:r>
              <a:rPr lang="en-US" sz="2000" dirty="0" err="1"/>
              <a:t>bæres</a:t>
            </a:r>
            <a:r>
              <a:rPr lang="en-US" sz="2000" dirty="0"/>
              <a:t> </a:t>
            </a:r>
            <a:r>
              <a:rPr lang="en-US" sz="2000" dirty="0" err="1"/>
              <a:t>rundt</a:t>
            </a:r>
            <a:r>
              <a:rPr lang="en-US" sz="2000" dirty="0"/>
              <a:t> </a:t>
            </a:r>
            <a:r>
              <a:rPr lang="en-US" sz="2000" dirty="0" err="1"/>
              <a:t>på</a:t>
            </a:r>
            <a:r>
              <a:rPr lang="en-US" sz="2000" dirty="0"/>
              <a:t> </a:t>
            </a:r>
            <a:r>
              <a:rPr lang="en-US" sz="2000" dirty="0" err="1"/>
              <a:t>Internettet</a:t>
            </a:r>
            <a:r>
              <a:rPr lang="en-US" sz="2000" dirty="0"/>
              <a:t>, </a:t>
            </a:r>
            <a:r>
              <a:rPr lang="en-US" sz="2000" dirty="0" err="1"/>
              <a:t>er</a:t>
            </a:r>
            <a:r>
              <a:rPr lang="en-US" sz="2000" dirty="0"/>
              <a:t> der to </a:t>
            </a:r>
            <a:r>
              <a:rPr lang="en-US" sz="2000" dirty="0" err="1"/>
              <a:t>metoder</a:t>
            </a:r>
            <a:r>
              <a:rPr lang="en-US" sz="2000" dirty="0"/>
              <a:t> der </a:t>
            </a:r>
            <a:r>
              <a:rPr lang="en-US" sz="2000" dirty="0" err="1"/>
              <a:t>kan</a:t>
            </a:r>
            <a:r>
              <a:rPr lang="en-US" sz="2000" dirty="0"/>
              <a:t> </a:t>
            </a:r>
            <a:r>
              <a:rPr lang="en-US" sz="2000" dirty="0" err="1"/>
              <a:t>benyttes</a:t>
            </a:r>
            <a:r>
              <a:rPr lang="en-US" sz="2000" dirty="0"/>
              <a:t>: 		</a:t>
            </a:r>
            <a:r>
              <a:rPr lang="en-US" sz="2000" dirty="0">
                <a:solidFill>
                  <a:srgbClr val="0070C0"/>
                </a:solidFill>
              </a:rPr>
              <a:t>Circuit-switching </a:t>
            </a:r>
            <a:r>
              <a:rPr lang="en-US" sz="2000" dirty="0" err="1">
                <a:solidFill>
                  <a:srgbClr val="0070C0"/>
                </a:solidFill>
              </a:rPr>
              <a:t>og</a:t>
            </a:r>
            <a:r>
              <a:rPr lang="en-US" sz="2000" dirty="0">
                <a:solidFill>
                  <a:srgbClr val="0070C0"/>
                </a:solidFill>
              </a:rPr>
              <a:t> Packet-switching.</a:t>
            </a:r>
          </a:p>
        </p:txBody>
      </p:sp>
    </p:spTree>
    <p:extLst>
      <p:ext uri="{BB962C8B-B14F-4D97-AF65-F5344CB8AC3E}">
        <p14:creationId xmlns:p14="http://schemas.microsoft.com/office/powerpoint/2010/main" val="4222910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269" y="285353"/>
            <a:ext cx="8145462" cy="540430"/>
          </a:xfrm>
        </p:spPr>
        <p:txBody>
          <a:bodyPr/>
          <a:lstStyle/>
          <a:p>
            <a:br>
              <a:rPr lang="en-US" dirty="0">
                <a:ea typeface="ＭＳ Ｐゴシック" pitchFamily="34" charset="-128"/>
              </a:rPr>
            </a:br>
            <a:r>
              <a:rPr lang="en-US"/>
              <a:t>Circuit Switching  …… vigtigt at forstå!</a:t>
            </a:r>
            <a:endParaRPr lang="en-US" dirty="0"/>
          </a:p>
        </p:txBody>
      </p:sp>
      <p:sp>
        <p:nvSpPr>
          <p:cNvPr id="5" name="Rectangle 2"/>
          <p:cNvSpPr/>
          <p:nvPr/>
        </p:nvSpPr>
        <p:spPr>
          <a:xfrm>
            <a:off x="0" y="897609"/>
            <a:ext cx="9144000" cy="646331"/>
          </a:xfrm>
          <a:prstGeom prst="rect">
            <a:avLst/>
          </a:prstGeom>
        </p:spPr>
        <p:txBody>
          <a:bodyPr wrap="square">
            <a:spAutoFit/>
          </a:bodyPr>
          <a:lstStyle/>
          <a:p>
            <a:pPr algn="l"/>
            <a:r>
              <a:rPr lang="en-US" sz="2000" dirty="0" err="1"/>
              <a:t>Når</a:t>
            </a:r>
            <a:r>
              <a:rPr lang="en-US" sz="2000" dirty="0"/>
              <a:t> data </a:t>
            </a:r>
            <a:r>
              <a:rPr lang="en-US" sz="2000" dirty="0" err="1"/>
              <a:t>skal</a:t>
            </a:r>
            <a:r>
              <a:rPr lang="en-US" sz="2000" dirty="0"/>
              <a:t> </a:t>
            </a:r>
            <a:r>
              <a:rPr lang="en-US" sz="2000" dirty="0" err="1"/>
              <a:t>bæres</a:t>
            </a:r>
            <a:r>
              <a:rPr lang="en-US" sz="2000" dirty="0"/>
              <a:t> </a:t>
            </a:r>
            <a:r>
              <a:rPr lang="en-US" sz="2000" dirty="0" err="1"/>
              <a:t>rundt</a:t>
            </a:r>
            <a:r>
              <a:rPr lang="en-US" sz="2000" dirty="0"/>
              <a:t> </a:t>
            </a:r>
            <a:r>
              <a:rPr lang="en-US" sz="2000" dirty="0" err="1"/>
              <a:t>på</a:t>
            </a:r>
            <a:r>
              <a:rPr lang="en-US" sz="2000" dirty="0"/>
              <a:t> </a:t>
            </a:r>
            <a:r>
              <a:rPr lang="en-US" sz="2000" dirty="0" err="1"/>
              <a:t>Internettet</a:t>
            </a:r>
            <a:r>
              <a:rPr lang="en-US" sz="2000" dirty="0"/>
              <a:t>, </a:t>
            </a:r>
            <a:r>
              <a:rPr lang="en-US" sz="2000" dirty="0" err="1"/>
              <a:t>er</a:t>
            </a:r>
            <a:r>
              <a:rPr lang="en-US" sz="2000" dirty="0"/>
              <a:t> der to </a:t>
            </a:r>
            <a:r>
              <a:rPr lang="en-US" sz="2000" dirty="0" err="1"/>
              <a:t>metoder</a:t>
            </a:r>
            <a:r>
              <a:rPr lang="en-US" sz="2000" dirty="0"/>
              <a:t> der </a:t>
            </a:r>
            <a:r>
              <a:rPr lang="en-US" sz="2000" dirty="0" err="1"/>
              <a:t>kan</a:t>
            </a:r>
            <a:r>
              <a:rPr lang="en-US" sz="2000" dirty="0"/>
              <a:t> </a:t>
            </a:r>
            <a:r>
              <a:rPr lang="en-US" sz="2000" dirty="0" err="1"/>
              <a:t>benyttes</a:t>
            </a:r>
            <a:r>
              <a:rPr lang="en-US" sz="2000" dirty="0"/>
              <a:t>: 		</a:t>
            </a:r>
            <a:r>
              <a:rPr lang="en-US" sz="2000" dirty="0">
                <a:solidFill>
                  <a:srgbClr val="0070C0"/>
                </a:solidFill>
              </a:rPr>
              <a:t>Circuit-switching </a:t>
            </a:r>
            <a:r>
              <a:rPr lang="en-US" sz="2000" dirty="0" err="1">
                <a:solidFill>
                  <a:srgbClr val="0070C0"/>
                </a:solidFill>
              </a:rPr>
              <a:t>og</a:t>
            </a:r>
            <a:r>
              <a:rPr lang="en-US" sz="2000" dirty="0">
                <a:solidFill>
                  <a:srgbClr val="0070C0"/>
                </a:solidFill>
              </a:rPr>
              <a:t> Packet-switching.</a:t>
            </a:r>
          </a:p>
        </p:txBody>
      </p:sp>
      <p:sp>
        <p:nvSpPr>
          <p:cNvPr id="6" name="Rectangle 2"/>
          <p:cNvSpPr/>
          <p:nvPr/>
        </p:nvSpPr>
        <p:spPr>
          <a:xfrm>
            <a:off x="0" y="1754642"/>
            <a:ext cx="9144000" cy="1477328"/>
          </a:xfrm>
          <a:prstGeom prst="rect">
            <a:avLst/>
          </a:prstGeom>
        </p:spPr>
        <p:txBody>
          <a:bodyPr wrap="square">
            <a:spAutoFit/>
          </a:bodyPr>
          <a:lstStyle/>
          <a:p>
            <a:pPr algn="l"/>
            <a:r>
              <a:rPr lang="en-US" sz="2000" dirty="0"/>
              <a:t>Den </a:t>
            </a:r>
            <a:r>
              <a:rPr lang="en-US" sz="2000" dirty="0" err="1"/>
              <a:t>anden</a:t>
            </a:r>
            <a:r>
              <a:rPr lang="en-US" sz="2000" dirty="0"/>
              <a:t> </a:t>
            </a:r>
            <a:r>
              <a:rPr lang="en-US" sz="2000" dirty="0" err="1"/>
              <a:t>metode</a:t>
            </a:r>
            <a:r>
              <a:rPr lang="en-US" sz="2000" dirty="0"/>
              <a:t> </a:t>
            </a:r>
            <a:r>
              <a:rPr lang="en-US" sz="2000" dirty="0" err="1"/>
              <a:t>til</a:t>
            </a:r>
            <a:r>
              <a:rPr lang="en-US" sz="2000" dirty="0"/>
              <a:t> at </a:t>
            </a:r>
            <a:r>
              <a:rPr lang="en-US" sz="2000" dirty="0" err="1"/>
              <a:t>transportere</a:t>
            </a:r>
            <a:r>
              <a:rPr lang="en-US" sz="2000" dirty="0"/>
              <a:t> data </a:t>
            </a:r>
            <a:r>
              <a:rPr lang="en-US" sz="2000" dirty="0" err="1"/>
              <a:t>gennem</a:t>
            </a:r>
            <a:r>
              <a:rPr lang="en-US" sz="2000" dirty="0"/>
              <a:t> </a:t>
            </a:r>
            <a:r>
              <a:rPr lang="en-US" sz="2000" dirty="0" err="1"/>
              <a:t>Internettet</a:t>
            </a:r>
            <a:r>
              <a:rPr lang="en-US" sz="2000" dirty="0"/>
              <a:t>, </a:t>
            </a:r>
            <a:r>
              <a:rPr lang="en-US" sz="2000" dirty="0" err="1"/>
              <a:t>er</a:t>
            </a:r>
            <a:r>
              <a:rPr lang="en-US" sz="2000" dirty="0"/>
              <a:t> </a:t>
            </a:r>
            <a:r>
              <a:rPr lang="en-US" sz="2000" dirty="0" err="1"/>
              <a:t>ved</a:t>
            </a:r>
            <a:r>
              <a:rPr lang="en-US" sz="2000" dirty="0"/>
              <a:t> </a:t>
            </a:r>
            <a:r>
              <a:rPr lang="en-US" sz="2000" dirty="0" err="1"/>
              <a:t>hjælp</a:t>
            </a:r>
            <a:r>
              <a:rPr lang="en-US" sz="2000" dirty="0"/>
              <a:t> </a:t>
            </a:r>
            <a:r>
              <a:rPr lang="en-US" sz="2000" dirty="0" err="1"/>
              <a:t>af</a:t>
            </a:r>
            <a:r>
              <a:rPr lang="en-US" sz="2000" dirty="0"/>
              <a:t> </a:t>
            </a:r>
            <a:r>
              <a:rPr lang="en-US" sz="2000" dirty="0">
                <a:solidFill>
                  <a:srgbClr val="FF00FF"/>
                </a:solidFill>
              </a:rPr>
              <a:t>Packet-switching.</a:t>
            </a:r>
          </a:p>
          <a:p>
            <a:pPr algn="l"/>
            <a:endParaRPr lang="en-US" sz="2000" dirty="0"/>
          </a:p>
          <a:p>
            <a:pPr algn="l"/>
            <a:r>
              <a:rPr lang="en-US" sz="2000" dirty="0"/>
              <a:t>Her </a:t>
            </a:r>
            <a:r>
              <a:rPr lang="en-US" sz="2000" dirty="0" err="1"/>
              <a:t>tages</a:t>
            </a:r>
            <a:r>
              <a:rPr lang="en-US" sz="2000" dirty="0"/>
              <a:t> der </a:t>
            </a:r>
            <a:r>
              <a:rPr lang="en-US" sz="2000" dirty="0" err="1">
                <a:solidFill>
                  <a:srgbClr val="00B0F0"/>
                </a:solidFill>
              </a:rPr>
              <a:t>beslutning</a:t>
            </a:r>
            <a:r>
              <a:rPr lang="en-US" sz="2000" dirty="0">
                <a:solidFill>
                  <a:srgbClr val="00B0F0"/>
                </a:solidFill>
              </a:rPr>
              <a:t> om </a:t>
            </a:r>
            <a:r>
              <a:rPr lang="en-US" sz="2000" dirty="0" err="1">
                <a:solidFill>
                  <a:srgbClr val="00B0F0"/>
                </a:solidFill>
              </a:rPr>
              <a:t>hvilken</a:t>
            </a:r>
            <a:r>
              <a:rPr lang="en-US" sz="2000" dirty="0">
                <a:solidFill>
                  <a:srgbClr val="00B0F0"/>
                </a:solidFill>
              </a:rPr>
              <a:t> </a:t>
            </a:r>
            <a:r>
              <a:rPr lang="en-US" sz="2000" dirty="0" err="1">
                <a:solidFill>
                  <a:srgbClr val="00B0F0"/>
                </a:solidFill>
              </a:rPr>
              <a:t>vej</a:t>
            </a:r>
            <a:r>
              <a:rPr lang="en-US" sz="2000" dirty="0">
                <a:solidFill>
                  <a:srgbClr val="00B0F0"/>
                </a:solidFill>
              </a:rPr>
              <a:t>, for </a:t>
            </a:r>
            <a:r>
              <a:rPr lang="en-US" sz="2000" dirty="0" err="1">
                <a:solidFill>
                  <a:srgbClr val="00B0F0"/>
                </a:solidFill>
              </a:rPr>
              <a:t>hver</a:t>
            </a:r>
            <a:r>
              <a:rPr lang="en-US" sz="2000" dirty="0">
                <a:solidFill>
                  <a:srgbClr val="00B0F0"/>
                </a:solidFill>
              </a:rPr>
              <a:t> </a:t>
            </a:r>
            <a:r>
              <a:rPr lang="en-US" sz="2000" dirty="0" err="1">
                <a:solidFill>
                  <a:srgbClr val="00B0F0"/>
                </a:solidFill>
              </a:rPr>
              <a:t>enkelt</a:t>
            </a:r>
            <a:r>
              <a:rPr lang="en-US" sz="2000" dirty="0">
                <a:solidFill>
                  <a:srgbClr val="00B0F0"/>
                </a:solidFill>
              </a:rPr>
              <a:t> </a:t>
            </a:r>
            <a:r>
              <a:rPr lang="en-US" sz="2000" dirty="0" err="1">
                <a:solidFill>
                  <a:srgbClr val="00B0F0"/>
                </a:solidFill>
              </a:rPr>
              <a:t>pakke</a:t>
            </a:r>
            <a:r>
              <a:rPr lang="en-US" sz="2000" dirty="0"/>
              <a:t>. </a:t>
            </a:r>
            <a:r>
              <a:rPr lang="en-US" sz="2000" dirty="0" err="1"/>
              <a:t>Det</a:t>
            </a:r>
            <a:r>
              <a:rPr lang="en-US" sz="2000" dirty="0"/>
              <a:t> </a:t>
            </a:r>
            <a:r>
              <a:rPr lang="en-US" sz="2000" dirty="0" err="1"/>
              <a:t>er</a:t>
            </a:r>
            <a:r>
              <a:rPr lang="en-US" sz="2000" dirty="0"/>
              <a:t> </a:t>
            </a:r>
            <a:r>
              <a:rPr lang="en-US" sz="2000" dirty="0" err="1"/>
              <a:t>langt</a:t>
            </a:r>
            <a:r>
              <a:rPr lang="en-US" sz="2000" dirty="0"/>
              <a:t> den </a:t>
            </a:r>
            <a:r>
              <a:rPr lang="en-US" sz="2000" dirty="0" err="1"/>
              <a:t>mest</a:t>
            </a:r>
            <a:r>
              <a:rPr lang="en-US" sz="2000" dirty="0"/>
              <a:t> </a:t>
            </a:r>
            <a:r>
              <a:rPr lang="en-US" sz="2000" dirty="0" err="1"/>
              <a:t>brugte</a:t>
            </a:r>
            <a:r>
              <a:rPr lang="en-US" sz="2000" dirty="0"/>
              <a:t> </a:t>
            </a:r>
            <a:r>
              <a:rPr lang="en-US" sz="2000" dirty="0" err="1"/>
              <a:t>metode</a:t>
            </a:r>
            <a:r>
              <a:rPr lang="en-US" sz="2000" dirty="0"/>
              <a:t>!</a:t>
            </a:r>
            <a:endParaRPr lang="en-US" sz="2000" b="1" dirty="0"/>
          </a:p>
        </p:txBody>
      </p:sp>
      <p:pic>
        <p:nvPicPr>
          <p:cNvPr id="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6234" y="3134069"/>
            <a:ext cx="6327493" cy="4088533"/>
          </a:xfrm>
          <a:prstGeom prst="rect">
            <a:avLst/>
          </a:prstGeom>
          <a:ln w="12700" cap="sq">
            <a:no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326278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040" y="61231"/>
            <a:ext cx="8145462" cy="838200"/>
          </a:xfrm>
        </p:spPr>
        <p:txBody>
          <a:bodyPr/>
          <a:lstStyle/>
          <a:p>
            <a:br>
              <a:rPr lang="en-US" dirty="0">
                <a:ea typeface="ＭＳ Ｐゴシック" pitchFamily="34" charset="-128"/>
              </a:rPr>
            </a:br>
            <a:r>
              <a:rPr lang="en-US" dirty="0"/>
              <a:t>WAN Link Connection Options</a:t>
            </a:r>
          </a:p>
        </p:txBody>
      </p:sp>
      <p:sp>
        <p:nvSpPr>
          <p:cNvPr id="6" name="Rectangle 2"/>
          <p:cNvSpPr/>
          <p:nvPr/>
        </p:nvSpPr>
        <p:spPr>
          <a:xfrm>
            <a:off x="-1" y="1045662"/>
            <a:ext cx="3817257" cy="369332"/>
          </a:xfrm>
          <a:prstGeom prst="rect">
            <a:avLst/>
          </a:prstGeom>
        </p:spPr>
        <p:txBody>
          <a:bodyPr wrap="square">
            <a:spAutoFit/>
          </a:bodyPr>
          <a:lstStyle/>
          <a:p>
            <a:pPr algn="l"/>
            <a:r>
              <a:rPr lang="en-US" sz="2000" dirty="0" err="1">
                <a:solidFill>
                  <a:srgbClr val="C00000"/>
                </a:solidFill>
              </a:rPr>
              <a:t>Hvad</a:t>
            </a:r>
            <a:r>
              <a:rPr lang="en-US" sz="2000" dirty="0">
                <a:solidFill>
                  <a:srgbClr val="C00000"/>
                </a:solidFill>
              </a:rPr>
              <a:t> </a:t>
            </a:r>
            <a:r>
              <a:rPr lang="en-US" sz="2000" dirty="0" err="1">
                <a:solidFill>
                  <a:srgbClr val="C00000"/>
                </a:solidFill>
              </a:rPr>
              <a:t>har</a:t>
            </a:r>
            <a:r>
              <a:rPr lang="en-US" sz="2000" dirty="0">
                <a:solidFill>
                  <a:srgbClr val="C00000"/>
                </a:solidFill>
              </a:rPr>
              <a:t> vi </a:t>
            </a:r>
            <a:r>
              <a:rPr lang="en-US" sz="2000" dirty="0" err="1">
                <a:solidFill>
                  <a:srgbClr val="C00000"/>
                </a:solidFill>
              </a:rPr>
              <a:t>så</a:t>
            </a:r>
            <a:r>
              <a:rPr lang="en-US" sz="2000" dirty="0">
                <a:solidFill>
                  <a:srgbClr val="C00000"/>
                </a:solidFill>
              </a:rPr>
              <a:t> </a:t>
            </a:r>
            <a:r>
              <a:rPr lang="en-US" sz="2000" dirty="0" err="1">
                <a:solidFill>
                  <a:srgbClr val="C00000"/>
                </a:solidFill>
              </a:rPr>
              <a:t>af</a:t>
            </a:r>
            <a:r>
              <a:rPr lang="en-US" sz="2000" dirty="0">
                <a:solidFill>
                  <a:srgbClr val="C00000"/>
                </a:solidFill>
              </a:rPr>
              <a:t> </a:t>
            </a:r>
            <a:r>
              <a:rPr lang="en-US" sz="2000" dirty="0" err="1">
                <a:solidFill>
                  <a:srgbClr val="C00000"/>
                </a:solidFill>
              </a:rPr>
              <a:t>muligheder</a:t>
            </a:r>
            <a:r>
              <a:rPr lang="en-US" sz="2000" dirty="0">
                <a:solidFill>
                  <a:srgbClr val="C00000"/>
                </a:solidFill>
              </a:rPr>
              <a:t>?</a:t>
            </a:r>
            <a:endParaRPr lang="en-US" sz="2000" b="1" dirty="0">
              <a:solidFill>
                <a:srgbClr val="C00000"/>
              </a:solidFill>
            </a:endParaRPr>
          </a:p>
        </p:txBody>
      </p:sp>
      <p:pic>
        <p:nvPicPr>
          <p:cNvPr id="4" name="Billede 3">
            <a:extLst>
              <a:ext uri="{FF2B5EF4-FFF2-40B4-BE49-F238E27FC236}">
                <a16:creationId xmlns:a16="http://schemas.microsoft.com/office/drawing/2014/main" id="{B6A0FA99-8E60-80D5-EEE4-C88526E287A1}"/>
              </a:ext>
            </a:extLst>
          </p:cNvPr>
          <p:cNvPicPr>
            <a:picLocks noChangeAspect="1"/>
          </p:cNvPicPr>
          <p:nvPr/>
        </p:nvPicPr>
        <p:blipFill>
          <a:blip r:embed="rId3"/>
          <a:stretch>
            <a:fillRect/>
          </a:stretch>
        </p:blipFill>
        <p:spPr>
          <a:xfrm>
            <a:off x="1059129" y="1561226"/>
            <a:ext cx="8084872" cy="5235544"/>
          </a:xfrm>
          <a:prstGeom prst="rect">
            <a:avLst/>
          </a:prstGeom>
        </p:spPr>
      </p:pic>
    </p:spTree>
    <p:extLst>
      <p:ext uri="{BB962C8B-B14F-4D97-AF65-F5344CB8AC3E}">
        <p14:creationId xmlns:p14="http://schemas.microsoft.com/office/powerpoint/2010/main" val="3771995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040" y="75319"/>
            <a:ext cx="8145462" cy="838200"/>
          </a:xfrm>
        </p:spPr>
        <p:txBody>
          <a:bodyPr/>
          <a:lstStyle/>
          <a:p>
            <a:br>
              <a:rPr lang="en-US" dirty="0">
                <a:ea typeface="ＭＳ Ｐゴシック" pitchFamily="34" charset="-128"/>
              </a:rPr>
            </a:br>
            <a:r>
              <a:rPr lang="en-US" dirty="0">
                <a:solidFill>
                  <a:srgbClr val="C00000"/>
                </a:solidFill>
              </a:rPr>
              <a:t>Service-Provided</a:t>
            </a:r>
            <a:r>
              <a:rPr lang="en-US" dirty="0"/>
              <a:t> Network Infrastructure</a:t>
            </a:r>
          </a:p>
        </p:txBody>
      </p:sp>
      <p:pic>
        <p:nvPicPr>
          <p:cNvPr id="102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77962" y="1404110"/>
            <a:ext cx="6761238" cy="5453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72327" y="1009950"/>
            <a:ext cx="4776932" cy="58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kstboks 2"/>
          <p:cNvSpPr txBox="1"/>
          <p:nvPr/>
        </p:nvSpPr>
        <p:spPr>
          <a:xfrm>
            <a:off x="0" y="1774417"/>
            <a:ext cx="2714171" cy="2751522"/>
          </a:xfrm>
          <a:prstGeom prst="rect">
            <a:avLst/>
          </a:prstGeom>
          <a:noFill/>
        </p:spPr>
        <p:txBody>
          <a:bodyPr wrap="square" rtlCol="0">
            <a:spAutoFit/>
          </a:bodyPr>
          <a:lstStyle/>
          <a:p>
            <a:r>
              <a:rPr lang="da-DK" b="1" dirty="0">
                <a:solidFill>
                  <a:srgbClr val="00B0F0"/>
                </a:solidFill>
              </a:rPr>
              <a:t>Forskellige teknologier.</a:t>
            </a:r>
          </a:p>
          <a:p>
            <a:endParaRPr lang="da-DK" b="1" dirty="0">
              <a:solidFill>
                <a:srgbClr val="00B0F0"/>
              </a:solidFill>
            </a:endParaRPr>
          </a:p>
          <a:p>
            <a:r>
              <a:rPr lang="da-DK" b="1" dirty="0">
                <a:solidFill>
                  <a:srgbClr val="00B0F0"/>
                </a:solidFill>
              </a:rPr>
              <a:t>Som vi kigger en smule mere på, på de efterfølgende dias.</a:t>
            </a:r>
          </a:p>
        </p:txBody>
      </p:sp>
      <p:sp>
        <p:nvSpPr>
          <p:cNvPr id="4" name="Tekstfelt 3"/>
          <p:cNvSpPr txBox="1"/>
          <p:nvPr/>
        </p:nvSpPr>
        <p:spPr>
          <a:xfrm>
            <a:off x="102382" y="5276303"/>
            <a:ext cx="2509405" cy="1421928"/>
          </a:xfrm>
          <a:prstGeom prst="rect">
            <a:avLst/>
          </a:prstGeom>
          <a:noFill/>
        </p:spPr>
        <p:txBody>
          <a:bodyPr wrap="square" rtlCol="0">
            <a:spAutoFit/>
          </a:bodyPr>
          <a:lstStyle/>
          <a:p>
            <a:r>
              <a:rPr lang="da-DK" i="1" dirty="0">
                <a:solidFill>
                  <a:srgbClr val="FF0000"/>
                </a:solidFill>
              </a:rPr>
              <a:t>Hvad bruger I egentlig hjemme hos jer selv – og i virksomheden?</a:t>
            </a:r>
          </a:p>
        </p:txBody>
      </p:sp>
    </p:spTree>
    <p:extLst>
      <p:ext uri="{BB962C8B-B14F-4D97-AF65-F5344CB8AC3E}">
        <p14:creationId xmlns:p14="http://schemas.microsoft.com/office/powerpoint/2010/main" val="2130485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66669" y="1233715"/>
            <a:ext cx="5877332" cy="4209142"/>
          </a:xfrm>
          <a:prstGeom prst="rect">
            <a:avLst/>
          </a:prstGeom>
          <a:noFill/>
          <a:ln w="9525">
            <a:noFill/>
            <a:bevel/>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371020" y="15654"/>
            <a:ext cx="8145462" cy="838200"/>
          </a:xfrm>
        </p:spPr>
        <p:txBody>
          <a:bodyPr/>
          <a:lstStyle/>
          <a:p>
            <a:br>
              <a:rPr lang="en-US" dirty="0">
                <a:ea typeface="ＭＳ Ｐゴシック" pitchFamily="34" charset="-128"/>
              </a:rPr>
            </a:br>
            <a:r>
              <a:rPr lang="en-US" dirty="0"/>
              <a:t>Ethernet WAN</a:t>
            </a:r>
          </a:p>
        </p:txBody>
      </p:sp>
      <p:sp>
        <p:nvSpPr>
          <p:cNvPr id="3" name="TextBox 2"/>
          <p:cNvSpPr txBox="1"/>
          <p:nvPr/>
        </p:nvSpPr>
        <p:spPr>
          <a:xfrm>
            <a:off x="0" y="954846"/>
            <a:ext cx="3962400" cy="5610767"/>
          </a:xfrm>
          <a:prstGeom prst="rect">
            <a:avLst/>
          </a:prstGeom>
          <a:noFill/>
        </p:spPr>
        <p:txBody>
          <a:bodyPr wrap="square" rtlCol="0">
            <a:spAutoFit/>
          </a:bodyPr>
          <a:lstStyle/>
          <a:p>
            <a:pPr algn="l">
              <a:spcBef>
                <a:spcPts val="600"/>
              </a:spcBef>
            </a:pPr>
            <a:r>
              <a:rPr lang="en-US" sz="2000" dirty="0"/>
              <a:t>Features and Benefits of Ethernet WAN include:</a:t>
            </a:r>
          </a:p>
          <a:p>
            <a:pPr marL="236538" indent="-236538" algn="l" defTabSz="814388">
              <a:lnSpc>
                <a:spcPct val="95000"/>
              </a:lnSpc>
              <a:spcBef>
                <a:spcPts val="600"/>
              </a:spcBef>
              <a:buClr>
                <a:srgbClr val="708CA1"/>
              </a:buClr>
              <a:buFont typeface="Wingdings" pitchFamily="2" charset="2"/>
              <a:buChar char="§"/>
            </a:pPr>
            <a:r>
              <a:rPr lang="en-US" sz="2000" dirty="0"/>
              <a:t>Reduced expenses and administration </a:t>
            </a:r>
          </a:p>
          <a:p>
            <a:pPr marL="236538" indent="-236538" algn="l" defTabSz="814388">
              <a:lnSpc>
                <a:spcPct val="95000"/>
              </a:lnSpc>
              <a:spcBef>
                <a:spcPts val="600"/>
              </a:spcBef>
              <a:buClr>
                <a:srgbClr val="708CA1"/>
              </a:buClr>
              <a:buFont typeface="Wingdings" pitchFamily="2" charset="2"/>
              <a:buChar char="§"/>
            </a:pPr>
            <a:r>
              <a:rPr lang="en-US" sz="2000" dirty="0"/>
              <a:t>Easy integration with existing networks </a:t>
            </a:r>
          </a:p>
          <a:p>
            <a:pPr marL="236538" indent="-236538" algn="l" defTabSz="814388">
              <a:lnSpc>
                <a:spcPct val="95000"/>
              </a:lnSpc>
              <a:spcBef>
                <a:spcPts val="600"/>
              </a:spcBef>
              <a:buClr>
                <a:srgbClr val="708CA1"/>
              </a:buClr>
              <a:buFont typeface="Wingdings" pitchFamily="2" charset="2"/>
              <a:buChar char="§"/>
            </a:pPr>
            <a:r>
              <a:rPr lang="en-US" sz="2000" dirty="0">
                <a:solidFill>
                  <a:srgbClr val="7030A0"/>
                </a:solidFill>
              </a:rPr>
              <a:t>Service providers now offer Ethernet WAN service using fiber-optic cabling.</a:t>
            </a:r>
          </a:p>
          <a:p>
            <a:pPr marL="236538" indent="-236538" algn="l" defTabSz="814388">
              <a:lnSpc>
                <a:spcPct val="95000"/>
              </a:lnSpc>
              <a:spcBef>
                <a:spcPts val="600"/>
              </a:spcBef>
              <a:buClr>
                <a:srgbClr val="708CA1"/>
              </a:buClr>
              <a:buFont typeface="Wingdings" pitchFamily="2" charset="2"/>
              <a:buChar char="§"/>
            </a:pPr>
            <a:endParaRPr lang="en-US" sz="2000" dirty="0">
              <a:solidFill>
                <a:srgbClr val="7030A0"/>
              </a:solidFill>
            </a:endParaRPr>
          </a:p>
          <a:p>
            <a:pPr marL="236538" indent="-236538" algn="l" defTabSz="814388">
              <a:lnSpc>
                <a:spcPct val="95000"/>
              </a:lnSpc>
              <a:spcBef>
                <a:spcPts val="600"/>
              </a:spcBef>
              <a:buClr>
                <a:srgbClr val="708CA1"/>
              </a:buClr>
              <a:buFont typeface="Wingdings" pitchFamily="2" charset="2"/>
              <a:buChar char="§"/>
            </a:pPr>
            <a:r>
              <a:rPr lang="en-US" sz="2000" dirty="0"/>
              <a:t>Known as Metropolitan Ethernet (</a:t>
            </a:r>
            <a:r>
              <a:rPr lang="en-US" sz="2000" dirty="0" err="1"/>
              <a:t>MetroE</a:t>
            </a:r>
            <a:r>
              <a:rPr lang="en-US" sz="2000" dirty="0"/>
              <a:t>), Ethernet over MPLS (</a:t>
            </a:r>
            <a:r>
              <a:rPr lang="en-US" sz="2000" dirty="0" err="1"/>
              <a:t>EoMPLS</a:t>
            </a:r>
            <a:r>
              <a:rPr lang="en-US" sz="2000" dirty="0"/>
              <a:t>), and Virtual Private LAN Service (VPLS).</a:t>
            </a:r>
          </a:p>
          <a:p>
            <a:pPr marL="236538" indent="-236538" algn="l" defTabSz="814388">
              <a:lnSpc>
                <a:spcPct val="95000"/>
              </a:lnSpc>
              <a:spcBef>
                <a:spcPct val="50000"/>
              </a:spcBef>
              <a:buClr>
                <a:srgbClr val="708CA1"/>
              </a:buClr>
              <a:buFont typeface="Wingdings" pitchFamily="2" charset="2"/>
              <a:buChar char="§"/>
            </a:pPr>
            <a:endParaRPr lang="en-US" sz="2000" dirty="0"/>
          </a:p>
          <a:p>
            <a:endParaRPr lang="en-US" dirty="0"/>
          </a:p>
        </p:txBody>
      </p:sp>
      <p:sp>
        <p:nvSpPr>
          <p:cNvPr id="5" name="Rectangle 4"/>
          <p:cNvSpPr/>
          <p:nvPr/>
        </p:nvSpPr>
        <p:spPr>
          <a:xfrm>
            <a:off x="4124789" y="5593339"/>
            <a:ext cx="4572000" cy="969496"/>
          </a:xfrm>
          <a:prstGeom prst="rect">
            <a:avLst/>
          </a:prstGeom>
        </p:spPr>
        <p:txBody>
          <a:bodyPr>
            <a:spAutoFit/>
          </a:bodyPr>
          <a:lstStyle/>
          <a:p>
            <a:pPr algn="l" defTabSz="814388">
              <a:lnSpc>
                <a:spcPct val="95000"/>
              </a:lnSpc>
              <a:spcBef>
                <a:spcPct val="50000"/>
              </a:spcBef>
              <a:buClr>
                <a:srgbClr val="708CA1"/>
              </a:buClr>
            </a:pPr>
            <a:r>
              <a:rPr lang="en-US" sz="2000" b="1" dirty="0">
                <a:solidFill>
                  <a:srgbClr val="FF00FF"/>
                </a:solidFill>
              </a:rPr>
              <a:t>Note</a:t>
            </a:r>
            <a:r>
              <a:rPr lang="en-US" sz="2000" dirty="0">
                <a:solidFill>
                  <a:srgbClr val="FF00FF"/>
                </a:solidFill>
              </a:rPr>
              <a:t>: Commonly used to replace the traditional Frame Relay and ATM WAN links.</a:t>
            </a:r>
          </a:p>
        </p:txBody>
      </p:sp>
    </p:spTree>
    <p:extLst>
      <p:ext uri="{BB962C8B-B14F-4D97-AF65-F5344CB8AC3E}">
        <p14:creationId xmlns:p14="http://schemas.microsoft.com/office/powerpoint/2010/main" val="2151124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llede 3">
            <a:extLst>
              <a:ext uri="{FF2B5EF4-FFF2-40B4-BE49-F238E27FC236}">
                <a16:creationId xmlns:a16="http://schemas.microsoft.com/office/drawing/2014/main" id="{3E601672-16BF-8F8B-C05A-439FE2D2FF8E}"/>
              </a:ext>
            </a:extLst>
          </p:cNvPr>
          <p:cNvPicPr>
            <a:picLocks noChangeAspect="1"/>
          </p:cNvPicPr>
          <p:nvPr/>
        </p:nvPicPr>
        <p:blipFill>
          <a:blip r:embed="rId3"/>
          <a:stretch>
            <a:fillRect/>
          </a:stretch>
        </p:blipFill>
        <p:spPr>
          <a:xfrm>
            <a:off x="654757" y="3839306"/>
            <a:ext cx="7532630" cy="3018694"/>
          </a:xfrm>
          <a:prstGeom prst="rect">
            <a:avLst/>
          </a:prstGeom>
        </p:spPr>
      </p:pic>
      <p:sp>
        <p:nvSpPr>
          <p:cNvPr id="2" name="Title 1"/>
          <p:cNvSpPr>
            <a:spLocks noGrp="1"/>
          </p:cNvSpPr>
          <p:nvPr>
            <p:ph type="title"/>
          </p:nvPr>
        </p:nvSpPr>
        <p:spPr>
          <a:xfrm>
            <a:off x="475116" y="69881"/>
            <a:ext cx="8145462" cy="838200"/>
          </a:xfrm>
        </p:spPr>
        <p:txBody>
          <a:bodyPr/>
          <a:lstStyle/>
          <a:p>
            <a:br>
              <a:rPr lang="en-US">
                <a:ea typeface="ＭＳ Ｐゴシック" pitchFamily="34" charset="-128"/>
              </a:rPr>
            </a:br>
            <a:r>
              <a:rPr lang="en-US">
                <a:ea typeface="ＭＳ Ｐゴシック" pitchFamily="34" charset="-128"/>
              </a:rPr>
              <a:t>MPLS</a:t>
            </a:r>
            <a:endParaRPr lang="en-US" dirty="0"/>
          </a:p>
        </p:txBody>
      </p:sp>
      <p:sp>
        <p:nvSpPr>
          <p:cNvPr id="9" name="TextBox 8"/>
          <p:cNvSpPr txBox="1"/>
          <p:nvPr/>
        </p:nvSpPr>
        <p:spPr>
          <a:xfrm>
            <a:off x="102583" y="3329152"/>
            <a:ext cx="7430047" cy="313932"/>
          </a:xfrm>
          <a:prstGeom prst="rect">
            <a:avLst/>
          </a:prstGeom>
          <a:noFill/>
        </p:spPr>
        <p:txBody>
          <a:bodyPr wrap="none" rtlCol="0">
            <a:spAutoFit/>
          </a:bodyPr>
          <a:lstStyle/>
          <a:p>
            <a:r>
              <a:rPr lang="en-US" sz="1600"/>
              <a:t>Fordele: </a:t>
            </a:r>
            <a:r>
              <a:rPr lang="en-US" sz="1600" b="0" i="0">
                <a:solidFill>
                  <a:srgbClr val="58585B"/>
                </a:solidFill>
                <a:effectLst/>
                <a:latin typeface="CiscoSans"/>
              </a:rPr>
              <a:t>provides services for QoS support, traffic engineering, redundancy, and VPNs.</a:t>
            </a:r>
            <a:endParaRPr lang="en-US" sz="1600" dirty="0"/>
          </a:p>
        </p:txBody>
      </p:sp>
      <p:sp>
        <p:nvSpPr>
          <p:cNvPr id="6" name="Tekstfelt 5">
            <a:extLst>
              <a:ext uri="{FF2B5EF4-FFF2-40B4-BE49-F238E27FC236}">
                <a16:creationId xmlns:a16="http://schemas.microsoft.com/office/drawing/2014/main" id="{4E89CBE4-60F0-EB7B-441C-2AE6D3FB0505}"/>
              </a:ext>
            </a:extLst>
          </p:cNvPr>
          <p:cNvSpPr txBox="1"/>
          <p:nvPr/>
        </p:nvSpPr>
        <p:spPr>
          <a:xfrm>
            <a:off x="245203" y="845395"/>
            <a:ext cx="8898797" cy="2640723"/>
          </a:xfrm>
          <a:prstGeom prst="rect">
            <a:avLst/>
          </a:prstGeom>
          <a:noFill/>
        </p:spPr>
        <p:txBody>
          <a:bodyPr wrap="square">
            <a:spAutoFit/>
          </a:bodyPr>
          <a:lstStyle/>
          <a:p>
            <a:pPr algn="l"/>
            <a:r>
              <a:rPr lang="en-US" sz="2000" b="0" i="0" dirty="0">
                <a:solidFill>
                  <a:srgbClr val="58585B"/>
                </a:solidFill>
                <a:effectLst/>
                <a:latin typeface="+mn-lt"/>
              </a:rPr>
              <a:t>MPLS routers are label switched routers (LSRs). This means that they attach labels to packets that are then used by other MPLS routers to forward traffic. When traffic is leaving the CE, the MPLS PE router adds a short fixed-length label in between the frame header and packet header. MPLS P routers use the label to determine the next hop of the packet. The label is removed by the egress PE router when the packet leaves the MPLS network.</a:t>
            </a:r>
          </a:p>
          <a:p>
            <a:pPr algn="l"/>
            <a:endParaRPr lang="en-US" sz="1600" dirty="0">
              <a:solidFill>
                <a:srgbClr val="58585B"/>
              </a:solidFill>
              <a:latin typeface="CiscoSans"/>
            </a:endParaRPr>
          </a:p>
          <a:p>
            <a:pPr algn="l"/>
            <a:r>
              <a:rPr lang="en-US" sz="1600" b="0" i="0" dirty="0">
                <a:solidFill>
                  <a:srgbClr val="58585B"/>
                </a:solidFill>
                <a:effectLst/>
                <a:latin typeface="CiscoSans"/>
              </a:rPr>
              <a:t>An MPLS router can be a customer edge (CE) router, a provider edge (PE) router, or an internal provider (P) router. Notice that MPLS supports a variety of client access connections.</a:t>
            </a:r>
          </a:p>
          <a:p>
            <a:pPr algn="l"/>
            <a:endParaRPr lang="en-US" sz="1600" b="0" i="0" dirty="0">
              <a:solidFill>
                <a:srgbClr val="58585B"/>
              </a:solidFill>
              <a:effectLst/>
              <a:latin typeface="CiscoSans"/>
            </a:endParaRPr>
          </a:p>
        </p:txBody>
      </p:sp>
    </p:spTree>
    <p:extLst>
      <p:ext uri="{BB962C8B-B14F-4D97-AF65-F5344CB8AC3E}">
        <p14:creationId xmlns:p14="http://schemas.microsoft.com/office/powerpoint/2010/main" val="2902224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3918858" cy="311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5167086" y="0"/>
            <a:ext cx="3976914" cy="838200"/>
          </a:xfrm>
        </p:spPr>
        <p:txBody>
          <a:bodyPr/>
          <a:lstStyle/>
          <a:p>
            <a:br>
              <a:rPr lang="en-US" dirty="0">
                <a:ea typeface="ＭＳ Ｐゴシック" pitchFamily="34" charset="-128"/>
              </a:rPr>
            </a:br>
            <a:r>
              <a:rPr lang="en-US" dirty="0" err="1"/>
              <a:t>Satellit</a:t>
            </a:r>
            <a:r>
              <a:rPr lang="en-US" dirty="0"/>
              <a:t> </a:t>
            </a:r>
            <a:r>
              <a:rPr lang="en-US" dirty="0" err="1"/>
              <a:t>forbindelse</a:t>
            </a:r>
            <a:endParaRPr lang="en-US" dirty="0"/>
          </a:p>
        </p:txBody>
      </p:sp>
      <p:pic>
        <p:nvPicPr>
          <p:cNvPr id="1843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96118" y="3462919"/>
            <a:ext cx="4136568" cy="3743423"/>
          </a:xfrm>
          <a:prstGeom prst="rect">
            <a:avLst/>
          </a:prstGeom>
          <a:noFill/>
          <a:ln w="9525">
            <a:noFill/>
            <a:bevel/>
            <a:headEnd/>
            <a:tailEnd/>
          </a:ln>
          <a:extLst>
            <a:ext uri="{909E8E84-426E-40DD-AFC4-6F175D3DCCD1}">
              <a14:hiddenFill xmlns:a14="http://schemas.microsoft.com/office/drawing/2010/main">
                <a:solidFill>
                  <a:schemeClr val="accent1"/>
                </a:solidFill>
              </a14:hiddenFill>
            </a:ext>
          </a:extLst>
        </p:spPr>
      </p:pic>
      <p:sp>
        <p:nvSpPr>
          <p:cNvPr id="3" name="TextBox 2"/>
          <p:cNvSpPr txBox="1"/>
          <p:nvPr/>
        </p:nvSpPr>
        <p:spPr>
          <a:xfrm>
            <a:off x="0" y="3031127"/>
            <a:ext cx="6110514" cy="3693319"/>
          </a:xfrm>
          <a:prstGeom prst="rect">
            <a:avLst/>
          </a:prstGeom>
          <a:noFill/>
        </p:spPr>
        <p:txBody>
          <a:bodyPr wrap="square" rtlCol="0">
            <a:spAutoFit/>
          </a:bodyPr>
          <a:lstStyle/>
          <a:p>
            <a:pPr algn="l"/>
            <a:r>
              <a:rPr lang="en-US" sz="2000" dirty="0">
                <a:solidFill>
                  <a:srgbClr val="C00000"/>
                </a:solidFill>
              </a:rPr>
              <a:t>Very small aperture (</a:t>
            </a:r>
            <a:r>
              <a:rPr lang="en-US" sz="2000" dirty="0" err="1">
                <a:solidFill>
                  <a:srgbClr val="C00000"/>
                </a:solidFill>
              </a:rPr>
              <a:t>åbning</a:t>
            </a:r>
            <a:r>
              <a:rPr lang="en-US" sz="2000" dirty="0">
                <a:solidFill>
                  <a:srgbClr val="C00000"/>
                </a:solidFill>
              </a:rPr>
              <a:t>) terminal (VSAT):</a:t>
            </a:r>
          </a:p>
          <a:p>
            <a:pPr algn="l"/>
            <a:endParaRPr lang="en-US" sz="2000" dirty="0">
              <a:solidFill>
                <a:srgbClr val="C00000"/>
              </a:solidFill>
            </a:endParaRPr>
          </a:p>
          <a:p>
            <a:pPr algn="l"/>
            <a:r>
              <a:rPr lang="da-DK" sz="2000" dirty="0"/>
              <a:t>Oplysninger rejser mellem en satellit og en jordstation . </a:t>
            </a:r>
          </a:p>
          <a:p>
            <a:pPr algn="l"/>
            <a:r>
              <a:rPr lang="da-DK" sz="2000" dirty="0"/>
              <a:t>Kreditkortselskaber bruger den til at registrere transaktioner på salgssteder , tankstationer og andre virksomheder. </a:t>
            </a:r>
          </a:p>
          <a:p>
            <a:pPr algn="l"/>
            <a:endParaRPr lang="da-DK" sz="2000" dirty="0"/>
          </a:p>
          <a:p>
            <a:pPr algn="l"/>
            <a:r>
              <a:rPr lang="da-DK" sz="2000" dirty="0"/>
              <a:t>VSAT giver også en måde for skibe at kommunikere som en del af et maritimt satellitsystem . </a:t>
            </a:r>
          </a:p>
          <a:p>
            <a:pPr algn="l"/>
            <a:endParaRPr lang="da-DK" sz="2000" dirty="0"/>
          </a:p>
          <a:p>
            <a:pPr algn="l"/>
            <a:r>
              <a:rPr lang="da-DK" sz="2000" dirty="0"/>
              <a:t>En af dens vigtigste anvendelser er at give internetadgang via bredbånd</a:t>
            </a:r>
            <a:endParaRPr lang="en-US" sz="2000" dirty="0"/>
          </a:p>
        </p:txBody>
      </p:sp>
      <p:sp>
        <p:nvSpPr>
          <p:cNvPr id="6" name="TextBox 2"/>
          <p:cNvSpPr txBox="1"/>
          <p:nvPr/>
        </p:nvSpPr>
        <p:spPr>
          <a:xfrm>
            <a:off x="4684484" y="861240"/>
            <a:ext cx="4426857" cy="590931"/>
          </a:xfrm>
          <a:prstGeom prst="rect">
            <a:avLst/>
          </a:prstGeom>
          <a:noFill/>
        </p:spPr>
        <p:txBody>
          <a:bodyPr wrap="square" rtlCol="0">
            <a:spAutoFit/>
          </a:bodyPr>
          <a:lstStyle/>
          <a:p>
            <a:pPr algn="l"/>
            <a:r>
              <a:rPr lang="en-US" sz="1800" i="1" dirty="0">
                <a:solidFill>
                  <a:srgbClr val="0070C0"/>
                </a:solidFill>
              </a:rPr>
              <a:t>“Aperture” </a:t>
            </a:r>
            <a:r>
              <a:rPr lang="en-US" sz="1800" i="1" dirty="0" err="1">
                <a:solidFill>
                  <a:srgbClr val="0070C0"/>
                </a:solidFill>
              </a:rPr>
              <a:t>i.f.m</a:t>
            </a:r>
            <a:r>
              <a:rPr lang="en-US" sz="1800" i="1" dirty="0">
                <a:solidFill>
                  <a:srgbClr val="0070C0"/>
                </a:solidFill>
              </a:rPr>
              <a:t>. </a:t>
            </a:r>
            <a:r>
              <a:rPr lang="en-US" sz="1800" i="1" dirty="0" err="1">
                <a:solidFill>
                  <a:srgbClr val="0070C0"/>
                </a:solidFill>
              </a:rPr>
              <a:t>kamera</a:t>
            </a:r>
            <a:r>
              <a:rPr lang="en-US" sz="1800" i="1" dirty="0">
                <a:solidFill>
                  <a:srgbClr val="0070C0"/>
                </a:solidFill>
              </a:rPr>
              <a:t> = </a:t>
            </a:r>
            <a:r>
              <a:rPr lang="en-US" sz="1800" i="1" dirty="0" err="1">
                <a:solidFill>
                  <a:srgbClr val="0070C0"/>
                </a:solidFill>
              </a:rPr>
              <a:t>blændeåbning</a:t>
            </a:r>
            <a:r>
              <a:rPr lang="en-US" sz="1800" i="1" dirty="0">
                <a:solidFill>
                  <a:srgbClr val="0070C0"/>
                </a:solidFill>
              </a:rPr>
              <a:t> = den </a:t>
            </a:r>
            <a:r>
              <a:rPr lang="en-US" sz="1800" i="1" dirty="0" err="1">
                <a:solidFill>
                  <a:srgbClr val="0070C0"/>
                </a:solidFill>
              </a:rPr>
              <a:t>mængde</a:t>
            </a:r>
            <a:r>
              <a:rPr lang="en-US" sz="1800" i="1" dirty="0">
                <a:solidFill>
                  <a:srgbClr val="0070C0"/>
                </a:solidFill>
              </a:rPr>
              <a:t> </a:t>
            </a:r>
            <a:r>
              <a:rPr lang="en-US" sz="1800" i="1" dirty="0" err="1">
                <a:solidFill>
                  <a:srgbClr val="0070C0"/>
                </a:solidFill>
              </a:rPr>
              <a:t>lys</a:t>
            </a:r>
            <a:r>
              <a:rPr lang="en-US" sz="1800" i="1" dirty="0">
                <a:solidFill>
                  <a:srgbClr val="0070C0"/>
                </a:solidFill>
              </a:rPr>
              <a:t> man slipper </a:t>
            </a:r>
            <a:r>
              <a:rPr lang="en-US" sz="1800" i="1" dirty="0" err="1">
                <a:solidFill>
                  <a:srgbClr val="0070C0"/>
                </a:solidFill>
              </a:rPr>
              <a:t>igennem</a:t>
            </a:r>
            <a:r>
              <a:rPr lang="en-US" sz="1800" i="1" dirty="0">
                <a:solidFill>
                  <a:srgbClr val="0070C0"/>
                </a:solidFill>
              </a:rPr>
              <a:t>.</a:t>
            </a:r>
          </a:p>
        </p:txBody>
      </p:sp>
      <p:sp>
        <p:nvSpPr>
          <p:cNvPr id="4" name="Rektangel 3"/>
          <p:cNvSpPr/>
          <p:nvPr/>
        </p:nvSpPr>
        <p:spPr>
          <a:xfrm>
            <a:off x="4412343" y="1755856"/>
            <a:ext cx="4684484" cy="840230"/>
          </a:xfrm>
          <a:prstGeom prst="rect">
            <a:avLst/>
          </a:prstGeom>
        </p:spPr>
        <p:txBody>
          <a:bodyPr wrap="square">
            <a:spAutoFit/>
          </a:bodyPr>
          <a:lstStyle/>
          <a:p>
            <a:pPr algn="l"/>
            <a:r>
              <a:rPr lang="da-DK" sz="1800" i="1" dirty="0" err="1"/>
              <a:t>Very</a:t>
            </a:r>
            <a:r>
              <a:rPr lang="da-DK" sz="1800" i="1" dirty="0"/>
              <a:t> Small </a:t>
            </a:r>
            <a:r>
              <a:rPr lang="da-DK" sz="1800" i="1" dirty="0" err="1"/>
              <a:t>Aperture</a:t>
            </a:r>
            <a:r>
              <a:rPr lang="da-DK" sz="1800" i="1" dirty="0"/>
              <a:t> Terminal er dybest set en </a:t>
            </a:r>
            <a:r>
              <a:rPr lang="da-DK" sz="1800" i="1" dirty="0" err="1"/>
              <a:t>to-vejs</a:t>
            </a:r>
            <a:r>
              <a:rPr lang="da-DK" sz="1800" i="1" dirty="0"/>
              <a:t> satellit jordstation, der har en </a:t>
            </a:r>
            <a:r>
              <a:rPr lang="da-DK" sz="1800" i="1" dirty="0" err="1"/>
              <a:t>parabol-antenne</a:t>
            </a:r>
            <a:r>
              <a:rPr lang="da-DK" sz="1800" i="1" dirty="0"/>
              <a:t>, der er mindre end 3 meter. </a:t>
            </a:r>
          </a:p>
        </p:txBody>
      </p:sp>
    </p:spTree>
    <p:extLst>
      <p:ext uri="{BB962C8B-B14F-4D97-AF65-F5344CB8AC3E}">
        <p14:creationId xmlns:p14="http://schemas.microsoft.com/office/powerpoint/2010/main" val="3208005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6235" y="1741517"/>
            <a:ext cx="6057766" cy="4309466"/>
          </a:xfrm>
          <a:prstGeom prst="rect">
            <a:avLst/>
          </a:prstGeom>
          <a:noFill/>
          <a:ln w="9525">
            <a:noFill/>
            <a:bevel/>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5313136" y="552095"/>
            <a:ext cx="3830864" cy="554944"/>
          </a:xfrm>
        </p:spPr>
        <p:txBody>
          <a:bodyPr/>
          <a:lstStyle/>
          <a:p>
            <a:br>
              <a:rPr lang="en-US" dirty="0">
                <a:ea typeface="ＭＳ Ｐゴシック" pitchFamily="34" charset="-128"/>
              </a:rPr>
            </a:br>
            <a:r>
              <a:rPr lang="en-US" dirty="0"/>
              <a:t>DSL </a:t>
            </a:r>
            <a:r>
              <a:rPr lang="en-US" sz="2000" dirty="0"/>
              <a:t>(</a:t>
            </a:r>
            <a:r>
              <a:rPr lang="da-DK" sz="2000" b="0" dirty="0"/>
              <a:t>Digital </a:t>
            </a:r>
            <a:r>
              <a:rPr lang="da-DK" sz="2000" b="0" dirty="0" err="1"/>
              <a:t>Subscriber</a:t>
            </a:r>
            <a:r>
              <a:rPr lang="da-DK" sz="2000" b="0" dirty="0"/>
              <a:t> Line)</a:t>
            </a:r>
            <a:endParaRPr lang="en-US" sz="2000" dirty="0"/>
          </a:p>
        </p:txBody>
      </p:sp>
      <p:sp>
        <p:nvSpPr>
          <p:cNvPr id="3" name="TextBox 2"/>
          <p:cNvSpPr txBox="1"/>
          <p:nvPr/>
        </p:nvSpPr>
        <p:spPr>
          <a:xfrm>
            <a:off x="-1" y="493762"/>
            <a:ext cx="4354287" cy="6001643"/>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pitchFamily="2" charset="2"/>
              <a:buChar char="§"/>
            </a:pPr>
            <a:r>
              <a:rPr lang="en-US" sz="2000" dirty="0"/>
              <a:t>Always-on connection technology that uses existing twisted-pair telephone lines to transport high-bandwidth data, and provides IP services to subscribers. </a:t>
            </a:r>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r>
              <a:rPr lang="en-US" sz="2000" dirty="0"/>
              <a:t>A DSL modem converts an Ethernet signal from the user device to a DSL signal, which is transmitted to the central office.</a:t>
            </a:r>
          </a:p>
        </p:txBody>
      </p:sp>
    </p:spTree>
    <p:extLst>
      <p:ext uri="{BB962C8B-B14F-4D97-AF65-F5344CB8AC3E}">
        <p14:creationId xmlns:p14="http://schemas.microsoft.com/office/powerpoint/2010/main" val="2134462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9964" y="1567543"/>
            <a:ext cx="6522722" cy="4520807"/>
          </a:xfrm>
          <a:prstGeom prst="rect">
            <a:avLst/>
          </a:prstGeom>
          <a:noFill/>
          <a:ln w="9525">
            <a:noFill/>
            <a:bevel/>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4339770" y="417513"/>
            <a:ext cx="4251779" cy="613001"/>
          </a:xfrm>
        </p:spPr>
        <p:txBody>
          <a:bodyPr/>
          <a:lstStyle/>
          <a:p>
            <a:br>
              <a:rPr lang="en-US" dirty="0">
                <a:ea typeface="ＭＳ Ｐゴシック" pitchFamily="34" charset="-128"/>
              </a:rPr>
            </a:br>
            <a:r>
              <a:rPr lang="en-US" dirty="0"/>
              <a:t>Cable</a:t>
            </a:r>
          </a:p>
        </p:txBody>
      </p:sp>
      <p:sp>
        <p:nvSpPr>
          <p:cNvPr id="3" name="TextBox 2"/>
          <p:cNvSpPr txBox="1"/>
          <p:nvPr/>
        </p:nvSpPr>
        <p:spPr>
          <a:xfrm>
            <a:off x="-20322" y="1567543"/>
            <a:ext cx="4020457" cy="4231928"/>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pitchFamily="2" charset="2"/>
              <a:buChar char="§"/>
            </a:pPr>
            <a:r>
              <a:rPr lang="en-US" sz="2000" dirty="0"/>
              <a:t>Network access is available from some cable television networks. </a:t>
            </a:r>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endParaRPr lang="en-US" sz="2000" dirty="0"/>
          </a:p>
          <a:p>
            <a:pPr algn="l" defTabSz="814388">
              <a:lnSpc>
                <a:spcPct val="95000"/>
              </a:lnSpc>
              <a:spcBef>
                <a:spcPct val="50000"/>
              </a:spcBef>
              <a:buClr>
                <a:srgbClr val="708CA1"/>
              </a:buClr>
            </a:pPr>
            <a:endParaRPr lang="en-US" sz="2000" dirty="0"/>
          </a:p>
          <a:p>
            <a:pPr algn="l" defTabSz="814388">
              <a:lnSpc>
                <a:spcPct val="95000"/>
              </a:lnSpc>
              <a:spcBef>
                <a:spcPct val="50000"/>
              </a:spcBef>
              <a:buClr>
                <a:srgbClr val="708CA1"/>
              </a:buClr>
            </a:pPr>
            <a:endParaRPr lang="en-US" sz="2000" dirty="0"/>
          </a:p>
          <a:p>
            <a:pPr marL="236538" indent="-236538" algn="l" defTabSz="814388">
              <a:lnSpc>
                <a:spcPct val="95000"/>
              </a:lnSpc>
              <a:spcBef>
                <a:spcPct val="50000"/>
              </a:spcBef>
              <a:buClr>
                <a:srgbClr val="708CA1"/>
              </a:buClr>
              <a:buFont typeface="Wingdings" pitchFamily="2" charset="2"/>
              <a:buChar char="§"/>
            </a:pPr>
            <a:r>
              <a:rPr lang="en-US" sz="2000" dirty="0"/>
              <a:t>Cable modems provide an always-on connection and a simple installation. </a:t>
            </a:r>
          </a:p>
        </p:txBody>
      </p:sp>
    </p:spTree>
    <p:extLst>
      <p:ext uri="{BB962C8B-B14F-4D97-AF65-F5344CB8AC3E}">
        <p14:creationId xmlns:p14="http://schemas.microsoft.com/office/powerpoint/2010/main" val="3544184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5846" y="1043733"/>
            <a:ext cx="6623012" cy="4689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4310741" y="88273"/>
            <a:ext cx="4251779" cy="838200"/>
          </a:xfrm>
        </p:spPr>
        <p:txBody>
          <a:bodyPr/>
          <a:lstStyle/>
          <a:p>
            <a:br>
              <a:rPr lang="en-US" dirty="0">
                <a:ea typeface="ＭＳ Ｐゴシック" pitchFamily="34" charset="-128"/>
              </a:rPr>
            </a:br>
            <a:r>
              <a:rPr lang="en-US" dirty="0"/>
              <a:t>Wireless</a:t>
            </a:r>
          </a:p>
        </p:txBody>
      </p:sp>
      <p:sp>
        <p:nvSpPr>
          <p:cNvPr id="3" name="TextBox 2"/>
          <p:cNvSpPr txBox="1"/>
          <p:nvPr/>
        </p:nvSpPr>
        <p:spPr>
          <a:xfrm>
            <a:off x="115224" y="857529"/>
            <a:ext cx="3310601" cy="5493812"/>
          </a:xfrm>
          <a:prstGeom prst="rect">
            <a:avLst/>
          </a:prstGeom>
          <a:noFill/>
        </p:spPr>
        <p:txBody>
          <a:bodyPr wrap="square" rtlCol="0">
            <a:spAutoFit/>
          </a:bodyPr>
          <a:lstStyle/>
          <a:p>
            <a:pPr algn="l"/>
            <a:r>
              <a:rPr lang="en-US" sz="2000" dirty="0"/>
              <a:t>New developments in broadband wireless technology:</a:t>
            </a:r>
          </a:p>
          <a:p>
            <a:pPr marL="236538" indent="-236538" algn="l" defTabSz="814388">
              <a:lnSpc>
                <a:spcPct val="95000"/>
              </a:lnSpc>
              <a:spcBef>
                <a:spcPct val="50000"/>
              </a:spcBef>
              <a:buClr>
                <a:srgbClr val="708CA1"/>
              </a:buClr>
              <a:buFont typeface="Wingdings" pitchFamily="2" charset="2"/>
              <a:buChar char="§"/>
            </a:pPr>
            <a:r>
              <a:rPr lang="en-US" sz="2000" b="1" dirty="0"/>
              <a:t>Municipal Wi-Fi</a:t>
            </a:r>
            <a:r>
              <a:rPr lang="en-US" sz="2000" dirty="0"/>
              <a:t> – Many cities have begun setting up municipal wireless</a:t>
            </a:r>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r>
              <a:rPr lang="en-US" sz="2000" b="1" dirty="0"/>
              <a:t>WiMAX</a:t>
            </a:r>
            <a:r>
              <a:rPr lang="en-US" sz="2000" dirty="0"/>
              <a:t> – Worldwide Interoperability for Microwave Access (WiMAX). </a:t>
            </a:r>
            <a:r>
              <a:rPr lang="en-US" sz="2000" dirty="0" err="1"/>
              <a:t>Teknologien</a:t>
            </a:r>
            <a:r>
              <a:rPr lang="en-US" sz="2000" dirty="0"/>
              <a:t> </a:t>
            </a:r>
            <a:r>
              <a:rPr lang="en-US" sz="2000" dirty="0" err="1"/>
              <a:t>måske</a:t>
            </a:r>
            <a:r>
              <a:rPr lang="en-US" sz="2000" dirty="0"/>
              <a:t> </a:t>
            </a:r>
            <a:r>
              <a:rPr lang="en-US" sz="2000" dirty="0" err="1"/>
              <a:t>overhalet</a:t>
            </a:r>
            <a:r>
              <a:rPr lang="en-US" sz="2000" dirty="0"/>
              <a:t> </a:t>
            </a:r>
            <a:r>
              <a:rPr lang="en-US" sz="2000" dirty="0" err="1"/>
              <a:t>indenom</a:t>
            </a:r>
            <a:r>
              <a:rPr lang="en-US" sz="2000" dirty="0"/>
              <a:t> </a:t>
            </a:r>
            <a:r>
              <a:rPr lang="en-US" sz="2000" dirty="0" err="1"/>
              <a:t>af</a:t>
            </a:r>
            <a:r>
              <a:rPr lang="en-US" sz="2000" dirty="0"/>
              <a:t> G3/G4?     </a:t>
            </a:r>
            <a:r>
              <a:rPr lang="en-US" sz="2000" i="1" dirty="0" err="1">
                <a:solidFill>
                  <a:srgbClr val="0070C0"/>
                </a:solidFill>
              </a:rPr>
              <a:t>Kan</a:t>
            </a:r>
            <a:r>
              <a:rPr lang="en-US" sz="2000" i="1" dirty="0">
                <a:solidFill>
                  <a:srgbClr val="0070C0"/>
                </a:solidFill>
              </a:rPr>
              <a:t> I </a:t>
            </a:r>
            <a:r>
              <a:rPr lang="en-US" sz="2000" i="1" dirty="0" err="1">
                <a:solidFill>
                  <a:srgbClr val="0070C0"/>
                </a:solidFill>
              </a:rPr>
              <a:t>huske</a:t>
            </a:r>
            <a:r>
              <a:rPr lang="en-US" sz="2000" i="1" dirty="0">
                <a:solidFill>
                  <a:srgbClr val="0070C0"/>
                </a:solidFill>
              </a:rPr>
              <a:t> Skyline?</a:t>
            </a:r>
          </a:p>
          <a:p>
            <a:pPr marL="236538" indent="-236538" algn="l" defTabSz="814388">
              <a:lnSpc>
                <a:spcPct val="95000"/>
              </a:lnSpc>
              <a:spcBef>
                <a:spcPct val="50000"/>
              </a:spcBef>
              <a:buClr>
                <a:srgbClr val="708CA1"/>
              </a:buClr>
              <a:buFont typeface="Wingdings" pitchFamily="2" charset="2"/>
              <a:buChar char="§"/>
            </a:pPr>
            <a:endParaRPr lang="en-US" sz="2000" dirty="0"/>
          </a:p>
          <a:p>
            <a:pPr marL="236538" indent="-236538" algn="l" defTabSz="814388">
              <a:lnSpc>
                <a:spcPct val="95000"/>
              </a:lnSpc>
              <a:spcBef>
                <a:spcPct val="50000"/>
              </a:spcBef>
              <a:buClr>
                <a:srgbClr val="708CA1"/>
              </a:buClr>
              <a:buFont typeface="Wingdings" pitchFamily="2" charset="2"/>
              <a:buChar char="§"/>
            </a:pPr>
            <a:r>
              <a:rPr lang="en-US" sz="2000" b="1" dirty="0"/>
              <a:t>Satellite Internet</a:t>
            </a:r>
            <a:r>
              <a:rPr lang="en-US" sz="2000" dirty="0"/>
              <a:t> </a:t>
            </a:r>
          </a:p>
        </p:txBody>
      </p:sp>
      <p:sp>
        <p:nvSpPr>
          <p:cNvPr id="4" name="Rektangel 3"/>
          <p:cNvSpPr/>
          <p:nvPr/>
        </p:nvSpPr>
        <p:spPr>
          <a:xfrm>
            <a:off x="4368799" y="3125817"/>
            <a:ext cx="2046515" cy="480131"/>
          </a:xfrm>
          <a:prstGeom prst="rect">
            <a:avLst/>
          </a:prstGeom>
        </p:spPr>
        <p:txBody>
          <a:bodyPr wrap="square">
            <a:spAutoFit/>
          </a:bodyPr>
          <a:lstStyle/>
          <a:p>
            <a:r>
              <a:rPr lang="da-DK" sz="1400" dirty="0">
                <a:solidFill>
                  <a:srgbClr val="FF00FF"/>
                </a:solidFill>
              </a:rPr>
              <a:t>radius på op til 50 km.</a:t>
            </a:r>
          </a:p>
          <a:p>
            <a:r>
              <a:rPr lang="da-DK" sz="1400" dirty="0" err="1">
                <a:solidFill>
                  <a:srgbClr val="FF00FF"/>
                </a:solidFill>
              </a:rPr>
              <a:t>Gbit</a:t>
            </a:r>
            <a:r>
              <a:rPr lang="da-DK" sz="1400" dirty="0">
                <a:solidFill>
                  <a:srgbClr val="FF00FF"/>
                </a:solidFill>
              </a:rPr>
              <a:t>/s hastigheder</a:t>
            </a:r>
          </a:p>
        </p:txBody>
      </p:sp>
    </p:spTree>
    <p:extLst>
      <p:ext uri="{BB962C8B-B14F-4D97-AF65-F5344CB8AC3E}">
        <p14:creationId xmlns:p14="http://schemas.microsoft.com/office/powerpoint/2010/main" val="2951259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143" y="3317606"/>
            <a:ext cx="8215086" cy="3685537"/>
          </a:xfrm>
          <a:prstGeom prst="rect">
            <a:avLst/>
          </a:prstGeom>
          <a:noFill/>
          <a:ln w="9525">
            <a:noFill/>
            <a:bevel/>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3280228" y="0"/>
            <a:ext cx="4440464" cy="838200"/>
          </a:xfrm>
        </p:spPr>
        <p:txBody>
          <a:bodyPr/>
          <a:lstStyle/>
          <a:p>
            <a:br>
              <a:rPr lang="en-US" dirty="0">
                <a:ea typeface="ＭＳ Ｐゴシック" pitchFamily="34" charset="-128"/>
              </a:rPr>
            </a:br>
            <a:r>
              <a:rPr lang="en-US" dirty="0"/>
              <a:t>3G/4G Cellular</a:t>
            </a:r>
          </a:p>
        </p:txBody>
      </p:sp>
      <p:sp>
        <p:nvSpPr>
          <p:cNvPr id="3" name="TextBox 2"/>
          <p:cNvSpPr txBox="1"/>
          <p:nvPr/>
        </p:nvSpPr>
        <p:spPr>
          <a:xfrm>
            <a:off x="0" y="803922"/>
            <a:ext cx="9022841" cy="3031599"/>
          </a:xfrm>
          <a:prstGeom prst="rect">
            <a:avLst/>
          </a:prstGeom>
          <a:noFill/>
        </p:spPr>
        <p:txBody>
          <a:bodyPr wrap="square" rtlCol="0">
            <a:spAutoFit/>
          </a:bodyPr>
          <a:lstStyle/>
          <a:p>
            <a:pPr marL="236538" indent="-236538" algn="l" defTabSz="814388">
              <a:lnSpc>
                <a:spcPct val="95000"/>
              </a:lnSpc>
              <a:spcBef>
                <a:spcPct val="50000"/>
              </a:spcBef>
              <a:buClr>
                <a:srgbClr val="708CA1"/>
              </a:buClr>
              <a:buFont typeface="Wingdings" pitchFamily="2" charset="2"/>
              <a:buChar char="§"/>
            </a:pPr>
            <a:r>
              <a:rPr lang="en-US" sz="2000" b="1" dirty="0"/>
              <a:t>3G/4G Wireless</a:t>
            </a:r>
            <a:r>
              <a:rPr lang="en-US" sz="2000" dirty="0"/>
              <a:t> – Abbreviation for 3rd generation and 4th generation cellular access. These technologies support wireless Internet access.</a:t>
            </a:r>
          </a:p>
          <a:p>
            <a:pPr marL="236538" indent="-236538" algn="l" defTabSz="814388">
              <a:lnSpc>
                <a:spcPct val="95000"/>
              </a:lnSpc>
              <a:spcBef>
                <a:spcPct val="50000"/>
              </a:spcBef>
              <a:buClr>
                <a:srgbClr val="708CA1"/>
              </a:buClr>
              <a:buFont typeface="Wingdings" pitchFamily="2" charset="2"/>
              <a:buChar char="§"/>
            </a:pPr>
            <a:r>
              <a:rPr lang="en-US" sz="2000" b="1" dirty="0"/>
              <a:t>Long-Term Evolution (LTE) </a:t>
            </a:r>
            <a:r>
              <a:rPr lang="en-US" sz="2000" dirty="0"/>
              <a:t>– A newer and faster technology, considered to be part of the 4th generation (4G) technology.</a:t>
            </a:r>
          </a:p>
          <a:p>
            <a:pPr marL="236538" indent="-236538" algn="l" defTabSz="814388">
              <a:lnSpc>
                <a:spcPct val="95000"/>
              </a:lnSpc>
              <a:spcBef>
                <a:spcPct val="50000"/>
              </a:spcBef>
              <a:buClr>
                <a:srgbClr val="708CA1"/>
              </a:buClr>
              <a:buFont typeface="Wingdings" pitchFamily="2" charset="2"/>
              <a:buChar char="§"/>
            </a:pPr>
            <a:r>
              <a:rPr lang="da-DK" sz="2000" i="1" dirty="0">
                <a:solidFill>
                  <a:srgbClr val="00B050"/>
                </a:solidFill>
              </a:rPr>
              <a:t>LTE er en overbygning til 3G-mobiltelefoni, som tilbyder markant højere datahastigheder (300 </a:t>
            </a:r>
            <a:r>
              <a:rPr lang="da-DK" sz="2000" i="1" dirty="0" err="1">
                <a:solidFill>
                  <a:srgbClr val="00B050"/>
                </a:solidFill>
              </a:rPr>
              <a:t>Mbps</a:t>
            </a:r>
            <a:r>
              <a:rPr lang="da-DK" sz="2000" i="1" dirty="0">
                <a:solidFill>
                  <a:srgbClr val="00B050"/>
                </a:solidFill>
              </a:rPr>
              <a:t> download). Til trods for at LTE markedsføres som 4G-netværk, så overholder de specificerede standarder for LTE i udgave 3GPP Release 8 og 9 ikke kravene til 4G opstillet af ITU-R-organisationen. </a:t>
            </a:r>
            <a:endParaRPr lang="en-US" sz="2000" i="1" dirty="0">
              <a:solidFill>
                <a:srgbClr val="00B050"/>
              </a:solidFill>
            </a:endParaRPr>
          </a:p>
        </p:txBody>
      </p:sp>
    </p:spTree>
    <p:extLst>
      <p:ext uri="{BB962C8B-B14F-4D97-AF65-F5344CB8AC3E}">
        <p14:creationId xmlns:p14="http://schemas.microsoft.com/office/powerpoint/2010/main" val="1008631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300801"/>
            <a:ext cx="9144000" cy="544150"/>
          </a:xfrm>
        </p:spPr>
        <p:txBody>
          <a:bodyPr/>
          <a:lstStyle/>
          <a:p>
            <a:r>
              <a:rPr lang="en-US" sz="3000"/>
              <a:t>Dense Wavelength Division Multiplexing</a:t>
            </a:r>
            <a:r>
              <a:rPr lang="en-US"/>
              <a:t> </a:t>
            </a:r>
            <a:r>
              <a:rPr lang="en-US" sz="2600"/>
              <a:t>(DWDM)</a:t>
            </a:r>
            <a:endParaRPr lang="da-DK" sz="2600"/>
          </a:p>
        </p:txBody>
      </p:sp>
      <p:sp>
        <p:nvSpPr>
          <p:cNvPr id="3" name="Pladsholder til indhold 2"/>
          <p:cNvSpPr>
            <a:spLocks noGrp="1"/>
          </p:cNvSpPr>
          <p:nvPr>
            <p:ph idx="1"/>
          </p:nvPr>
        </p:nvSpPr>
        <p:spPr>
          <a:xfrm>
            <a:off x="51954" y="4224595"/>
            <a:ext cx="9143999" cy="1944004"/>
          </a:xfrm>
        </p:spPr>
        <p:txBody>
          <a:bodyPr/>
          <a:lstStyle/>
          <a:p>
            <a:pPr marL="0" indent="0">
              <a:buNone/>
            </a:pPr>
            <a:r>
              <a:rPr lang="da-DK" sz="2300" i="1" dirty="0" err="1"/>
              <a:t>ISP’ernes</a:t>
            </a:r>
            <a:r>
              <a:rPr lang="da-DK" sz="2300" i="1" dirty="0"/>
              <a:t> netværk er </a:t>
            </a:r>
            <a:r>
              <a:rPr lang="da-DK" sz="2300" i="1" dirty="0" err="1"/>
              <a:t>komplexe</a:t>
            </a:r>
            <a:r>
              <a:rPr lang="da-DK" sz="2300" i="1" dirty="0"/>
              <a:t> og består mest af fiber-optiske medier med stor båndbredde. De to standarder ”</a:t>
            </a:r>
            <a:r>
              <a:rPr lang="da-DK" sz="2300" i="1" dirty="0" err="1"/>
              <a:t>Synchronous</a:t>
            </a:r>
            <a:r>
              <a:rPr lang="da-DK" sz="2300" i="1" dirty="0"/>
              <a:t> Optical Networking” (SONET) og ”</a:t>
            </a:r>
            <a:r>
              <a:rPr lang="da-DK" sz="2300" i="1" dirty="0" err="1"/>
              <a:t>Synchronous</a:t>
            </a:r>
            <a:r>
              <a:rPr lang="da-DK" sz="2300" i="1" dirty="0"/>
              <a:t> Digital </a:t>
            </a:r>
            <a:r>
              <a:rPr lang="da-DK" sz="2300" i="1" dirty="0" err="1"/>
              <a:t>Hierarchy</a:t>
            </a:r>
            <a:r>
              <a:rPr lang="da-DK" sz="2300" i="1" dirty="0"/>
              <a:t>” (SDH) </a:t>
            </a:r>
            <a:r>
              <a:rPr lang="da-DK" sz="2300" i="1" dirty="0">
                <a:solidFill>
                  <a:srgbClr val="FF00FF"/>
                </a:solidFill>
              </a:rPr>
              <a:t>definerer hvordan</a:t>
            </a:r>
            <a:r>
              <a:rPr lang="da-DK" sz="2300" i="1" dirty="0"/>
              <a:t> der kan overføres multiple data, </a:t>
            </a:r>
            <a:r>
              <a:rPr lang="da-DK" sz="2300" i="1" dirty="0" err="1"/>
              <a:t>voice</a:t>
            </a:r>
            <a:r>
              <a:rPr lang="da-DK" sz="2300" i="1" dirty="0"/>
              <a:t>, og video trafik samtidig.</a:t>
            </a:r>
            <a:endParaRPr lang="en-US" sz="2300" b="1" i="1"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6943" y="879410"/>
            <a:ext cx="4817057" cy="32351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ktangel 3"/>
          <p:cNvSpPr/>
          <p:nvPr/>
        </p:nvSpPr>
        <p:spPr>
          <a:xfrm>
            <a:off x="51954" y="955012"/>
            <a:ext cx="4326942" cy="3083921"/>
          </a:xfrm>
          <a:prstGeom prst="rect">
            <a:avLst/>
          </a:prstGeom>
        </p:spPr>
        <p:txBody>
          <a:bodyPr wrap="square">
            <a:spAutoFit/>
          </a:bodyPr>
          <a:lstStyle/>
          <a:p>
            <a:pPr marL="0" indent="0" algn="l">
              <a:buNone/>
            </a:pPr>
            <a:r>
              <a:rPr lang="en-US" dirty="0" err="1"/>
              <a:t>En</a:t>
            </a:r>
            <a:r>
              <a:rPr lang="en-US" dirty="0"/>
              <a:t> </a:t>
            </a:r>
            <a:r>
              <a:rPr lang="en-US" dirty="0" err="1"/>
              <a:t>forholdvis</a:t>
            </a:r>
            <a:r>
              <a:rPr lang="en-US" dirty="0"/>
              <a:t> </a:t>
            </a:r>
            <a:r>
              <a:rPr lang="en-US" dirty="0" err="1"/>
              <a:t>ny</a:t>
            </a:r>
            <a:r>
              <a:rPr lang="en-US" dirty="0"/>
              <a:t> </a:t>
            </a:r>
            <a:r>
              <a:rPr lang="en-US" dirty="0" err="1"/>
              <a:t>metode</a:t>
            </a:r>
            <a:r>
              <a:rPr lang="en-US" dirty="0"/>
              <a:t> </a:t>
            </a:r>
            <a:r>
              <a:rPr lang="en-US" dirty="0" err="1"/>
              <a:t>til</a:t>
            </a:r>
            <a:r>
              <a:rPr lang="en-US" dirty="0"/>
              <a:t> </a:t>
            </a:r>
            <a:r>
              <a:rPr lang="en-US" dirty="0" err="1"/>
              <a:t>lang</a:t>
            </a:r>
            <a:r>
              <a:rPr lang="en-US" dirty="0"/>
              <a:t>-distance </a:t>
            </a:r>
            <a:r>
              <a:rPr lang="en-US" dirty="0" err="1"/>
              <a:t>kommunikation</a:t>
            </a:r>
            <a:r>
              <a:rPr lang="en-US" dirty="0"/>
              <a:t>, </a:t>
            </a:r>
            <a:r>
              <a:rPr lang="en-US" dirty="0" err="1"/>
              <a:t>kaldes</a:t>
            </a:r>
            <a:r>
              <a:rPr lang="en-US" dirty="0"/>
              <a:t> “</a:t>
            </a:r>
            <a:r>
              <a:rPr lang="en-US" i="1" dirty="0"/>
              <a:t>Dense wavelength division multiplexing”         </a:t>
            </a:r>
            <a:r>
              <a:rPr lang="en-US" i="1" dirty="0">
                <a:solidFill>
                  <a:srgbClr val="FF0000"/>
                </a:solidFill>
              </a:rPr>
              <a:t>--</a:t>
            </a:r>
            <a:r>
              <a:rPr lang="en-US" dirty="0">
                <a:solidFill>
                  <a:srgbClr val="FF0000"/>
                </a:solidFill>
                <a:latin typeface="Arial"/>
                <a:cs typeface="Arial"/>
              </a:rPr>
              <a:t>→</a:t>
            </a:r>
            <a:r>
              <a:rPr lang="en-US" i="1" dirty="0">
                <a:solidFill>
                  <a:srgbClr val="FF0000"/>
                </a:solidFill>
                <a:latin typeface="Arial"/>
                <a:cs typeface="Arial"/>
              </a:rPr>
              <a:t> </a:t>
            </a:r>
            <a:r>
              <a:rPr lang="en-US" dirty="0"/>
              <a:t>(DWDM). </a:t>
            </a:r>
          </a:p>
          <a:p>
            <a:pPr marL="0" indent="0" algn="l">
              <a:buNone/>
            </a:pPr>
            <a:endParaRPr lang="en-US" dirty="0"/>
          </a:p>
          <a:p>
            <a:pPr marL="0" indent="0" algn="l">
              <a:buNone/>
            </a:pPr>
            <a:r>
              <a:rPr lang="en-US" dirty="0"/>
              <a:t>DWDM </a:t>
            </a:r>
            <a:r>
              <a:rPr lang="en-US" dirty="0" err="1"/>
              <a:t>mangedobler</a:t>
            </a:r>
            <a:r>
              <a:rPr lang="en-US" dirty="0"/>
              <a:t> den </a:t>
            </a:r>
            <a:r>
              <a:rPr lang="en-US" dirty="0" err="1"/>
              <a:t>båndbredde</a:t>
            </a:r>
            <a:r>
              <a:rPr lang="en-US" dirty="0"/>
              <a:t> </a:t>
            </a:r>
            <a:r>
              <a:rPr lang="en-US" dirty="0" err="1"/>
              <a:t>en</a:t>
            </a:r>
            <a:r>
              <a:rPr lang="en-US" dirty="0"/>
              <a:t> </a:t>
            </a:r>
            <a:r>
              <a:rPr lang="en-US" dirty="0" err="1"/>
              <a:t>enkelt</a:t>
            </a:r>
            <a:r>
              <a:rPr lang="en-US" dirty="0"/>
              <a:t> fiber </a:t>
            </a:r>
            <a:r>
              <a:rPr lang="en-US" dirty="0" err="1"/>
              <a:t>kan</a:t>
            </a:r>
            <a:r>
              <a:rPr lang="en-US" dirty="0"/>
              <a:t> </a:t>
            </a:r>
            <a:r>
              <a:rPr lang="en-US" dirty="0" err="1"/>
              <a:t>håndtere</a:t>
            </a:r>
            <a:r>
              <a:rPr lang="en-US" dirty="0"/>
              <a:t>.</a:t>
            </a:r>
          </a:p>
        </p:txBody>
      </p:sp>
      <p:sp>
        <p:nvSpPr>
          <p:cNvPr id="5" name="Rektangel 4"/>
          <p:cNvSpPr/>
          <p:nvPr/>
        </p:nvSpPr>
        <p:spPr>
          <a:xfrm>
            <a:off x="3426105" y="5623834"/>
            <a:ext cx="5717895" cy="1089529"/>
          </a:xfrm>
          <a:prstGeom prst="rect">
            <a:avLst/>
          </a:prstGeom>
        </p:spPr>
        <p:txBody>
          <a:bodyPr wrap="square">
            <a:spAutoFit/>
          </a:bodyPr>
          <a:lstStyle/>
          <a:p>
            <a:pPr marL="0" indent="0" algn="l">
              <a:buNone/>
            </a:pPr>
            <a:r>
              <a:rPr lang="en-US" b="1" i="1" dirty="0"/>
              <a:t>Note: </a:t>
            </a:r>
            <a:r>
              <a:rPr lang="en-US" i="1" dirty="0"/>
              <a:t>SONET </a:t>
            </a:r>
            <a:r>
              <a:rPr lang="en-US" i="1" dirty="0" err="1"/>
              <a:t>er</a:t>
            </a:r>
            <a:r>
              <a:rPr lang="en-US" i="1" dirty="0"/>
              <a:t> US standard, </a:t>
            </a:r>
            <a:r>
              <a:rPr lang="en-US" i="1" dirty="0" err="1"/>
              <a:t>mens</a:t>
            </a:r>
            <a:r>
              <a:rPr lang="en-US" i="1" dirty="0"/>
              <a:t> SDH </a:t>
            </a:r>
            <a:r>
              <a:rPr lang="en-US" i="1" dirty="0" err="1"/>
              <a:t>er</a:t>
            </a:r>
            <a:r>
              <a:rPr lang="en-US" i="1" dirty="0"/>
              <a:t> EU standard. Men </a:t>
            </a:r>
            <a:r>
              <a:rPr lang="en-US" i="1" dirty="0" err="1"/>
              <a:t>egentlig</a:t>
            </a:r>
            <a:r>
              <a:rPr lang="en-US" i="1" dirty="0"/>
              <a:t> </a:t>
            </a:r>
            <a:r>
              <a:rPr lang="en-US" i="1" dirty="0" err="1"/>
              <a:t>det</a:t>
            </a:r>
            <a:r>
              <a:rPr lang="en-US" i="1" dirty="0"/>
              <a:t> </a:t>
            </a:r>
            <a:r>
              <a:rPr lang="en-US" i="1" dirty="0" err="1"/>
              <a:t>samme</a:t>
            </a:r>
            <a:r>
              <a:rPr lang="en-US" i="1" dirty="0"/>
              <a:t> </a:t>
            </a:r>
            <a:r>
              <a:rPr lang="en-US" i="1" dirty="0" err="1"/>
              <a:t>og</a:t>
            </a:r>
            <a:r>
              <a:rPr lang="en-US" i="1" dirty="0"/>
              <a:t> </a:t>
            </a:r>
            <a:r>
              <a:rPr lang="en-US" i="1" dirty="0" err="1"/>
              <a:t>benævnes</a:t>
            </a:r>
            <a:r>
              <a:rPr lang="en-US" i="1" dirty="0"/>
              <a:t> </a:t>
            </a:r>
            <a:r>
              <a:rPr lang="en-US" i="1" dirty="0" err="1"/>
              <a:t>ofte</a:t>
            </a:r>
            <a:r>
              <a:rPr lang="en-US" i="1" dirty="0"/>
              <a:t> SONET/SDH</a:t>
            </a:r>
            <a:r>
              <a:rPr lang="en-US" dirty="0"/>
              <a:t>.</a:t>
            </a:r>
          </a:p>
        </p:txBody>
      </p:sp>
    </p:spTree>
    <p:extLst>
      <p:ext uri="{BB962C8B-B14F-4D97-AF65-F5344CB8AC3E}">
        <p14:creationId xmlns:p14="http://schemas.microsoft.com/office/powerpoint/2010/main" val="2179135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300801"/>
            <a:ext cx="9144000" cy="544150"/>
          </a:xfrm>
        </p:spPr>
        <p:txBody>
          <a:bodyPr/>
          <a:lstStyle/>
          <a:p>
            <a:r>
              <a:rPr lang="en-US" sz="3000"/>
              <a:t>Dense Wavelength Division Multiplexing</a:t>
            </a:r>
            <a:r>
              <a:rPr lang="en-US"/>
              <a:t> </a:t>
            </a:r>
            <a:r>
              <a:rPr lang="en-US" sz="2600"/>
              <a:t>(DWDM)</a:t>
            </a:r>
            <a:endParaRPr lang="da-DK" sz="2600"/>
          </a:p>
        </p:txBody>
      </p:sp>
      <p:sp>
        <p:nvSpPr>
          <p:cNvPr id="3" name="Pladsholder til indhold 2"/>
          <p:cNvSpPr>
            <a:spLocks noGrp="1"/>
          </p:cNvSpPr>
          <p:nvPr>
            <p:ph idx="1"/>
          </p:nvPr>
        </p:nvSpPr>
        <p:spPr>
          <a:xfrm>
            <a:off x="0" y="857071"/>
            <a:ext cx="9144000" cy="2557462"/>
          </a:xfrm>
        </p:spPr>
        <p:txBody>
          <a:bodyPr/>
          <a:lstStyle/>
          <a:p>
            <a:pPr marL="0" indent="0">
              <a:buNone/>
            </a:pPr>
            <a:r>
              <a:rPr lang="en-US" dirty="0"/>
              <a:t>There are several ways that DWDM enables long-range communication:</a:t>
            </a:r>
          </a:p>
          <a:p>
            <a:r>
              <a:rPr lang="en-US" sz="2000" dirty="0"/>
              <a:t>Enables </a:t>
            </a:r>
            <a:r>
              <a:rPr lang="en-US" sz="2000" dirty="0">
                <a:solidFill>
                  <a:srgbClr val="FF00FF"/>
                </a:solidFill>
              </a:rPr>
              <a:t>bidirectional communications over one strand of fiber</a:t>
            </a:r>
            <a:r>
              <a:rPr lang="en-US" sz="2000" dirty="0"/>
              <a:t>. </a:t>
            </a:r>
          </a:p>
          <a:p>
            <a:r>
              <a:rPr lang="en-US" sz="2000" dirty="0"/>
              <a:t>Each channel is capable of carrying </a:t>
            </a:r>
            <a:r>
              <a:rPr lang="en-US" sz="2000"/>
              <a:t>a 100 </a:t>
            </a:r>
            <a:r>
              <a:rPr lang="en-US" sz="2000" dirty="0"/>
              <a:t>Gb/s multiplexed signal. </a:t>
            </a:r>
          </a:p>
          <a:p>
            <a:r>
              <a:rPr lang="en-US" sz="2000" dirty="0"/>
              <a:t>Can multiplex more </a:t>
            </a:r>
            <a:r>
              <a:rPr lang="en-US" sz="2000"/>
              <a:t>than 192 </a:t>
            </a:r>
            <a:r>
              <a:rPr lang="en-US" sz="2000" dirty="0"/>
              <a:t>different channels of data (i.e., wavelengths) onto a single </a:t>
            </a:r>
            <a:r>
              <a:rPr lang="en-US" sz="2000"/>
              <a:t>fiber (=&gt;19.200 Gb/s) [pr. 2019]</a:t>
            </a:r>
            <a:endParaRPr lang="en-US" sz="2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3899" y="3273854"/>
            <a:ext cx="5440101" cy="35841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ktangel 3"/>
          <p:cNvSpPr/>
          <p:nvPr/>
        </p:nvSpPr>
        <p:spPr>
          <a:xfrm>
            <a:off x="249382" y="4563346"/>
            <a:ext cx="2905246" cy="1920526"/>
          </a:xfrm>
          <a:prstGeom prst="rect">
            <a:avLst/>
          </a:prstGeom>
        </p:spPr>
        <p:txBody>
          <a:bodyPr wrap="square">
            <a:spAutoFit/>
          </a:bodyPr>
          <a:lstStyle/>
          <a:p>
            <a:pPr algn="l"/>
            <a:r>
              <a:rPr lang="en-US" sz="2200" i="1" dirty="0"/>
              <a:t>DWDM </a:t>
            </a:r>
            <a:r>
              <a:rPr lang="en-US" sz="2200" i="1" dirty="0" err="1"/>
              <a:t>bruges</a:t>
            </a:r>
            <a:r>
              <a:rPr lang="en-US" sz="2200" i="1" dirty="0"/>
              <a:t> </a:t>
            </a:r>
            <a:r>
              <a:rPr lang="en-US" sz="2200" i="1" dirty="0" err="1"/>
              <a:t>i</a:t>
            </a:r>
            <a:r>
              <a:rPr lang="en-US" sz="2200" i="1" dirty="0"/>
              <a:t> </a:t>
            </a:r>
            <a:r>
              <a:rPr lang="en-US" sz="2200" i="1" dirty="0" err="1"/>
              <a:t>alle</a:t>
            </a:r>
            <a:r>
              <a:rPr lang="en-US" sz="2200" i="1" dirty="0"/>
              <a:t> </a:t>
            </a:r>
            <a:r>
              <a:rPr lang="en-US" sz="2200" i="1" dirty="0" err="1"/>
              <a:t>moderne</a:t>
            </a:r>
            <a:r>
              <a:rPr lang="en-US" sz="2200" i="1" dirty="0"/>
              <a:t> </a:t>
            </a:r>
            <a:r>
              <a:rPr lang="en-US" sz="2200" i="1" dirty="0" err="1"/>
              <a:t>sø-kabel</a:t>
            </a:r>
            <a:r>
              <a:rPr lang="en-US" sz="2200" i="1" dirty="0"/>
              <a:t> </a:t>
            </a:r>
            <a:r>
              <a:rPr lang="en-US" sz="2200" i="1" dirty="0" err="1"/>
              <a:t>systemer</a:t>
            </a:r>
            <a:r>
              <a:rPr lang="en-US" sz="2200" i="1" dirty="0"/>
              <a:t> </a:t>
            </a:r>
            <a:r>
              <a:rPr lang="en-US" sz="2200" i="1" dirty="0" err="1"/>
              <a:t>og</a:t>
            </a:r>
            <a:r>
              <a:rPr lang="en-US" sz="2200" i="1" dirty="0"/>
              <a:t> </a:t>
            </a:r>
            <a:r>
              <a:rPr lang="en-US" sz="2200" i="1" dirty="0" err="1"/>
              <a:t>andre</a:t>
            </a:r>
            <a:r>
              <a:rPr lang="en-US" sz="2200" i="1" dirty="0"/>
              <a:t> </a:t>
            </a:r>
            <a:r>
              <a:rPr lang="en-US" sz="2200" i="1" dirty="0" err="1"/>
              <a:t>lang</a:t>
            </a:r>
            <a:r>
              <a:rPr lang="en-US" sz="2200" i="1" dirty="0"/>
              <a:t>-distance </a:t>
            </a:r>
            <a:r>
              <a:rPr lang="en-US" sz="2200" i="1" dirty="0" err="1"/>
              <a:t>kredsløb</a:t>
            </a:r>
            <a:r>
              <a:rPr lang="en-US" sz="2200" i="1" dirty="0"/>
              <a:t>, </a:t>
            </a:r>
            <a:r>
              <a:rPr lang="en-US" sz="2200" i="1" dirty="0" err="1"/>
              <a:t>som</a:t>
            </a:r>
            <a:r>
              <a:rPr lang="en-US" sz="2200" i="1" dirty="0"/>
              <a:t> </a:t>
            </a:r>
            <a:r>
              <a:rPr lang="en-US" sz="2200" i="1" dirty="0" err="1"/>
              <a:t>figuren</a:t>
            </a:r>
            <a:r>
              <a:rPr lang="en-US" sz="2200" i="1" dirty="0"/>
              <a:t> </a:t>
            </a:r>
            <a:r>
              <a:rPr lang="en-US" sz="2200" i="1" dirty="0" err="1"/>
              <a:t>skulle</a:t>
            </a:r>
            <a:r>
              <a:rPr lang="en-US" sz="2200" i="1" dirty="0"/>
              <a:t> vise </a:t>
            </a:r>
            <a:r>
              <a:rPr lang="en-US" sz="2200" i="1" dirty="0">
                <a:sym typeface="Wingdings" panose="05000000000000000000" pitchFamily="2" charset="2"/>
              </a:rPr>
              <a:t></a:t>
            </a:r>
            <a:endParaRPr lang="da-DK" dirty="0"/>
          </a:p>
        </p:txBody>
      </p:sp>
      <p:sp>
        <p:nvSpPr>
          <p:cNvPr id="5" name="Rektangel 4"/>
          <p:cNvSpPr/>
          <p:nvPr/>
        </p:nvSpPr>
        <p:spPr>
          <a:xfrm>
            <a:off x="341453" y="3529995"/>
            <a:ext cx="2563793" cy="646331"/>
          </a:xfrm>
          <a:prstGeom prst="rect">
            <a:avLst/>
          </a:prstGeom>
        </p:spPr>
        <p:txBody>
          <a:bodyPr wrap="square">
            <a:spAutoFit/>
          </a:bodyPr>
          <a:lstStyle/>
          <a:p>
            <a:pPr algn="l"/>
            <a:r>
              <a:rPr lang="en-US" sz="2000"/>
              <a:t>Supports SONET and SDH standards.</a:t>
            </a:r>
            <a:endParaRPr lang="da-DK" sz="2000"/>
          </a:p>
        </p:txBody>
      </p:sp>
    </p:spTree>
    <p:extLst>
      <p:ext uri="{BB962C8B-B14F-4D97-AF65-F5344CB8AC3E}">
        <p14:creationId xmlns:p14="http://schemas.microsoft.com/office/powerpoint/2010/main" val="3629312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9144002" cy="838200"/>
          </a:xfrm>
        </p:spPr>
        <p:txBody>
          <a:bodyPr/>
          <a:lstStyle/>
          <a:p>
            <a:br>
              <a:rPr lang="en-US" dirty="0">
                <a:ea typeface="ＭＳ Ｐゴシック" pitchFamily="34" charset="-128"/>
              </a:rPr>
            </a:br>
            <a:r>
              <a:rPr lang="en-US" dirty="0"/>
              <a:t>VPN Technology </a:t>
            </a:r>
            <a:r>
              <a:rPr lang="en-US" sz="2800" dirty="0"/>
              <a:t>(</a:t>
            </a:r>
            <a:r>
              <a:rPr lang="en-US" sz="2800" dirty="0" err="1"/>
              <a:t>modul</a:t>
            </a:r>
            <a:r>
              <a:rPr lang="en-US" sz="2800" dirty="0"/>
              <a:t> 8)</a:t>
            </a:r>
          </a:p>
        </p:txBody>
      </p:sp>
      <p:pic>
        <p:nvPicPr>
          <p:cNvPr id="2150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6058" y="1714014"/>
            <a:ext cx="6037944" cy="4701300"/>
          </a:xfrm>
          <a:prstGeom prst="rect">
            <a:avLst/>
          </a:prstGeom>
          <a:noFill/>
          <a:ln w="9525">
            <a:noFill/>
            <a:bevel/>
            <a:headEnd/>
            <a:tailEnd/>
          </a:ln>
          <a:extLst>
            <a:ext uri="{909E8E84-426E-40DD-AFC4-6F175D3DCCD1}">
              <a14:hiddenFill xmlns:a14="http://schemas.microsoft.com/office/drawing/2010/main">
                <a:solidFill>
                  <a:schemeClr val="accent1"/>
                </a:solidFill>
              </a14:hiddenFill>
            </a:ext>
          </a:extLst>
        </p:spPr>
      </p:pic>
      <p:sp>
        <p:nvSpPr>
          <p:cNvPr id="4" name="Rectangle 3"/>
          <p:cNvSpPr/>
          <p:nvPr/>
        </p:nvSpPr>
        <p:spPr>
          <a:xfrm>
            <a:off x="174172" y="931458"/>
            <a:ext cx="4441371" cy="5016758"/>
          </a:xfrm>
          <a:prstGeom prst="rect">
            <a:avLst/>
          </a:prstGeom>
        </p:spPr>
        <p:txBody>
          <a:bodyPr wrap="square">
            <a:spAutoFit/>
          </a:bodyPr>
          <a:lstStyle/>
          <a:p>
            <a:pPr algn="l">
              <a:spcBef>
                <a:spcPts val="600"/>
              </a:spcBef>
            </a:pPr>
            <a:r>
              <a:rPr lang="en-US" sz="2000" dirty="0"/>
              <a:t>VPN is an encrypted connection between private networks over a public network.</a:t>
            </a:r>
          </a:p>
          <a:p>
            <a:pPr algn="l">
              <a:spcBef>
                <a:spcPts val="600"/>
              </a:spcBef>
            </a:pPr>
            <a:endParaRPr lang="en-US" sz="2000" dirty="0"/>
          </a:p>
          <a:p>
            <a:pPr algn="l">
              <a:spcBef>
                <a:spcPts val="600"/>
              </a:spcBef>
            </a:pPr>
            <a:r>
              <a:rPr lang="en-US" sz="2000" dirty="0"/>
              <a:t>Benefits:</a:t>
            </a:r>
          </a:p>
          <a:p>
            <a:pPr marL="236538" indent="-236538" algn="l" defTabSz="814388">
              <a:lnSpc>
                <a:spcPct val="95000"/>
              </a:lnSpc>
              <a:spcBef>
                <a:spcPts val="600"/>
              </a:spcBef>
              <a:buClr>
                <a:srgbClr val="708CA1"/>
              </a:buClr>
              <a:buFont typeface="Wingdings" pitchFamily="2" charset="2"/>
              <a:buChar char="§"/>
            </a:pPr>
            <a:r>
              <a:rPr lang="en-US" sz="2000" dirty="0"/>
              <a:t>Cost savings </a:t>
            </a:r>
          </a:p>
          <a:p>
            <a:pPr marL="236538" indent="-236538" algn="l" defTabSz="814388">
              <a:lnSpc>
                <a:spcPct val="95000"/>
              </a:lnSpc>
              <a:spcBef>
                <a:spcPct val="50000"/>
              </a:spcBef>
              <a:buClr>
                <a:srgbClr val="708CA1"/>
              </a:buClr>
              <a:buFont typeface="Wingdings" pitchFamily="2" charset="2"/>
              <a:buChar char="§"/>
            </a:pPr>
            <a:r>
              <a:rPr lang="en-US" sz="2000" dirty="0"/>
              <a:t>Security </a:t>
            </a:r>
          </a:p>
          <a:p>
            <a:pPr marL="236538" indent="-236538" algn="l" defTabSz="814388">
              <a:lnSpc>
                <a:spcPct val="95000"/>
              </a:lnSpc>
              <a:spcBef>
                <a:spcPts val="600"/>
              </a:spcBef>
              <a:buClr>
                <a:srgbClr val="708CA1"/>
              </a:buClr>
              <a:buFont typeface="Wingdings" pitchFamily="2" charset="2"/>
              <a:buChar char="§"/>
            </a:pPr>
            <a:r>
              <a:rPr lang="en-US" sz="2000" dirty="0"/>
              <a:t>Scalability </a:t>
            </a:r>
          </a:p>
          <a:p>
            <a:pPr marL="236538" indent="-236538" algn="l" defTabSz="814388">
              <a:lnSpc>
                <a:spcPct val="95000"/>
              </a:lnSpc>
              <a:spcBef>
                <a:spcPts val="600"/>
              </a:spcBef>
              <a:buClr>
                <a:srgbClr val="708CA1"/>
              </a:buClr>
              <a:buFont typeface="Wingdings" pitchFamily="2" charset="2"/>
              <a:buChar char="§"/>
            </a:pPr>
            <a:r>
              <a:rPr lang="en-US" sz="2000" dirty="0"/>
              <a:t>Compatibility with broadband technology </a:t>
            </a:r>
          </a:p>
          <a:p>
            <a:pPr marL="236538" indent="-236538" algn="l" defTabSz="814388">
              <a:lnSpc>
                <a:spcPct val="95000"/>
              </a:lnSpc>
              <a:spcBef>
                <a:spcPts val="600"/>
              </a:spcBef>
              <a:buClr>
                <a:srgbClr val="708CA1"/>
              </a:buClr>
            </a:pPr>
            <a:endParaRPr lang="en-US" sz="2000" dirty="0"/>
          </a:p>
          <a:p>
            <a:pPr algn="l">
              <a:spcBef>
                <a:spcPts val="600"/>
              </a:spcBef>
            </a:pPr>
            <a:r>
              <a:rPr lang="en-US" sz="2000" dirty="0"/>
              <a:t>Two types of VPN:</a:t>
            </a:r>
          </a:p>
          <a:p>
            <a:pPr marL="236538" indent="-236538" algn="l" defTabSz="814388">
              <a:lnSpc>
                <a:spcPct val="95000"/>
              </a:lnSpc>
              <a:spcBef>
                <a:spcPts val="600"/>
              </a:spcBef>
              <a:buClr>
                <a:srgbClr val="708CA1"/>
              </a:buClr>
              <a:buFont typeface="Wingdings" pitchFamily="2" charset="2"/>
              <a:buChar char="§"/>
            </a:pPr>
            <a:r>
              <a:rPr lang="en-US" sz="2000" dirty="0">
                <a:solidFill>
                  <a:srgbClr val="C00000"/>
                </a:solidFill>
              </a:rPr>
              <a:t>Site-to-site VPNs </a:t>
            </a:r>
          </a:p>
          <a:p>
            <a:pPr marL="236538" indent="-236538" algn="l" defTabSz="814388">
              <a:lnSpc>
                <a:spcPct val="95000"/>
              </a:lnSpc>
              <a:spcBef>
                <a:spcPct val="50000"/>
              </a:spcBef>
              <a:buClr>
                <a:srgbClr val="708CA1"/>
              </a:buClr>
              <a:buFont typeface="Wingdings" pitchFamily="2" charset="2"/>
              <a:buChar char="§"/>
            </a:pPr>
            <a:r>
              <a:rPr lang="en-US" sz="2000" dirty="0">
                <a:solidFill>
                  <a:srgbClr val="C00000"/>
                </a:solidFill>
              </a:rPr>
              <a:t>Remote-access VPNs</a:t>
            </a:r>
            <a:r>
              <a:rPr lang="en-US" sz="2000" dirty="0"/>
              <a:t> </a:t>
            </a:r>
          </a:p>
        </p:txBody>
      </p:sp>
    </p:spTree>
    <p:extLst>
      <p:ext uri="{BB962C8B-B14F-4D97-AF65-F5344CB8AC3E}">
        <p14:creationId xmlns:p14="http://schemas.microsoft.com/office/powerpoint/2010/main" val="3247712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838" y="0"/>
            <a:ext cx="8145462" cy="838200"/>
          </a:xfrm>
        </p:spPr>
        <p:txBody>
          <a:bodyPr/>
          <a:lstStyle/>
          <a:p>
            <a:br>
              <a:rPr lang="en-US" dirty="0">
                <a:ea typeface="ＭＳ Ｐゴシック" pitchFamily="34" charset="-128"/>
              </a:rPr>
            </a:br>
            <a:r>
              <a:rPr lang="en-US" dirty="0"/>
              <a:t>Choosing a WAN Link Connection</a:t>
            </a:r>
          </a:p>
        </p:txBody>
      </p:sp>
      <p:sp>
        <p:nvSpPr>
          <p:cNvPr id="3" name="TextBox 2"/>
          <p:cNvSpPr txBox="1"/>
          <p:nvPr/>
        </p:nvSpPr>
        <p:spPr>
          <a:xfrm>
            <a:off x="159657" y="1409700"/>
            <a:ext cx="8853714" cy="2942344"/>
          </a:xfrm>
          <a:prstGeom prst="rect">
            <a:avLst/>
          </a:prstGeom>
          <a:noFill/>
        </p:spPr>
        <p:txBody>
          <a:bodyPr wrap="square" rtlCol="0">
            <a:spAutoFit/>
          </a:bodyPr>
          <a:lstStyle/>
          <a:p>
            <a:pPr algn="l"/>
            <a:r>
              <a:rPr lang="en-US" dirty="0" err="1"/>
              <a:t>Når</a:t>
            </a:r>
            <a:r>
              <a:rPr lang="en-US" dirty="0"/>
              <a:t> du </a:t>
            </a:r>
            <a:r>
              <a:rPr lang="en-US" dirty="0" err="1"/>
              <a:t>skal</a:t>
            </a:r>
            <a:r>
              <a:rPr lang="en-US" dirty="0"/>
              <a:t> </a:t>
            </a:r>
            <a:r>
              <a:rPr lang="en-US" dirty="0" err="1"/>
              <a:t>vælge</a:t>
            </a:r>
            <a:r>
              <a:rPr lang="en-US" dirty="0"/>
              <a:t> </a:t>
            </a:r>
            <a:r>
              <a:rPr lang="en-US" dirty="0" err="1"/>
              <a:t>en</a:t>
            </a:r>
            <a:r>
              <a:rPr lang="en-US" dirty="0"/>
              <a:t> WAN </a:t>
            </a:r>
            <a:r>
              <a:rPr lang="en-US" dirty="0" err="1"/>
              <a:t>forbindelse</a:t>
            </a:r>
            <a:r>
              <a:rPr lang="en-US" dirty="0"/>
              <a:t>, </a:t>
            </a:r>
            <a:r>
              <a:rPr lang="en-US" dirty="0" err="1"/>
              <a:t>så</a:t>
            </a:r>
            <a:r>
              <a:rPr lang="en-US" dirty="0"/>
              <a:t> </a:t>
            </a:r>
            <a:r>
              <a:rPr lang="en-US" dirty="0" err="1"/>
              <a:t>spørg</a:t>
            </a:r>
            <a:r>
              <a:rPr lang="en-US" dirty="0"/>
              <a:t> dig </a:t>
            </a:r>
            <a:r>
              <a:rPr lang="en-US" dirty="0" err="1"/>
              <a:t>selv</a:t>
            </a:r>
            <a:r>
              <a:rPr lang="en-US" dirty="0"/>
              <a:t> om </a:t>
            </a:r>
            <a:r>
              <a:rPr lang="en-US" dirty="0" err="1"/>
              <a:t>følgende</a:t>
            </a:r>
            <a:r>
              <a:rPr lang="en-US" dirty="0"/>
              <a:t>:</a:t>
            </a:r>
          </a:p>
          <a:p>
            <a:pPr algn="l"/>
            <a:endParaRPr lang="en-US" sz="2000" dirty="0"/>
          </a:p>
          <a:p>
            <a:pPr marL="236538" indent="-236538" algn="l" defTabSz="814388">
              <a:lnSpc>
                <a:spcPct val="95000"/>
              </a:lnSpc>
              <a:spcBef>
                <a:spcPct val="50000"/>
              </a:spcBef>
              <a:buClr>
                <a:srgbClr val="708CA1"/>
              </a:buClr>
              <a:buFont typeface="Wingdings" pitchFamily="2" charset="2"/>
              <a:buChar char="§"/>
            </a:pPr>
            <a:r>
              <a:rPr lang="en-US" sz="2000" dirty="0" err="1"/>
              <a:t>Hvad</a:t>
            </a:r>
            <a:r>
              <a:rPr lang="en-US" sz="2000" dirty="0"/>
              <a:t> </a:t>
            </a:r>
            <a:r>
              <a:rPr lang="en-US" sz="2000" dirty="0" err="1"/>
              <a:t>skal</a:t>
            </a:r>
            <a:r>
              <a:rPr lang="en-US" sz="2000" dirty="0"/>
              <a:t> WAN </a:t>
            </a:r>
            <a:r>
              <a:rPr lang="en-US" sz="2000" dirty="0" err="1"/>
              <a:t>linket</a:t>
            </a:r>
            <a:r>
              <a:rPr lang="en-US" sz="2000" dirty="0"/>
              <a:t> </a:t>
            </a:r>
            <a:r>
              <a:rPr lang="en-US" sz="2000" dirty="0" err="1"/>
              <a:t>bruges</a:t>
            </a:r>
            <a:r>
              <a:rPr lang="en-US" sz="2000" dirty="0"/>
              <a:t> </a:t>
            </a:r>
            <a:r>
              <a:rPr lang="en-US" sz="2000" dirty="0" err="1"/>
              <a:t>til</a:t>
            </a:r>
            <a:r>
              <a:rPr lang="en-US" sz="2000" dirty="0"/>
              <a:t>?</a:t>
            </a:r>
          </a:p>
          <a:p>
            <a:pPr marL="236538" indent="-236538" algn="l" defTabSz="814388">
              <a:lnSpc>
                <a:spcPct val="95000"/>
              </a:lnSpc>
              <a:spcBef>
                <a:spcPct val="50000"/>
              </a:spcBef>
              <a:buClr>
                <a:srgbClr val="708CA1"/>
              </a:buClr>
              <a:buFont typeface="Wingdings" pitchFamily="2" charset="2"/>
              <a:buChar char="§"/>
            </a:pPr>
            <a:r>
              <a:rPr lang="en-US" sz="2000" dirty="0" err="1"/>
              <a:t>Hvor</a:t>
            </a:r>
            <a:r>
              <a:rPr lang="en-US" sz="2000" dirty="0"/>
              <a:t> store </a:t>
            </a:r>
            <a:r>
              <a:rPr lang="en-US" sz="2000" dirty="0" err="1"/>
              <a:t>afstande</a:t>
            </a:r>
            <a:r>
              <a:rPr lang="en-US" sz="2000" dirty="0"/>
              <a:t> </a:t>
            </a:r>
            <a:r>
              <a:rPr lang="en-US" sz="2000" dirty="0" err="1"/>
              <a:t>er</a:t>
            </a:r>
            <a:r>
              <a:rPr lang="en-US" sz="2000" dirty="0"/>
              <a:t> der </a:t>
            </a:r>
            <a:r>
              <a:rPr lang="en-US" sz="2000" dirty="0" err="1"/>
              <a:t>mellem</a:t>
            </a:r>
            <a:r>
              <a:rPr lang="en-US" sz="2000" dirty="0"/>
              <a:t> </a:t>
            </a:r>
            <a:r>
              <a:rPr lang="en-US" sz="2000" dirty="0" err="1"/>
              <a:t>lokationerne</a:t>
            </a:r>
            <a:r>
              <a:rPr lang="en-US" sz="2000" dirty="0"/>
              <a:t> der </a:t>
            </a:r>
            <a:r>
              <a:rPr lang="en-US" sz="2000" dirty="0" err="1"/>
              <a:t>skal</a:t>
            </a:r>
            <a:r>
              <a:rPr lang="en-US" sz="2000" dirty="0"/>
              <a:t> </a:t>
            </a:r>
            <a:r>
              <a:rPr lang="en-US" sz="2000" dirty="0" err="1"/>
              <a:t>dækkes</a:t>
            </a:r>
            <a:r>
              <a:rPr lang="en-US" sz="2000" dirty="0"/>
              <a:t>? (</a:t>
            </a:r>
            <a:r>
              <a:rPr lang="en-US" sz="2000" dirty="0" err="1"/>
              <a:t>hvis</a:t>
            </a:r>
            <a:r>
              <a:rPr lang="en-US" sz="2000" dirty="0"/>
              <a:t> </a:t>
            </a:r>
            <a:r>
              <a:rPr lang="en-US" sz="2000" dirty="0" err="1"/>
              <a:t>det</a:t>
            </a:r>
            <a:r>
              <a:rPr lang="en-US" sz="2000" dirty="0"/>
              <a:t> </a:t>
            </a:r>
            <a:r>
              <a:rPr lang="en-US" sz="2000" dirty="0" err="1"/>
              <a:t>er</a:t>
            </a:r>
            <a:r>
              <a:rPr lang="en-US" sz="2000" dirty="0"/>
              <a:t> </a:t>
            </a:r>
            <a:r>
              <a:rPr lang="en-US" sz="2000" dirty="0" err="1"/>
              <a:t>på</a:t>
            </a:r>
            <a:r>
              <a:rPr lang="en-US" sz="2000" dirty="0"/>
              <a:t> </a:t>
            </a:r>
            <a:r>
              <a:rPr lang="en-US" sz="2000" dirty="0" err="1"/>
              <a:t>hver</a:t>
            </a:r>
            <a:r>
              <a:rPr lang="en-US" sz="2000" dirty="0"/>
              <a:t> sin side </a:t>
            </a:r>
            <a:r>
              <a:rPr lang="en-US" sz="2000" dirty="0" err="1"/>
              <a:t>af</a:t>
            </a:r>
            <a:r>
              <a:rPr lang="en-US" sz="2000" dirty="0"/>
              <a:t> </a:t>
            </a:r>
            <a:r>
              <a:rPr lang="en-US" sz="2000" dirty="0" err="1"/>
              <a:t>kloden</a:t>
            </a:r>
            <a:r>
              <a:rPr lang="en-US" sz="2000" dirty="0"/>
              <a:t>, </a:t>
            </a:r>
            <a:r>
              <a:rPr lang="en-US" sz="2000" dirty="0" err="1"/>
              <a:t>er</a:t>
            </a:r>
            <a:r>
              <a:rPr lang="en-US" sz="2000" dirty="0"/>
              <a:t> </a:t>
            </a:r>
            <a:r>
              <a:rPr lang="en-US" sz="2000" dirty="0" err="1"/>
              <a:t>en</a:t>
            </a:r>
            <a:r>
              <a:rPr lang="en-US" sz="2000" dirty="0"/>
              <a:t> </a:t>
            </a:r>
            <a:r>
              <a:rPr lang="en-US" sz="2000" dirty="0" err="1"/>
              <a:t>lejet</a:t>
            </a:r>
            <a:r>
              <a:rPr lang="en-US" sz="2000" dirty="0"/>
              <a:t> </a:t>
            </a:r>
            <a:r>
              <a:rPr lang="en-US" sz="2000" dirty="0" err="1"/>
              <a:t>linje</a:t>
            </a:r>
            <a:r>
              <a:rPr lang="en-US" sz="2000" dirty="0"/>
              <a:t> </a:t>
            </a:r>
            <a:r>
              <a:rPr lang="en-US" sz="2000" dirty="0" err="1"/>
              <a:t>nok</a:t>
            </a:r>
            <a:r>
              <a:rPr lang="en-US" sz="2000" dirty="0"/>
              <a:t> </a:t>
            </a:r>
            <a:r>
              <a:rPr lang="en-US" sz="2000" dirty="0" err="1"/>
              <a:t>ikke</a:t>
            </a:r>
            <a:r>
              <a:rPr lang="en-US" sz="2000" dirty="0"/>
              <a:t> </a:t>
            </a:r>
            <a:r>
              <a:rPr lang="en-US" sz="2000" dirty="0" err="1"/>
              <a:t>det</a:t>
            </a:r>
            <a:r>
              <a:rPr lang="en-US" sz="2000" dirty="0"/>
              <a:t> </a:t>
            </a:r>
            <a:r>
              <a:rPr lang="en-US" sz="2000" dirty="0" err="1"/>
              <a:t>billigste</a:t>
            </a:r>
            <a:r>
              <a:rPr lang="en-US" sz="2000" dirty="0"/>
              <a:t> </a:t>
            </a:r>
            <a:r>
              <a:rPr lang="en-US" sz="2000" dirty="0" err="1"/>
              <a:t>valg</a:t>
            </a:r>
            <a:r>
              <a:rPr lang="en-US" sz="2000" dirty="0"/>
              <a:t>!)</a:t>
            </a:r>
          </a:p>
          <a:p>
            <a:pPr marL="236538" indent="-236538" algn="l" defTabSz="814388">
              <a:lnSpc>
                <a:spcPct val="95000"/>
              </a:lnSpc>
              <a:spcBef>
                <a:spcPct val="50000"/>
              </a:spcBef>
              <a:buClr>
                <a:srgbClr val="708CA1"/>
              </a:buClr>
              <a:buFont typeface="Wingdings" pitchFamily="2" charset="2"/>
              <a:buChar char="§"/>
            </a:pPr>
            <a:r>
              <a:rPr lang="en-US" sz="2000" dirty="0" err="1"/>
              <a:t>Hvad</a:t>
            </a:r>
            <a:r>
              <a:rPr lang="en-US" sz="2000" dirty="0"/>
              <a:t> </a:t>
            </a:r>
            <a:r>
              <a:rPr lang="en-US" sz="2000" dirty="0" err="1"/>
              <a:t>er</a:t>
            </a:r>
            <a:r>
              <a:rPr lang="en-US" sz="2000" dirty="0"/>
              <a:t> </a:t>
            </a:r>
            <a:r>
              <a:rPr lang="en-US" sz="2000" dirty="0" err="1"/>
              <a:t>trafikmønstret</a:t>
            </a:r>
            <a:r>
              <a:rPr lang="en-US" sz="2000" dirty="0"/>
              <a:t> </a:t>
            </a:r>
            <a:r>
              <a:rPr lang="en-US" sz="2000" dirty="0" err="1"/>
              <a:t>og</a:t>
            </a:r>
            <a:r>
              <a:rPr lang="en-US" sz="2000" dirty="0"/>
              <a:t> </a:t>
            </a:r>
            <a:r>
              <a:rPr lang="en-US" sz="2000" dirty="0" err="1"/>
              <a:t>trafikmængden</a:t>
            </a:r>
            <a:r>
              <a:rPr lang="en-US" sz="2000" dirty="0"/>
              <a:t> </a:t>
            </a:r>
            <a:r>
              <a:rPr lang="en-US" sz="2000" dirty="0" err="1"/>
              <a:t>som</a:t>
            </a:r>
            <a:r>
              <a:rPr lang="en-US" sz="2000" dirty="0"/>
              <a:t> WAN </a:t>
            </a:r>
            <a:r>
              <a:rPr lang="en-US" sz="2000" dirty="0" err="1"/>
              <a:t>linket</a:t>
            </a:r>
            <a:r>
              <a:rPr lang="en-US" sz="2000" dirty="0"/>
              <a:t> </a:t>
            </a:r>
            <a:r>
              <a:rPr lang="en-US" sz="2000" dirty="0" err="1"/>
              <a:t>skal</a:t>
            </a:r>
            <a:r>
              <a:rPr lang="en-US" sz="2000" dirty="0"/>
              <a:t> </a:t>
            </a:r>
            <a:r>
              <a:rPr lang="en-US" sz="2000" dirty="0" err="1"/>
              <a:t>håndtere</a:t>
            </a:r>
            <a:r>
              <a:rPr lang="en-US" sz="2000" dirty="0"/>
              <a:t>?</a:t>
            </a:r>
          </a:p>
          <a:p>
            <a:pPr algn="l"/>
            <a:endParaRPr lang="en-US" sz="2000" dirty="0"/>
          </a:p>
        </p:txBody>
      </p:sp>
    </p:spTree>
    <p:extLst>
      <p:ext uri="{BB962C8B-B14F-4D97-AF65-F5344CB8AC3E}">
        <p14:creationId xmlns:p14="http://schemas.microsoft.com/office/powerpoint/2010/main" val="41992402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el 1"/>
          <p:cNvSpPr>
            <a:spLocks noGrp="1"/>
          </p:cNvSpPr>
          <p:nvPr>
            <p:ph type="title"/>
          </p:nvPr>
        </p:nvSpPr>
        <p:spPr>
          <a:xfrm>
            <a:off x="0" y="115747"/>
            <a:ext cx="9144000" cy="729205"/>
          </a:xfrm>
        </p:spPr>
        <p:txBody>
          <a:bodyPr/>
          <a:lstStyle/>
          <a:p>
            <a:r>
              <a:rPr lang="da-DK" altLang="da-DK" dirty="0"/>
              <a:t>		</a:t>
            </a:r>
            <a:r>
              <a:rPr lang="da-DK" altLang="da-DK" dirty="0">
                <a:solidFill>
                  <a:srgbClr val="FF0000"/>
                </a:solidFill>
              </a:rPr>
              <a:t>Spørgsmål til dette kapitel?</a:t>
            </a:r>
            <a:endParaRPr lang="da-DK" altLang="da-DK" sz="2400" dirty="0"/>
          </a:p>
        </p:txBody>
      </p:sp>
      <p:pic>
        <p:nvPicPr>
          <p:cNvPr id="32771"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96291" y="825821"/>
            <a:ext cx="5600699" cy="5321168"/>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1406500"/>
      </p:ext>
    </p:extLst>
  </p:cSld>
  <p:clrMapOvr>
    <a:masterClrMapping/>
  </p:clrMapOvr>
</p:sld>
</file>

<file path=ppt/theme/theme1.xml><?xml version="1.0" encoding="utf-8"?>
<a:theme xmlns:a="http://schemas.openxmlformats.org/drawingml/2006/main" name="PPT-TMPLT-WHT_C">
  <a:themeElements>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PPT-TMPLT-WHT_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PPT-TMPLT-WHT_C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NetAcad-4F_PPT-WHT_060408">
  <a:themeElements>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Oct_2006_Cisco Whit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82124" tIns="41061" rIns="82124" bIns="41061" numCol="1" anchor="ctr" anchorCtr="0" compatLnSpc="1">
        <a:prstTxWarp prst="textNoShape">
          <a:avLst/>
        </a:prstTxWarp>
        <a:spAutoFit/>
      </a:bodyPr>
      <a:lstStyle>
        <a:defPPr marL="0" marR="0" indent="0" algn="ctr" defTabSz="814388" rtl="0" eaLnBrk="0" fontAlgn="base" latinLnBrk="0" hangingPunct="0">
          <a:lnSpc>
            <a:spcPct val="9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defRPr>
        </a:defPPr>
      </a:lstStyle>
    </a:lnDef>
  </a:objectDefaults>
  <a:extraClrSchemeLst>
    <a:extraClrScheme>
      <a:clrScheme name="Oct_2006_Cisco White Template 1">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43794</TotalTime>
  <Pages>28</Pages>
  <Words>1286</Words>
  <Application>Microsoft Office PowerPoint</Application>
  <PresentationFormat>Skærmshow (4:3)</PresentationFormat>
  <Paragraphs>164</Paragraphs>
  <Slides>20</Slides>
  <Notes>19</Notes>
  <HiddenSlides>0</HiddenSlides>
  <MMClips>0</MMClips>
  <ScaleCrop>false</ScaleCrop>
  <HeadingPairs>
    <vt:vector size="6" baseType="variant">
      <vt:variant>
        <vt:lpstr>Benyttede skrifttyper</vt:lpstr>
      </vt:variant>
      <vt:variant>
        <vt:i4>5</vt:i4>
      </vt:variant>
      <vt:variant>
        <vt:lpstr>Tema</vt:lpstr>
      </vt:variant>
      <vt:variant>
        <vt:i4>2</vt:i4>
      </vt:variant>
      <vt:variant>
        <vt:lpstr>Slidetitler</vt:lpstr>
      </vt:variant>
      <vt:variant>
        <vt:i4>20</vt:i4>
      </vt:variant>
    </vt:vector>
  </HeadingPairs>
  <TitlesOfParts>
    <vt:vector size="27" baseType="lpstr">
      <vt:lpstr>ＭＳ Ｐゴシック</vt:lpstr>
      <vt:lpstr>Arial</vt:lpstr>
      <vt:lpstr>CiscoSans</vt:lpstr>
      <vt:lpstr>Symbol</vt:lpstr>
      <vt:lpstr>Wingdings</vt:lpstr>
      <vt:lpstr>PPT-TMPLT-WHT_C</vt:lpstr>
      <vt:lpstr>NetAcad-4F_PPT-WHT_060408</vt:lpstr>
      <vt:lpstr>Indhold</vt:lpstr>
      <vt:lpstr> Hvorfor overhovedet WAN? Hvad er det i forhold til LAN?</vt:lpstr>
      <vt:lpstr>PowerPoint-præsentation</vt:lpstr>
      <vt:lpstr> WANs in the OSI Model</vt:lpstr>
      <vt:lpstr> Circuit Switching  …… vigtigt at forstå!</vt:lpstr>
      <vt:lpstr> Circuit Switching  …… vigtigt at forstå!</vt:lpstr>
      <vt:lpstr> WAN Link Connection Options</vt:lpstr>
      <vt:lpstr> Service-Provided Network Infrastructure</vt:lpstr>
      <vt:lpstr> Ethernet WAN</vt:lpstr>
      <vt:lpstr> MPLS</vt:lpstr>
      <vt:lpstr> Satellit forbindelse</vt:lpstr>
      <vt:lpstr> DSL (Digital Subscriber Line)</vt:lpstr>
      <vt:lpstr> Cable</vt:lpstr>
      <vt:lpstr> Wireless</vt:lpstr>
      <vt:lpstr> 3G/4G Cellular</vt:lpstr>
      <vt:lpstr>Dense Wavelength Division Multiplexing (DWDM)</vt:lpstr>
      <vt:lpstr>Dense Wavelength Division Multiplexing (DWDM)</vt:lpstr>
      <vt:lpstr> VPN Technology (modul 8)</vt:lpstr>
      <vt:lpstr> Choosing a WAN Link Connection</vt:lpstr>
      <vt:lpstr>  Spørgsmål til dette kapitel?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 PC v4.0 Chapter 1</dc:title>
  <dc:creator>Karen Alderson</dc:creator>
  <cp:lastModifiedBy>Grete Teta</cp:lastModifiedBy>
  <cp:revision>1362</cp:revision>
  <cp:lastPrinted>1999-01-27T00:54:54Z</cp:lastPrinted>
  <dcterms:created xsi:type="dcterms:W3CDTF">2006-10-23T15:07:30Z</dcterms:created>
  <dcterms:modified xsi:type="dcterms:W3CDTF">2026-09-08T20:44:06Z</dcterms:modified>
</cp:coreProperties>
</file>