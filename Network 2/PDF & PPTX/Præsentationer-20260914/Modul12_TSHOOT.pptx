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850" r:id="rId2"/>
    <p:sldId id="848" r:id="rId3"/>
    <p:sldId id="256" r:id="rId4"/>
    <p:sldId id="851" r:id="rId5"/>
    <p:sldId id="389" r:id="rId6"/>
    <p:sldId id="390" r:id="rId7"/>
    <p:sldId id="391" r:id="rId8"/>
    <p:sldId id="392" r:id="rId9"/>
    <p:sldId id="394" r:id="rId10"/>
    <p:sldId id="393" r:id="rId11"/>
    <p:sldId id="395" r:id="rId12"/>
    <p:sldId id="396" r:id="rId13"/>
    <p:sldId id="397" r:id="rId14"/>
    <p:sldId id="400" r:id="rId15"/>
    <p:sldId id="401" r:id="rId16"/>
    <p:sldId id="402" r:id="rId17"/>
    <p:sldId id="417" r:id="rId18"/>
    <p:sldId id="418" r:id="rId19"/>
    <p:sldId id="419" r:id="rId20"/>
    <p:sldId id="421" r:id="rId21"/>
    <p:sldId id="399" r:id="rId22"/>
    <p:sldId id="84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Forfatter" initials="F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8766" autoAdjust="0"/>
  </p:normalViewPr>
  <p:slideViewPr>
    <p:cSldViewPr snapToGrid="0">
      <p:cViewPr>
        <p:scale>
          <a:sx n="58" d="100"/>
          <a:sy n="58" d="100"/>
        </p:scale>
        <p:origin x="87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340CB-735D-4AC1-AE1A-679930BD86F6}" type="datetimeFigureOut">
              <a:rPr lang="da-DK" smtClean="0"/>
              <a:t>13-09-2026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97DFD-AF34-4C71-9A68-9817B4D2B6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599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</a:t>
            </a:r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670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Formålet</a:t>
            </a:r>
            <a:r>
              <a:rPr lang="da-DK" baseline="0" dirty="0"/>
              <a:t> er at vi skal kunne</a:t>
            </a:r>
          </a:p>
          <a:p>
            <a:endParaRPr lang="da-DK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Forklare hvordan netværks dokumentation bliver lavet og hvordan man kan bruge det til at fejlfinde med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Beskrive hvordan man fejlfinder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Sammenligne </a:t>
            </a:r>
            <a:r>
              <a:rPr lang="da-DK" baseline="0" dirty="0" err="1"/>
              <a:t>fejlfindingings</a:t>
            </a:r>
            <a:r>
              <a:rPr lang="da-DK" baseline="0" dirty="0"/>
              <a:t> metoder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Beskrive fejlfindings værktøjer til at samle og analysere symptomer på et netværks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Afgøre hvad problemer skylder på baggrund af </a:t>
            </a:r>
            <a:r>
              <a:rPr lang="da-DK" baseline="0" dirty="0" err="1"/>
              <a:t>osi</a:t>
            </a:r>
            <a:r>
              <a:rPr lang="da-DK" baseline="0" dirty="0"/>
              <a:t> modellen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baseline="0" dirty="0"/>
              <a:t>Afgøre på baggrund af </a:t>
            </a:r>
            <a:r>
              <a:rPr lang="da-DK" baseline="0" dirty="0" err="1"/>
              <a:t>osi</a:t>
            </a:r>
            <a:r>
              <a:rPr lang="da-DK" baseline="0" dirty="0"/>
              <a:t> modellen hvilken fejlfindings metode vi skal anvende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8511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Netværks</a:t>
            </a:r>
            <a:r>
              <a:rPr lang="da-DK" b="0" baseline="0" dirty="0"/>
              <a:t> fejl kan være meget alvorlige for en virksomheds drift</a:t>
            </a:r>
          </a:p>
          <a:p>
            <a:r>
              <a:rPr lang="da-DK" b="0" baseline="0" dirty="0"/>
              <a:t>Når det sker, så er det vigtigt at man angriber problemet systematisk så man kan finde ud af hvad problemet er hurtigst muligt.</a:t>
            </a:r>
          </a:p>
          <a:p>
            <a:r>
              <a:rPr lang="da-DK" b="0" baseline="0" dirty="0"/>
              <a:t>Man bør notere undervejs hvad man har forsøgt og i hvilken rækkefølge</a:t>
            </a:r>
          </a:p>
          <a:p>
            <a:r>
              <a:rPr lang="da-DK" b="0" baseline="0" dirty="0"/>
              <a:t>Det er en god ide kun foretage sig ”en ting af gangen”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998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For at netværks administratorer kan overvåge</a:t>
            </a:r>
            <a:r>
              <a:rPr lang="da-DK" b="0" baseline="0" dirty="0"/>
              <a:t> og fejlfinde på et netværk er det vigtigt at de har den korrekte dokumentation til rådighed</a:t>
            </a:r>
          </a:p>
          <a:p>
            <a:endParaRPr lang="da-DK" b="0" baseline="0" dirty="0"/>
          </a:p>
          <a:p>
            <a:r>
              <a:rPr lang="da-DK" b="0" baseline="0" dirty="0"/>
              <a:t>En fysisk og/eller netværks tegning (topologi) kombineret med kopier af konfigurations filer og en baseline giver netværks administratoren de bedste forudsætninger for at finde problemet</a:t>
            </a:r>
          </a:p>
          <a:p>
            <a:endParaRPr lang="da-DK" b="0" baseline="0" dirty="0"/>
          </a:p>
          <a:p>
            <a:r>
              <a:rPr lang="da-DK" b="0" baseline="0" dirty="0"/>
              <a:t>Med konfigurations filer menes det både en oversigt over hvilke netværks udstyr man har (altså deres hardware; eks: Cisco 2911 Router) og deres </a:t>
            </a:r>
            <a:r>
              <a:rPr lang="da-DK" b="0" baseline="0" dirty="0" err="1"/>
              <a:t>running</a:t>
            </a:r>
            <a:r>
              <a:rPr lang="da-DK" b="0" baseline="0" dirty="0"/>
              <a:t>/</a:t>
            </a:r>
            <a:r>
              <a:rPr lang="da-DK" b="0" baseline="0" dirty="0" err="1"/>
              <a:t>startup-config</a:t>
            </a:r>
            <a:endParaRPr lang="da-DK" b="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82109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Fysisk</a:t>
            </a:r>
            <a:r>
              <a:rPr lang="da-DK" b="0" baseline="0" dirty="0"/>
              <a:t> topologi</a:t>
            </a:r>
          </a:p>
          <a:p>
            <a:r>
              <a:rPr lang="da-DK" b="0" baseline="0" dirty="0"/>
              <a:t>Er en tegning over hvor udstyret står, altså i hvilket lokale, hvordan det er koblet sammen med andre enheder med de fysiske links (kabler). Ofte beskrevet hvad netværks udstyret hedder.</a:t>
            </a:r>
          </a:p>
          <a:p>
            <a:r>
              <a:rPr lang="da-DK" b="0" baseline="0" dirty="0"/>
              <a:t>Denne tegning bruges hvis man har brug for at finde netværks udstyret rent fysisk og skifte noget i det / skifte den ud.</a:t>
            </a:r>
          </a:p>
          <a:p>
            <a:endParaRPr lang="da-DK" b="0" baseline="0" dirty="0"/>
          </a:p>
          <a:p>
            <a:r>
              <a:rPr lang="da-DK" b="0" baseline="0" dirty="0"/>
              <a:t>Logisk topologi</a:t>
            </a:r>
          </a:p>
          <a:p>
            <a:r>
              <a:rPr lang="da-DK" b="0" baseline="0" dirty="0"/>
              <a:t>Er en tegning der viser ip adresser og giver en netværks tekniker et hurtigt overblik over hvor præcis de forskellige netværks ranges er i virksomheden, viser også hvilken type links der er brugt (</a:t>
            </a:r>
            <a:r>
              <a:rPr lang="da-DK" b="0" baseline="0" dirty="0" err="1"/>
              <a:t>feks</a:t>
            </a:r>
            <a:r>
              <a:rPr lang="da-DK" b="0" baseline="0" dirty="0"/>
              <a:t> hvis der er </a:t>
            </a:r>
            <a:r>
              <a:rPr lang="da-DK" b="0" baseline="0" dirty="0" err="1"/>
              <a:t>etherchannels</a:t>
            </a:r>
            <a:r>
              <a:rPr lang="da-DK" b="0" baseline="0" dirty="0"/>
              <a:t>)</a:t>
            </a:r>
          </a:p>
          <a:p>
            <a:endParaRPr lang="da-DK" b="0" baseline="0" dirty="0"/>
          </a:p>
          <a:p>
            <a:r>
              <a:rPr lang="da-DK" b="0" baseline="0" dirty="0"/>
              <a:t>Denne </a:t>
            </a:r>
            <a:r>
              <a:rPr lang="da-DK" b="0" baseline="0" dirty="0" err="1"/>
              <a:t>tegnig</a:t>
            </a:r>
            <a:r>
              <a:rPr lang="da-DK" b="0" baseline="0" dirty="0"/>
              <a:t> er _MEGET_ brugbar hvis det problem vi har er noget vi kan løse uden at skulle udskifte fysisk hardware.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17944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0" dirty="0"/>
              <a:t>For at vide om netværket</a:t>
            </a:r>
            <a:r>
              <a:rPr lang="da-DK" b="0" baseline="0" dirty="0"/>
              <a:t> performer dårligt, så er det vigtigt at have noget at sammenligne med.</a:t>
            </a:r>
          </a:p>
          <a:p>
            <a:endParaRPr lang="da-DK" b="0" baseline="0" dirty="0"/>
          </a:p>
          <a:p>
            <a:r>
              <a:rPr lang="da-DK" b="0" baseline="0" dirty="0"/>
              <a:t>Til det formål bruger man en </a:t>
            </a:r>
            <a:r>
              <a:rPr lang="da-DK" b="0" baseline="0" dirty="0" err="1"/>
              <a:t>network</a:t>
            </a:r>
            <a:r>
              <a:rPr lang="da-DK" b="0" baseline="0" dirty="0"/>
              <a:t> baseline. Altså et billede af hvordan netværket ser ud under normale omstændigheder.</a:t>
            </a:r>
          </a:p>
          <a:p>
            <a:endParaRPr lang="da-DK" b="0" baseline="0" dirty="0"/>
          </a:p>
          <a:p>
            <a:r>
              <a:rPr lang="da-DK" b="0" baseline="0" dirty="0"/>
              <a:t>Husk </a:t>
            </a:r>
            <a:r>
              <a:rPr lang="da-DK" b="0" baseline="0" dirty="0" err="1"/>
              <a:t>NetFlow</a:t>
            </a:r>
            <a:r>
              <a:rPr lang="da-DK" b="0" baseline="0" dirty="0"/>
              <a:t> vi nævnte i forrige kapitel! Hvis vi har en graf fra </a:t>
            </a:r>
            <a:r>
              <a:rPr lang="da-DK" b="0" baseline="0" dirty="0" err="1"/>
              <a:t>netflow</a:t>
            </a:r>
            <a:r>
              <a:rPr lang="da-DK" b="0" baseline="0" dirty="0"/>
              <a:t> der viser ”normal netværks trafik” så er det meget nemmere at kigge på den samme graf og sige .. Hov hvad sker der </a:t>
            </a:r>
            <a:r>
              <a:rPr lang="da-DK" b="0" baseline="0" dirty="0" err="1"/>
              <a:t>der</a:t>
            </a:r>
            <a:r>
              <a:rPr lang="da-DK" b="0" baseline="0" dirty="0"/>
              <a:t>?</a:t>
            </a:r>
          </a:p>
          <a:p>
            <a:endParaRPr lang="da-DK" b="0" baseline="0" dirty="0"/>
          </a:p>
          <a:p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00812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2551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Alle disse kommandoer kan bruges til at opbygge ens netværks dokumentation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7886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Det</a:t>
            </a:r>
            <a:r>
              <a:rPr lang="da-DK" b="1" baseline="0" dirty="0"/>
              <a:t> er vigtigt at huske at når man taler med en bruger. Så har de på ingen måder den samme tekniske viden som dig selv. Derfor bør du være meget specifik i dine spørgsmål.</a:t>
            </a:r>
          </a:p>
          <a:p>
            <a:r>
              <a:rPr lang="da-DK" b="1" baseline="0" dirty="0"/>
              <a:t>Eksempel</a:t>
            </a:r>
          </a:p>
          <a:p>
            <a:r>
              <a:rPr lang="da-DK" b="1" baseline="0" dirty="0"/>
              <a:t>”Hvilke applikationer er det der ikke længere virker?” i stedet for ”hvad er problemet?”</a:t>
            </a:r>
          </a:p>
          <a:p>
            <a:r>
              <a:rPr lang="da-DK" b="1" baseline="0" dirty="0"/>
              <a:t>Hvis de så svarer alle (det gør folk fordi de er frustrerede og ikke ved hvad de skal gøre),</a:t>
            </a:r>
          </a:p>
          <a:p>
            <a:r>
              <a:rPr lang="da-DK" b="1" baseline="0" dirty="0"/>
              <a:t>så spørg ind til individuelle applikationer og få at vide hvad de får af fejl meddelelser i hver applikation (gerne med </a:t>
            </a:r>
            <a:r>
              <a:rPr lang="da-DK" b="1" baseline="0" dirty="0" err="1"/>
              <a:t>screenshots</a:t>
            </a:r>
            <a:r>
              <a:rPr lang="da-DK" b="1" baseline="0" dirty="0"/>
              <a:t>)</a:t>
            </a:r>
          </a:p>
          <a:p>
            <a:endParaRPr lang="da-DK" b="1" baseline="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6205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Physical</a:t>
            </a:r>
            <a:endParaRPr lang="da-DK" b="1" dirty="0"/>
          </a:p>
          <a:p>
            <a:r>
              <a:rPr lang="da-DK" b="1" baseline="0" dirty="0"/>
              <a:t>Show ip </a:t>
            </a:r>
            <a:r>
              <a:rPr lang="da-DK" b="1" baseline="0" dirty="0" err="1"/>
              <a:t>int</a:t>
            </a:r>
            <a:r>
              <a:rPr lang="da-DK" b="1" baseline="0" dirty="0"/>
              <a:t> brief </a:t>
            </a:r>
            <a:r>
              <a:rPr lang="da-DK" b="1" dirty="0"/>
              <a:t>–</a:t>
            </a:r>
            <a:r>
              <a:rPr lang="da-DK" b="1" baseline="0" dirty="0"/>
              <a:t> Gi0/0 is </a:t>
            </a:r>
            <a:r>
              <a:rPr lang="da-DK" b="1" baseline="0" dirty="0" err="1"/>
              <a:t>down</a:t>
            </a:r>
            <a:r>
              <a:rPr lang="da-DK" b="1" baseline="0" dirty="0"/>
              <a:t>, line </a:t>
            </a:r>
            <a:r>
              <a:rPr lang="da-DK" b="1" baseline="0" dirty="0" err="1"/>
              <a:t>protocol</a:t>
            </a:r>
            <a:r>
              <a:rPr lang="da-DK" b="1" baseline="0" dirty="0"/>
              <a:t> is </a:t>
            </a:r>
            <a:r>
              <a:rPr lang="da-DK" b="1" baseline="0" dirty="0" err="1"/>
              <a:t>down</a:t>
            </a:r>
            <a:r>
              <a:rPr lang="da-DK" b="1" baseline="0" dirty="0"/>
              <a:t> (fejl på kabel eller selve stikket)</a:t>
            </a:r>
          </a:p>
          <a:p>
            <a:endParaRPr lang="da-DK" b="1" baseline="0" dirty="0"/>
          </a:p>
          <a:p>
            <a:r>
              <a:rPr lang="da-DK" b="1" baseline="0" dirty="0"/>
              <a:t>Data Link</a:t>
            </a:r>
          </a:p>
          <a:p>
            <a:r>
              <a:rPr lang="da-DK" b="1" baseline="0" dirty="0"/>
              <a:t>Show ip </a:t>
            </a:r>
            <a:r>
              <a:rPr lang="da-DK" b="1" baseline="0" dirty="0" err="1"/>
              <a:t>int</a:t>
            </a:r>
            <a:r>
              <a:rPr lang="da-DK" b="1" baseline="0" dirty="0"/>
              <a:t> brief </a:t>
            </a:r>
            <a:r>
              <a:rPr lang="da-DK" b="1" dirty="0"/>
              <a:t>–</a:t>
            </a:r>
            <a:r>
              <a:rPr lang="da-DK" b="1" baseline="0" dirty="0"/>
              <a:t> Gi0/0 is up, line </a:t>
            </a:r>
            <a:r>
              <a:rPr lang="da-DK" b="1" baseline="0" dirty="0" err="1"/>
              <a:t>protocol</a:t>
            </a:r>
            <a:r>
              <a:rPr lang="da-DK" b="1" baseline="0" dirty="0"/>
              <a:t> is </a:t>
            </a:r>
            <a:r>
              <a:rPr lang="da-DK" b="1" baseline="0" dirty="0" err="1"/>
              <a:t>down</a:t>
            </a:r>
            <a:r>
              <a:rPr lang="da-DK" b="1" baseline="0" dirty="0"/>
              <a:t> (fejlkonfigureret </a:t>
            </a:r>
            <a:r>
              <a:rPr lang="da-DK" b="1" baseline="0" dirty="0" err="1"/>
              <a:t>layer</a:t>
            </a:r>
            <a:r>
              <a:rPr lang="da-DK" b="1" baseline="0" dirty="0"/>
              <a:t> 2 </a:t>
            </a:r>
            <a:r>
              <a:rPr lang="da-DK" b="1" baseline="0" dirty="0" err="1"/>
              <a:t>protocol</a:t>
            </a:r>
            <a:r>
              <a:rPr lang="da-DK" b="1" baseline="0" dirty="0"/>
              <a:t> ”PPP”)</a:t>
            </a:r>
          </a:p>
          <a:p>
            <a:endParaRPr lang="da-DK" b="1" baseline="0" dirty="0"/>
          </a:p>
          <a:p>
            <a:r>
              <a:rPr lang="da-DK" b="1" baseline="0" dirty="0"/>
              <a:t>Network/Transport</a:t>
            </a:r>
          </a:p>
          <a:p>
            <a:r>
              <a:rPr lang="da-DK" b="1" baseline="0" dirty="0"/>
              <a:t>Show ip </a:t>
            </a:r>
            <a:r>
              <a:rPr lang="da-DK" b="1" baseline="0" dirty="0" err="1"/>
              <a:t>int</a:t>
            </a:r>
            <a:r>
              <a:rPr lang="da-DK" b="1" baseline="0" dirty="0"/>
              <a:t> brief - Fejlkonfigureret IP adresse</a:t>
            </a:r>
          </a:p>
          <a:p>
            <a:endParaRPr lang="da-DK" b="1" baseline="0" dirty="0"/>
          </a:p>
          <a:p>
            <a:r>
              <a:rPr lang="da-DK" b="1" baseline="0" dirty="0"/>
              <a:t>Det er derfor at show ip </a:t>
            </a:r>
            <a:r>
              <a:rPr lang="da-DK" b="1" baseline="0" dirty="0" err="1"/>
              <a:t>int</a:t>
            </a:r>
            <a:r>
              <a:rPr lang="da-DK" b="1" baseline="0" dirty="0"/>
              <a:t> brief er gudekommandoen :D</a:t>
            </a:r>
          </a:p>
          <a:p>
            <a:endParaRPr lang="da-DK" b="1" baseline="0" dirty="0"/>
          </a:p>
          <a:p>
            <a:r>
              <a:rPr lang="da-DK" b="1" baseline="0" dirty="0"/>
              <a:t>Applikation</a:t>
            </a:r>
          </a:p>
          <a:p>
            <a:r>
              <a:rPr lang="da-DK" b="1" baseline="0" dirty="0"/>
              <a:t>Fejl i en applikation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1083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Kvalificeret</a:t>
            </a:r>
            <a:r>
              <a:rPr lang="da-DK" b="1" baseline="0" dirty="0"/>
              <a:t> </a:t>
            </a:r>
            <a:r>
              <a:rPr lang="da-DK" b="1" dirty="0"/>
              <a:t>Gæt, </a:t>
            </a:r>
            <a:r>
              <a:rPr lang="da-DK" b="1" dirty="0" err="1"/>
              <a:t>shoot</a:t>
            </a:r>
            <a:r>
              <a:rPr lang="da-DK" b="1" dirty="0"/>
              <a:t> from the hip</a:t>
            </a:r>
          </a:p>
          <a:p>
            <a:endParaRPr lang="da-DK" b="1" dirty="0"/>
          </a:p>
          <a:p>
            <a:r>
              <a:rPr lang="da-DK" b="1" dirty="0"/>
              <a:t>Forskel</a:t>
            </a:r>
            <a:r>
              <a:rPr lang="da-DK" b="1" baseline="0" dirty="0"/>
              <a:t> på fungerende / ikke fungerende</a:t>
            </a:r>
          </a:p>
          <a:p>
            <a:endParaRPr lang="da-DK" b="1" baseline="0" dirty="0"/>
          </a:p>
          <a:p>
            <a:r>
              <a:rPr lang="da-DK" b="1" baseline="0" dirty="0"/>
              <a:t>Udskift (nyt </a:t>
            </a:r>
            <a:r>
              <a:rPr lang="da-DK" b="1" baseline="0" dirty="0" err="1"/>
              <a:t>nyt</a:t>
            </a:r>
            <a:r>
              <a:rPr lang="da-DK" b="1" baseline="0" dirty="0"/>
              <a:t> nyt!)</a:t>
            </a:r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439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Software</a:t>
            </a:r>
          </a:p>
          <a:p>
            <a:r>
              <a:rPr lang="da-DK" b="1" dirty="0"/>
              <a:t>NMS = Network Management Systems</a:t>
            </a:r>
            <a:r>
              <a:rPr lang="da-DK" b="1" baseline="0" dirty="0"/>
              <a:t> (SNMP)</a:t>
            </a:r>
          </a:p>
          <a:p>
            <a:r>
              <a:rPr lang="da-DK" b="1" baseline="0" dirty="0"/>
              <a:t>Knowledge Bases = Har alle større fabrikanter (Microsoft/CISCO </a:t>
            </a:r>
            <a:r>
              <a:rPr lang="da-DK" b="1" baseline="0" dirty="0" err="1"/>
              <a:t>osv</a:t>
            </a:r>
            <a:r>
              <a:rPr lang="da-DK" b="1" baseline="0" dirty="0"/>
              <a:t>)</a:t>
            </a:r>
          </a:p>
          <a:p>
            <a:endParaRPr lang="da-DK" b="1" baseline="0" dirty="0"/>
          </a:p>
          <a:p>
            <a:r>
              <a:rPr lang="da-DK" b="1" baseline="0" dirty="0"/>
              <a:t>Hardware</a:t>
            </a:r>
          </a:p>
          <a:p>
            <a:r>
              <a:rPr lang="da-DK" b="1" baseline="0" dirty="0"/>
              <a:t>Network Analysis </a:t>
            </a:r>
            <a:r>
              <a:rPr lang="da-DK" b="1" baseline="0" dirty="0" err="1"/>
              <a:t>Module</a:t>
            </a:r>
            <a:r>
              <a:rPr lang="da-DK" b="1" baseline="0" dirty="0"/>
              <a:t> = </a:t>
            </a:r>
            <a:r>
              <a:rPr lang="da-DK" b="1" baseline="0" dirty="0" err="1"/>
              <a:t>NetFlow</a:t>
            </a:r>
            <a:endParaRPr lang="da-DK" b="1" baseline="0" dirty="0"/>
          </a:p>
          <a:p>
            <a:r>
              <a:rPr lang="da-DK" b="1" baseline="0" dirty="0"/>
              <a:t>Kabel testere mv.</a:t>
            </a:r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816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 err="1"/>
              <a:t>Syslog</a:t>
            </a:r>
            <a:r>
              <a:rPr lang="da-DK" b="1" dirty="0"/>
              <a:t> talte vi om i forrige kapitel.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5913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Hvis man har brugt en sømpistol, så er der </a:t>
            </a:r>
            <a:r>
              <a:rPr lang="da-DK" b="1" dirty="0" err="1"/>
              <a:t>halvduplex</a:t>
            </a:r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07278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3504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Fe80::1 </a:t>
            </a:r>
            <a:r>
              <a:rPr lang="da-DK" b="1" dirty="0" err="1"/>
              <a:t>local</a:t>
            </a:r>
            <a:r>
              <a:rPr lang="da-DK" b="1" dirty="0"/>
              <a:t> link </a:t>
            </a:r>
            <a:r>
              <a:rPr lang="da-DK" b="1" dirty="0" err="1"/>
              <a:t>address</a:t>
            </a:r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33176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4754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37686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b="1" dirty="0"/>
              <a:t>Et godt eksempel er:</a:t>
            </a:r>
          </a:p>
          <a:p>
            <a:r>
              <a:rPr lang="da-DK" b="1" dirty="0"/>
              <a:t>Hvis man fra brugerens pc kan </a:t>
            </a:r>
            <a:r>
              <a:rPr lang="da-DK" b="1" dirty="0" err="1"/>
              <a:t>pinge</a:t>
            </a:r>
            <a:r>
              <a:rPr lang="da-DK" b="1" dirty="0"/>
              <a:t> 8.8.8.8 (googles </a:t>
            </a:r>
            <a:r>
              <a:rPr lang="da-DK" b="1" dirty="0" err="1"/>
              <a:t>dns</a:t>
            </a:r>
            <a:r>
              <a:rPr lang="da-DK" b="1" baseline="0" dirty="0"/>
              <a:t> server)</a:t>
            </a:r>
          </a:p>
          <a:p>
            <a:r>
              <a:rPr lang="da-DK" b="1" baseline="0" dirty="0"/>
              <a:t>Men man ikke kan ping www.dr.dk</a:t>
            </a:r>
          </a:p>
          <a:p>
            <a:endParaRPr lang="da-DK" b="1" baseline="0" dirty="0"/>
          </a:p>
          <a:p>
            <a:r>
              <a:rPr lang="da-DK" b="1" baseline="0" dirty="0"/>
              <a:t>Så kunne problemet være DNS serveren.</a:t>
            </a:r>
            <a:endParaRPr lang="da-DK" b="1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97DFD-AF34-4C71-9A68-9817B4D2B6F7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4863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609600" y="2057400"/>
            <a:ext cx="8534400" cy="2438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48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4800" dirty="0"/>
          </a:p>
        </p:txBody>
      </p:sp>
      <p:sp>
        <p:nvSpPr>
          <p:cNvPr id="3" name="Object2"/>
          <p:cNvSpPr>
            <a:spLocks noGrp="1"/>
          </p:cNvSpPr>
          <p:nvPr>
            <p:ph type="body" idx="101" hasCustomPrompt="1"/>
          </p:nvPr>
        </p:nvSpPr>
        <p:spPr>
          <a:xfrm>
            <a:off x="609600" y="5486400"/>
            <a:ext cx="4876800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1600" dirty="0"/>
          </a:p>
        </p:txBody>
      </p:sp>
      <p:pic>
        <p:nvPicPr>
          <p:cNvPr id="4" name="Object 3" descr="/Users/phillipball/Projects/Cisco/Netacad 3/netacad-vudu/src/pptx/assets/Cisco_logo.png"/>
          <p:cNvPicPr>
            <a:picLocks noChangeAspect="1"/>
          </p:cNvPicPr>
          <p:nvPr/>
        </p:nvPicPr>
        <p:blipFill>
          <a:blip r:embed="rId3"/>
          <a:srcRect t="-33333" b="-33333"/>
          <a:stretch/>
        </p:blipFill>
        <p:spPr>
          <a:xfrm>
            <a:off x="609600" y="3429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5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da-D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609600" y="2208904"/>
            <a:ext cx="8534400" cy="1798461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TSHOOT</a:t>
            </a:r>
            <a:endParaRPr lang="en-US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Modul 12</a:t>
            </a:r>
            <a:endParaRPr lang="en-US" dirty="0"/>
          </a:p>
        </p:txBody>
      </p:sp>
      <p:sp>
        <p:nvSpPr>
          <p:cNvPr id="3" name="Object2"/>
          <p:cNvSpPr/>
          <p:nvPr/>
        </p:nvSpPr>
        <p:spPr>
          <a:xfrm>
            <a:off x="609600" y="5401825"/>
            <a:ext cx="487680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2667" dirty="0">
              <a:solidFill>
                <a:srgbClr val="CEE8C3"/>
              </a:solidFill>
              <a:latin typeface="Arial" pitchFamily="34" charset="0"/>
              <a:cs typeface="Arial" pitchFamily="34" charset="-120"/>
            </a:endParaRPr>
          </a:p>
          <a:p>
            <a:endParaRPr lang="en-US"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81CF6C-7B3E-4C84-9FB1-C070F5BDF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76" y="1209275"/>
            <a:ext cx="9005719" cy="48676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FD4F9E-FD47-41C1-8AD4-067E43AABA3D}"/>
              </a:ext>
            </a:extLst>
          </p:cNvPr>
          <p:cNvSpPr txBox="1"/>
          <p:nvPr/>
        </p:nvSpPr>
        <p:spPr>
          <a:xfrm>
            <a:off x="5172526" y="2657475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>
                <a:highlight>
                  <a:srgbClr val="FFFF00"/>
                </a:highlight>
              </a:rPr>
              <a:t>VPN tunnel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426F6-8191-4272-BDEC-D64C0B246E2A}"/>
              </a:ext>
            </a:extLst>
          </p:cNvPr>
          <p:cNvSpPr txBox="1"/>
          <p:nvPr/>
        </p:nvSpPr>
        <p:spPr>
          <a:xfrm>
            <a:off x="5286160" y="4953000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OSPF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9A909-2E98-485A-A216-49CCCFF028C3}"/>
              </a:ext>
            </a:extLst>
          </p:cNvPr>
          <p:cNvSpPr txBox="1"/>
          <p:nvPr/>
        </p:nvSpPr>
        <p:spPr>
          <a:xfrm>
            <a:off x="3724198" y="2174516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2DAD4-B42D-44E2-85D7-5E6557048CF3}"/>
              </a:ext>
            </a:extLst>
          </p:cNvPr>
          <p:cNvSpPr txBox="1"/>
          <p:nvPr/>
        </p:nvSpPr>
        <p:spPr>
          <a:xfrm>
            <a:off x="7610398" y="2244882"/>
            <a:ext cx="6719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2F880-744D-4618-9976-3108A0054B0A}"/>
              </a:ext>
            </a:extLst>
          </p:cNvPr>
          <p:cNvSpPr txBox="1"/>
          <p:nvPr/>
        </p:nvSpPr>
        <p:spPr>
          <a:xfrm>
            <a:off x="6879704" y="948171"/>
            <a:ext cx="635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NTP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F254A-792E-4E73-9353-2B5379B5DD76}"/>
              </a:ext>
            </a:extLst>
          </p:cNvPr>
          <p:cNvSpPr txBox="1"/>
          <p:nvPr/>
        </p:nvSpPr>
        <p:spPr>
          <a:xfrm>
            <a:off x="3121814" y="2087041"/>
            <a:ext cx="700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000" dirty="0">
                <a:highlight>
                  <a:srgbClr val="FFFF00"/>
                </a:highlight>
              </a:rPr>
              <a:t>ACL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581149F8-E021-43ED-AE1E-4316A9FD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064" y="388939"/>
            <a:ext cx="8143875" cy="473075"/>
          </a:xfrm>
        </p:spPr>
        <p:txBody>
          <a:bodyPr>
            <a:normAutofit fontScale="90000"/>
          </a:bodyPr>
          <a:lstStyle/>
          <a:p>
            <a:r>
              <a:rPr lang="da-DK" dirty="0"/>
              <a:t>Hvad kan jeg efter Netværk II?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53408-7281-45BF-90E6-41C1FBEE119F}"/>
              </a:ext>
            </a:extLst>
          </p:cNvPr>
          <p:cNvSpPr txBox="1"/>
          <p:nvPr/>
        </p:nvSpPr>
        <p:spPr>
          <a:xfrm>
            <a:off x="2909441" y="6075694"/>
            <a:ext cx="75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a-DK" dirty="0">
                <a:highlight>
                  <a:srgbClr val="FFFF00"/>
                </a:highlight>
              </a:rPr>
              <a:t>Samt ”kendskab til” Design; Management; Virtualisering; Automatisering; QoS og WAN .</a:t>
            </a:r>
          </a:p>
        </p:txBody>
      </p:sp>
    </p:spTree>
    <p:extLst>
      <p:ext uri="{BB962C8B-B14F-4D97-AF65-F5344CB8AC3E}">
        <p14:creationId xmlns:p14="http://schemas.microsoft.com/office/powerpoint/2010/main" val="24829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40326" y="752302"/>
            <a:ext cx="8915399" cy="2262781"/>
          </a:xfrm>
        </p:spPr>
        <p:txBody>
          <a:bodyPr>
            <a:normAutofit/>
          </a:bodyPr>
          <a:lstStyle/>
          <a:p>
            <a:r>
              <a:rPr lang="da-DK" dirty="0"/>
              <a:t>Meget kort kapitel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  <p:sp>
        <p:nvSpPr>
          <p:cNvPr id="4" name="Undertitel 3">
            <a:extLst>
              <a:ext uri="{FF2B5EF4-FFF2-40B4-BE49-F238E27FC236}">
                <a16:creationId xmlns:a16="http://schemas.microsoft.com/office/drawing/2014/main" id="{837A93EA-2D51-4059-9AA5-A13927F41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3613" y="6105698"/>
            <a:ext cx="3258387" cy="692396"/>
          </a:xfrm>
        </p:spPr>
        <p:txBody>
          <a:bodyPr>
            <a:normAutofit/>
          </a:bodyPr>
          <a:lstStyle/>
          <a:p>
            <a:r>
              <a:rPr lang="da-DK" sz="2400" dirty="0"/>
              <a:t>Ca. 20 dias</a:t>
            </a:r>
          </a:p>
        </p:txBody>
      </p:sp>
    </p:spTree>
    <p:extLst>
      <p:ext uri="{BB962C8B-B14F-4D97-AF65-F5344CB8AC3E}">
        <p14:creationId xmlns:p14="http://schemas.microsoft.com/office/powerpoint/2010/main" val="330906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Overview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674704"/>
          </a:xfrm>
        </p:spPr>
        <p:txBody>
          <a:bodyPr>
            <a:normAutofit/>
          </a:bodyPr>
          <a:lstStyle/>
          <a:p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Troubleshooting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with a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systematic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approach</a:t>
            </a:r>
          </a:p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  <a:p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Network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Troubleshooting</a:t>
            </a:r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0829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>
                <a:cs typeface="Aharoni" panose="02010803020104030203" pitchFamily="2" charset="-79"/>
              </a:rPr>
              <a:t>Network </a:t>
            </a:r>
            <a:r>
              <a:rPr lang="da-DK" sz="4800" b="1" dirty="0" err="1">
                <a:cs typeface="Aharoni" panose="02010803020104030203" pitchFamily="2" charset="-79"/>
              </a:rPr>
              <a:t>Failure</a:t>
            </a:r>
            <a:r>
              <a:rPr lang="da-DK" sz="4800" b="1" dirty="0">
                <a:cs typeface="Aharoni" panose="02010803020104030203" pitchFamily="2" charset="-79"/>
              </a:rPr>
              <a:t> is BAD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2589212" y="2161308"/>
            <a:ext cx="2952606" cy="4418395"/>
          </a:xfrm>
        </p:spPr>
        <p:txBody>
          <a:bodyPr>
            <a:normAutofit/>
          </a:bodyPr>
          <a:lstStyle/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1026" name="Picture 2" descr="http://www.comnetwork.org/wp-content/uploads/2014/07/bigstock_Failure_Grunge_Text_3728194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2161307"/>
            <a:ext cx="6515606" cy="4418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51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Documenting</a:t>
            </a:r>
            <a:r>
              <a:rPr lang="da-DK" sz="4800" b="1" dirty="0">
                <a:cs typeface="Aharoni" panose="02010803020104030203" pitchFamily="2" charset="-79"/>
              </a:rPr>
              <a:t> the </a:t>
            </a:r>
            <a:r>
              <a:rPr lang="da-DK" sz="4800" b="1" dirty="0" err="1">
                <a:cs typeface="Aharoni" panose="02010803020104030203" pitchFamily="2" charset="-79"/>
              </a:rPr>
              <a:t>network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2589212" y="2161308"/>
            <a:ext cx="8915400" cy="4418395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Configuration files, including network configuration files and end-system configuration files</a:t>
            </a:r>
          </a:p>
          <a:p>
            <a:endParaRPr lang="en-US" sz="3600" dirty="0"/>
          </a:p>
          <a:p>
            <a:r>
              <a:rPr lang="en-US" sz="3600" dirty="0"/>
              <a:t>Physical and logical topology diagrams </a:t>
            </a:r>
          </a:p>
          <a:p>
            <a:endParaRPr lang="en-US" sz="3600" dirty="0"/>
          </a:p>
          <a:p>
            <a:r>
              <a:rPr lang="en-US" sz="3600" dirty="0"/>
              <a:t>A baseline performance level</a:t>
            </a:r>
          </a:p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28466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>
                <a:cs typeface="Aharoni" panose="02010803020104030203" pitchFamily="2" charset="-79"/>
              </a:rPr>
              <a:t>Network </a:t>
            </a:r>
            <a:r>
              <a:rPr lang="da-DK" sz="4800" b="1" dirty="0" err="1">
                <a:cs typeface="Aharoni" panose="02010803020104030203" pitchFamily="2" charset="-79"/>
              </a:rPr>
              <a:t>Topology</a:t>
            </a:r>
            <a:r>
              <a:rPr lang="da-DK" sz="4800" b="1" dirty="0">
                <a:cs typeface="Aharoni" panose="02010803020104030203" pitchFamily="2" charset="-79"/>
              </a:rPr>
              <a:t> Diagram</a:t>
            </a:r>
            <a:endParaRPr lang="da-DK" sz="4800" dirty="0"/>
          </a:p>
        </p:txBody>
      </p:sp>
      <p:pic>
        <p:nvPicPr>
          <p:cNvPr id="3" name="PhysicalTop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357" y="1448332"/>
            <a:ext cx="6134821" cy="5337364"/>
          </a:xfrm>
          <a:prstGeom prst="rect">
            <a:avLst/>
          </a:prstGeom>
        </p:spPr>
      </p:pic>
      <p:pic>
        <p:nvPicPr>
          <p:cNvPr id="8" name="LogicalTopolog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808" y="1447191"/>
            <a:ext cx="6029370" cy="533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>
                <a:cs typeface="Aharoni" panose="02010803020104030203" pitchFamily="2" charset="-79"/>
              </a:rPr>
              <a:t>Network Baseline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2589212" y="2161308"/>
            <a:ext cx="2952606" cy="4418395"/>
          </a:xfrm>
        </p:spPr>
        <p:txBody>
          <a:bodyPr>
            <a:normAutofit fontScale="62500" lnSpcReduction="20000"/>
          </a:bodyPr>
          <a:lstStyle/>
          <a:p>
            <a:r>
              <a:rPr lang="en-US" sz="3600" b="1" dirty="0"/>
              <a:t>Step 1</a:t>
            </a:r>
            <a:r>
              <a:rPr lang="en-US" sz="3600" dirty="0"/>
              <a:t>. Determine what types of data to collect.</a:t>
            </a:r>
          </a:p>
          <a:p>
            <a:endParaRPr lang="en-US" sz="3600" b="1" dirty="0"/>
          </a:p>
          <a:p>
            <a:r>
              <a:rPr lang="en-US" sz="3600" b="1" dirty="0"/>
              <a:t>Step 2. </a:t>
            </a:r>
            <a:r>
              <a:rPr lang="en-US" sz="3600" dirty="0"/>
              <a:t>Identify devices and ports of interest.</a:t>
            </a:r>
          </a:p>
          <a:p>
            <a:endParaRPr lang="en-US" sz="3600" b="1" dirty="0"/>
          </a:p>
          <a:p>
            <a:r>
              <a:rPr lang="en-US" sz="3600" b="1" dirty="0"/>
              <a:t>Step 3. </a:t>
            </a:r>
            <a:r>
              <a:rPr lang="en-US" sz="3600" dirty="0"/>
              <a:t>Determine the baseline duration.</a:t>
            </a: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183" y="2161308"/>
            <a:ext cx="5922429" cy="39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4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>
                <a:cs typeface="Aharoni" panose="02010803020104030203" pitchFamily="2" charset="-79"/>
              </a:rPr>
              <a:t>General </a:t>
            </a:r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Procedures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2589212" y="2161308"/>
            <a:ext cx="2952606" cy="4418395"/>
          </a:xfrm>
        </p:spPr>
        <p:txBody>
          <a:bodyPr>
            <a:normAutofit/>
          </a:bodyPr>
          <a:lstStyle/>
          <a:p>
            <a:r>
              <a:rPr lang="da-DK" sz="2800" dirty="0">
                <a:latin typeface="Century Gothic" panose="020B0502020202020204" pitchFamily="34" charset="0"/>
                <a:cs typeface="Aharoni" panose="02010803020104030203" pitchFamily="2" charset="-79"/>
              </a:rPr>
              <a:t>Document </a:t>
            </a:r>
            <a:r>
              <a:rPr lang="da-DK" sz="28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unsuccessfull</a:t>
            </a:r>
            <a:r>
              <a:rPr lang="da-DK" sz="2800" dirty="0">
                <a:latin typeface="Century Gothic" panose="020B0502020202020204" pitchFamily="34" charset="0"/>
                <a:cs typeface="Aharoni" panose="02010803020104030203" pitchFamily="2" charset="-79"/>
              </a:rPr>
              <a:t> solution </a:t>
            </a:r>
            <a:r>
              <a:rPr lang="da-DK" sz="28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too</a:t>
            </a:r>
            <a:r>
              <a:rPr lang="da-DK" sz="2800" dirty="0">
                <a:latin typeface="Century Gothic" panose="020B0502020202020204" pitchFamily="34" charset="0"/>
                <a:cs typeface="Aharoni" panose="02010803020104030203" pitchFamily="2" charset="-79"/>
              </a:rPr>
              <a:t>!</a:t>
            </a:r>
          </a:p>
          <a:p>
            <a:r>
              <a:rPr lang="da-DK" sz="2800" dirty="0">
                <a:latin typeface="Century Gothic" panose="020B0502020202020204" pitchFamily="34" charset="0"/>
                <a:cs typeface="Aharoni" panose="02010803020104030203" pitchFamily="2" charset="-79"/>
              </a:rPr>
              <a:t>Timestamp it</a:t>
            </a: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362" y="2161308"/>
            <a:ext cx="542925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2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177289" y="234087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Gathering</a:t>
            </a:r>
            <a:r>
              <a:rPr lang="da-DK" sz="4800" b="1" dirty="0">
                <a:cs typeface="Aharoni" panose="02010803020104030203" pitchFamily="2" charset="-79"/>
              </a:rPr>
              <a:t> Symptoms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1890944" y="2807179"/>
            <a:ext cx="3072678" cy="3046495"/>
          </a:xfrm>
        </p:spPr>
        <p:txBody>
          <a:bodyPr>
            <a:normAutofit/>
          </a:bodyPr>
          <a:lstStyle/>
          <a:p>
            <a:r>
              <a:rPr lang="en-US" sz="2400" dirty="0"/>
              <a:t>Commands that are useful for gathering symptoms</a:t>
            </a:r>
          </a:p>
          <a:p>
            <a:r>
              <a:rPr lang="en-US" sz="2400" dirty="0"/>
              <a:t>ALSO very useful for documenting the network.</a:t>
            </a: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89" y="2161307"/>
            <a:ext cx="6730973" cy="4743069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8719CE38-5340-4AF7-8FF4-37BC2BE8987D}"/>
              </a:ext>
            </a:extLst>
          </p:cNvPr>
          <p:cNvSpPr/>
          <p:nvPr/>
        </p:nvSpPr>
        <p:spPr>
          <a:xfrm>
            <a:off x="1103024" y="1391636"/>
            <a:ext cx="11088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Alle disse kommandoer kan bruges til at opbygge din netværks dokumentation</a:t>
            </a:r>
          </a:p>
        </p:txBody>
      </p:sp>
    </p:spTree>
    <p:extLst>
      <p:ext uri="{BB962C8B-B14F-4D97-AF65-F5344CB8AC3E}">
        <p14:creationId xmlns:p14="http://schemas.microsoft.com/office/powerpoint/2010/main" val="472116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459922" y="139361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Questioning</a:t>
            </a:r>
            <a:r>
              <a:rPr lang="da-DK" sz="4800" b="1" dirty="0">
                <a:cs typeface="Aharoni" panose="02010803020104030203" pitchFamily="2" charset="-79"/>
              </a:rPr>
              <a:t> End Users</a:t>
            </a:r>
            <a:endParaRPr lang="da-DK" sz="4800" dirty="0"/>
          </a:p>
        </p:txBody>
      </p:sp>
      <p:pic>
        <p:nvPicPr>
          <p:cNvPr id="4" name="Content Placeholder 3"/>
          <p:cNvPicPr>
            <a:picLocks noGrp="1" noChangeAspect="1"/>
          </p:cNvPicPr>
          <p:nvPr/>
        </p:nvPicPr>
        <p:blipFill>
          <a:blip r:embed="rId3"/>
          <a:srcRect t="-918" b="-918"/>
          <a:stretch>
            <a:fillRect/>
          </a:stretch>
        </p:blipFill>
        <p:spPr bwMode="auto">
          <a:xfrm>
            <a:off x="3141565" y="2089581"/>
            <a:ext cx="8911687" cy="47930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Virkede for 3 aar siden"/>
          <p:cNvSpPr txBox="1"/>
          <p:nvPr/>
        </p:nvSpPr>
        <p:spPr>
          <a:xfrm>
            <a:off x="1697701" y="1675309"/>
            <a:ext cx="4001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”virkede i hvert fald for 3 år siden”</a:t>
            </a:r>
          </a:p>
        </p:txBody>
      </p:sp>
      <p:sp>
        <p:nvSpPr>
          <p:cNvPr id="8" name="Dererintetdervirker"/>
          <p:cNvSpPr txBox="1"/>
          <p:nvPr/>
        </p:nvSpPr>
        <p:spPr>
          <a:xfrm>
            <a:off x="1697701" y="931025"/>
            <a:ext cx="891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”der er intet er virker – det er PISSE irriterende – vi har faktisk ret travlt”</a:t>
            </a:r>
          </a:p>
        </p:txBody>
      </p:sp>
      <p:sp>
        <p:nvSpPr>
          <p:cNvPr id="9" name="Det vigtigtste i verden"/>
          <p:cNvSpPr txBox="1"/>
          <p:nvPr/>
        </p:nvSpPr>
        <p:spPr>
          <a:xfrm>
            <a:off x="2459922" y="1330747"/>
            <a:ext cx="493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”det her er nok det vigtigste i hele verden”</a:t>
            </a:r>
          </a:p>
        </p:txBody>
      </p:sp>
    </p:spTree>
    <p:extLst>
      <p:ext uri="{BB962C8B-B14F-4D97-AF65-F5344CB8AC3E}">
        <p14:creationId xmlns:p14="http://schemas.microsoft.com/office/powerpoint/2010/main" val="7009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640156" y="213511"/>
            <a:ext cx="10551844" cy="1280890"/>
          </a:xfrm>
        </p:spPr>
        <p:txBody>
          <a:bodyPr>
            <a:noAutofit/>
          </a:bodyPr>
          <a:lstStyle/>
          <a:p>
            <a:r>
              <a:rPr lang="da-DK" sz="4000" b="1" dirty="0" err="1">
                <a:cs typeface="Aharoni" panose="02010803020104030203" pitchFamily="2" charset="-79"/>
              </a:rPr>
              <a:t>Isolating</a:t>
            </a:r>
            <a:r>
              <a:rPr lang="da-DK" sz="4000" b="1" dirty="0">
                <a:cs typeface="Aharoni" panose="02010803020104030203" pitchFamily="2" charset="-79"/>
              </a:rPr>
              <a:t> the </a:t>
            </a:r>
            <a:r>
              <a:rPr lang="da-DK" sz="4000" b="1" dirty="0" err="1">
                <a:cs typeface="Aharoni" panose="02010803020104030203" pitchFamily="2" charset="-79"/>
              </a:rPr>
              <a:t>Issue</a:t>
            </a:r>
            <a:r>
              <a:rPr lang="da-DK" sz="4000" b="1" dirty="0">
                <a:cs typeface="Aharoni" panose="02010803020104030203" pitchFamily="2" charset="-79"/>
              </a:rPr>
              <a:t> Using </a:t>
            </a:r>
            <a:r>
              <a:rPr lang="da-DK" sz="4000" b="1" dirty="0" err="1">
                <a:cs typeface="Aharoni" panose="02010803020104030203" pitchFamily="2" charset="-79"/>
              </a:rPr>
              <a:t>Layered</a:t>
            </a:r>
            <a:r>
              <a:rPr lang="da-DK" sz="4000" b="1" dirty="0">
                <a:cs typeface="Aharoni" panose="02010803020104030203" pitchFamily="2" charset="-79"/>
              </a:rPr>
              <a:t> Models</a:t>
            </a:r>
            <a:endParaRPr lang="da-DK" sz="40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1640156" y="1509718"/>
            <a:ext cx="3763463" cy="4431997"/>
          </a:xfrm>
        </p:spPr>
        <p:txBody>
          <a:bodyPr>
            <a:normAutofit fontScale="62500" lnSpcReduction="20000"/>
          </a:bodyPr>
          <a:lstStyle/>
          <a:p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Compare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characteristics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of the problem to the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layers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of a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logical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network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model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Using the layered models, there are three primary methods for troubleshooting networks:</a:t>
            </a:r>
          </a:p>
          <a:p>
            <a:pPr lvl="1"/>
            <a:r>
              <a:rPr lang="en-US" sz="3400" dirty="0">
                <a:latin typeface="Century Gothic" panose="020B0502020202020204" pitchFamily="34" charset="0"/>
                <a:cs typeface="Aharoni" panose="02010803020104030203" pitchFamily="2" charset="-79"/>
              </a:rPr>
              <a:t>Bottom-up </a:t>
            </a:r>
          </a:p>
          <a:p>
            <a:pPr lvl="1"/>
            <a:r>
              <a:rPr lang="en-US" sz="3400" dirty="0">
                <a:latin typeface="Century Gothic" panose="020B0502020202020204" pitchFamily="34" charset="0"/>
                <a:cs typeface="Aharoni" panose="02010803020104030203" pitchFamily="2" charset="-79"/>
              </a:rPr>
              <a:t>Top-down</a:t>
            </a:r>
          </a:p>
          <a:p>
            <a:pPr lvl="1"/>
            <a:r>
              <a:rPr lang="en-US" sz="3400" dirty="0">
                <a:latin typeface="Century Gothic" panose="020B0502020202020204" pitchFamily="34" charset="0"/>
                <a:cs typeface="Aharoni" panose="02010803020104030203" pitchFamily="2" charset="-79"/>
              </a:rPr>
              <a:t>Divide-and-conquer</a:t>
            </a:r>
          </a:p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848" y="1076148"/>
            <a:ext cx="5884973" cy="539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6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277041" y="278297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Less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Structured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Approaches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1874317" y="1219802"/>
            <a:ext cx="10179138" cy="53599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In addition to the systematic, layered approach to troubleshooting, there are also, less-structured troubleshooting approaches: 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One troubleshooting approach is based on an </a:t>
            </a:r>
            <a:r>
              <a:rPr lang="en-US" sz="3600" b="1" dirty="0">
                <a:latin typeface="Century Gothic" panose="020B0502020202020204" pitchFamily="34" charset="0"/>
                <a:cs typeface="Aharoni" panose="02010803020104030203" pitchFamily="2" charset="-79"/>
              </a:rPr>
              <a:t>educated guess </a:t>
            </a: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by the network administrator, based on the symptoms of the problem.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Another approach involves </a:t>
            </a:r>
            <a:r>
              <a:rPr lang="en-US" sz="3600" b="1" dirty="0">
                <a:latin typeface="Century Gothic" panose="020B0502020202020204" pitchFamily="34" charset="0"/>
                <a:cs typeface="Aharoni" panose="02010803020104030203" pitchFamily="2" charset="-79"/>
              </a:rPr>
              <a:t>comparing a working and nonworking situation</a:t>
            </a: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, and spotting significant differences.</a:t>
            </a:r>
          </a:p>
          <a:p>
            <a:r>
              <a:rPr lang="en-US" sz="3600" b="1" dirty="0">
                <a:latin typeface="Century Gothic" panose="020B0502020202020204" pitchFamily="34" charset="0"/>
                <a:cs typeface="Aharoni" panose="02010803020104030203" pitchFamily="2" charset="-79"/>
              </a:rPr>
              <a:t>Swapping the problematic device </a:t>
            </a: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with a known, working one is a quick way to troubleshoot.</a:t>
            </a:r>
          </a:p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222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59675" y="14890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Tools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1546167" y="1429790"/>
            <a:ext cx="3995651" cy="514991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Common </a:t>
            </a:r>
            <a:r>
              <a:rPr lang="en-US" sz="3600" b="1" dirty="0">
                <a:latin typeface="Century Gothic" panose="020B0502020202020204" pitchFamily="34" charset="0"/>
                <a:cs typeface="Aharoni" panose="02010803020104030203" pitchFamily="2" charset="-79"/>
              </a:rPr>
              <a:t>software </a:t>
            </a:r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troubleshooting tools include: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NMS tools 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Knowledge bases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Baselining tools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Host-based protocol analyzers</a:t>
            </a:r>
          </a:p>
          <a:p>
            <a:r>
              <a:rPr lang="en-US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Cisco IOS EPC</a:t>
            </a:r>
          </a:p>
          <a:p>
            <a:endParaRPr lang="da-DK" sz="3600" dirty="0">
              <a:latin typeface="Century Gothic" panose="020B05020202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6663907" y="1429790"/>
            <a:ext cx="4574900" cy="51499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Common </a:t>
            </a:r>
            <a:r>
              <a:rPr lang="en-US" sz="3600" b="1" dirty="0"/>
              <a:t>hardware </a:t>
            </a:r>
            <a:r>
              <a:rPr lang="en-US" sz="3600" dirty="0"/>
              <a:t>troubleshooting tools include:</a:t>
            </a:r>
          </a:p>
          <a:p>
            <a:r>
              <a:rPr lang="en-US" sz="3600" dirty="0"/>
              <a:t>Network analysis module</a:t>
            </a:r>
          </a:p>
          <a:p>
            <a:r>
              <a:rPr lang="en-US" sz="3600" dirty="0"/>
              <a:t>Digital </a:t>
            </a:r>
            <a:r>
              <a:rPr lang="en-US" sz="3600" dirty="0" err="1"/>
              <a:t>multimeters</a:t>
            </a:r>
            <a:endParaRPr lang="en-US" sz="3600" dirty="0"/>
          </a:p>
          <a:p>
            <a:r>
              <a:rPr lang="en-US" sz="3600" dirty="0"/>
              <a:t>Cable testers</a:t>
            </a:r>
          </a:p>
          <a:p>
            <a:r>
              <a:rPr lang="en-US" sz="3600" dirty="0"/>
              <a:t>Cable analyzers</a:t>
            </a:r>
          </a:p>
          <a:p>
            <a:r>
              <a:rPr lang="en-US" sz="3600" dirty="0"/>
              <a:t>Portable network analyzers</a:t>
            </a:r>
          </a:p>
        </p:txBody>
      </p:sp>
    </p:spTree>
    <p:extLst>
      <p:ext uri="{BB962C8B-B14F-4D97-AF65-F5344CB8AC3E}">
        <p14:creationId xmlns:p14="http://schemas.microsoft.com/office/powerpoint/2010/main" val="2921124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260416" y="152452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with </a:t>
            </a:r>
            <a:r>
              <a:rPr lang="da-DK" sz="4800" b="1" dirty="0" err="1">
                <a:cs typeface="Aharoni" panose="02010803020104030203" pitchFamily="2" charset="-79"/>
              </a:rPr>
              <a:t>Syslog</a:t>
            </a:r>
            <a:endParaRPr lang="da-DK" sz="4800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/>
          <a:srcRect l="-1113" t="19504" r="-1246"/>
          <a:stretch/>
        </p:blipFill>
        <p:spPr>
          <a:xfrm>
            <a:off x="1581540" y="1296785"/>
            <a:ext cx="8994095" cy="54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8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4" y="7338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Layer</a:t>
            </a:r>
            <a:r>
              <a:rPr lang="da-DK" sz="4800" b="1" dirty="0">
                <a:cs typeface="Aharoni" panose="02010803020104030203" pitchFamily="2" charset="-79"/>
              </a:rPr>
              <a:t> 1</a:t>
            </a:r>
            <a:endParaRPr lang="da-DK" sz="4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l="-357" r="-357"/>
          <a:stretch>
            <a:fillRect/>
          </a:stretch>
        </p:blipFill>
        <p:spPr>
          <a:xfrm>
            <a:off x="686880" y="556968"/>
            <a:ext cx="11505120" cy="6329398"/>
          </a:xfr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684" y="1354270"/>
            <a:ext cx="4515511" cy="3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0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540854" y="0"/>
            <a:ext cx="8911687" cy="966523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Layer</a:t>
            </a:r>
            <a:r>
              <a:rPr lang="da-DK" sz="4800" b="1" dirty="0">
                <a:cs typeface="Aharoni" panose="02010803020104030203" pitchFamily="2" charset="-79"/>
              </a:rPr>
              <a:t> 2</a:t>
            </a:r>
            <a:endParaRPr lang="da-DK" sz="4800" dirty="0"/>
          </a:p>
        </p:txBody>
      </p:sp>
      <p:pic>
        <p:nvPicPr>
          <p:cNvPr id="3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t="-6889" b="-6889"/>
          <a:stretch>
            <a:fillRect/>
          </a:stretch>
        </p:blipFill>
        <p:spPr>
          <a:xfrm>
            <a:off x="1496291" y="1147156"/>
            <a:ext cx="10919317" cy="6007127"/>
          </a:xfrm>
        </p:spPr>
      </p:pic>
      <p:pic>
        <p:nvPicPr>
          <p:cNvPr id="2" name="Billed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147" y="1147156"/>
            <a:ext cx="4847604" cy="40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92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9629"/>
            <a:ext cx="8911687" cy="862492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Layer</a:t>
            </a:r>
            <a:r>
              <a:rPr lang="da-DK" sz="4800" b="1" dirty="0">
                <a:cs typeface="Aharoni" panose="02010803020104030203" pitchFamily="2" charset="-79"/>
              </a:rPr>
              <a:t> 3</a:t>
            </a:r>
            <a:endParaRPr lang="da-DK" sz="4800" dirty="0"/>
          </a:p>
        </p:txBody>
      </p:sp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/>
          <a:srcRect t="-4799" b="-4799"/>
          <a:stretch>
            <a:fillRect/>
          </a:stretch>
        </p:blipFill>
        <p:spPr>
          <a:xfrm>
            <a:off x="170274" y="1684865"/>
            <a:ext cx="11334338" cy="6195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113" y="745684"/>
            <a:ext cx="7745773" cy="377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19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060911" y="0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Layer</a:t>
            </a:r>
            <a:r>
              <a:rPr lang="da-DK" sz="4800" b="1" dirty="0">
                <a:cs typeface="Aharoni" panose="02010803020104030203" pitchFamily="2" charset="-79"/>
              </a:rPr>
              <a:t> 4</a:t>
            </a:r>
            <a:endParaRPr lang="da-DK" sz="4800" dirty="0"/>
          </a:p>
        </p:txBody>
      </p:sp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4" name="Billed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03" y="1110356"/>
            <a:ext cx="10194722" cy="5547619"/>
          </a:xfrm>
          <a:prstGeom prst="rect">
            <a:avLst/>
          </a:prstGeom>
        </p:spPr>
      </p:pic>
      <p:sp>
        <p:nvSpPr>
          <p:cNvPr id="6" name="Tekstfelt 5"/>
          <p:cNvSpPr txBox="1"/>
          <p:nvPr/>
        </p:nvSpPr>
        <p:spPr>
          <a:xfrm>
            <a:off x="5227782" y="5220855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b="1" dirty="0"/>
              <a:t>NAT</a:t>
            </a:r>
          </a:p>
        </p:txBody>
      </p:sp>
    </p:spTree>
    <p:extLst>
      <p:ext uri="{BB962C8B-B14F-4D97-AF65-F5344CB8AC3E}">
        <p14:creationId xmlns:p14="http://schemas.microsoft.com/office/powerpoint/2010/main" val="160706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2592925" y="-108124"/>
            <a:ext cx="8911687" cy="1280890"/>
          </a:xfrm>
        </p:spPr>
        <p:txBody>
          <a:bodyPr>
            <a:noAutofit/>
          </a:bodyPr>
          <a:lstStyle/>
          <a:p>
            <a:r>
              <a:rPr lang="da-DK" sz="4800" b="1" dirty="0" err="1">
                <a:cs typeface="Aharoni" panose="02010803020104030203" pitchFamily="2" charset="-79"/>
              </a:rPr>
              <a:t>Troubleshooting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Layer</a:t>
            </a:r>
            <a:r>
              <a:rPr lang="da-DK" sz="4800" b="1" dirty="0">
                <a:cs typeface="Aharoni" panose="02010803020104030203" pitchFamily="2" charset="-79"/>
              </a:rPr>
              <a:t> 5-7</a:t>
            </a:r>
            <a:endParaRPr lang="da-DK" sz="4800" dirty="0"/>
          </a:p>
        </p:txBody>
      </p:sp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/>
          <a:srcRect l="-1836" r="-1836"/>
          <a:stretch>
            <a:fillRect/>
          </a:stretch>
        </p:blipFill>
        <p:spPr>
          <a:xfrm>
            <a:off x="1064030" y="1079343"/>
            <a:ext cx="10278226" cy="55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6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263536" y="0"/>
            <a:ext cx="11188728" cy="1280890"/>
          </a:xfrm>
        </p:spPr>
        <p:txBody>
          <a:bodyPr>
            <a:noAutofit/>
          </a:bodyPr>
          <a:lstStyle/>
          <a:p>
            <a:r>
              <a:rPr lang="da-DK" sz="4800" b="1" dirty="0">
                <a:cs typeface="Aharoni" panose="02010803020104030203" pitchFamily="2" charset="-79"/>
              </a:rPr>
              <a:t>End-to-end </a:t>
            </a:r>
            <a:r>
              <a:rPr lang="da-DK" sz="4800" b="1" dirty="0" err="1">
                <a:cs typeface="Aharoni" panose="02010803020104030203" pitchFamily="2" charset="-79"/>
              </a:rPr>
              <a:t>connectivity</a:t>
            </a:r>
            <a:r>
              <a:rPr lang="da-DK" sz="4800" b="1" dirty="0">
                <a:cs typeface="Aharoni" panose="02010803020104030203" pitchFamily="2" charset="-79"/>
              </a:rPr>
              <a:t> </a:t>
            </a:r>
            <a:r>
              <a:rPr lang="da-DK" sz="4800" b="1" dirty="0" err="1">
                <a:cs typeface="Aharoni" panose="02010803020104030203" pitchFamily="2" charset="-79"/>
              </a:rPr>
              <a:t>testing</a:t>
            </a:r>
            <a:endParaRPr lang="da-DK" sz="4800" dirty="0"/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847899" y="1775132"/>
            <a:ext cx="5404202" cy="3307735"/>
          </a:xfrm>
        </p:spPr>
        <p:txBody>
          <a:bodyPr>
            <a:normAutofit/>
          </a:bodyPr>
          <a:lstStyle/>
          <a:p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A simple ping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command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can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rule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out ALOT of problems or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indicate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exactly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</a:t>
            </a:r>
            <a:r>
              <a:rPr lang="da-DK" sz="3600" dirty="0" err="1">
                <a:latin typeface="Century Gothic" panose="020B0502020202020204" pitchFamily="34" charset="0"/>
                <a:cs typeface="Aharoni" panose="02010803020104030203" pitchFamily="2" charset="-79"/>
              </a:rPr>
              <a:t>what</a:t>
            </a:r>
            <a:r>
              <a:rPr lang="da-DK" sz="3600" dirty="0">
                <a:latin typeface="Century Gothic" panose="020B0502020202020204" pitchFamily="34" charset="0"/>
                <a:cs typeface="Aharoni" panose="02010803020104030203" pitchFamily="2" charset="-79"/>
              </a:rPr>
              <a:t> the problem is!</a:t>
            </a:r>
          </a:p>
        </p:txBody>
      </p:sp>
      <p:pic>
        <p:nvPicPr>
          <p:cNvPr id="2" name="Bille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071" y="1446416"/>
            <a:ext cx="5889894" cy="51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70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7237" y="4810991"/>
            <a:ext cx="9780911" cy="1566949"/>
          </a:xfrm>
        </p:spPr>
        <p:txBody>
          <a:bodyPr>
            <a:noAutofit/>
          </a:bodyPr>
          <a:lstStyle/>
          <a:p>
            <a:r>
              <a:rPr lang="da-DK" altLang="da-DK" sz="3000" dirty="0"/>
              <a:t>Der er ikke nogen særskilt opgave til TSHOOT. </a:t>
            </a:r>
          </a:p>
          <a:p>
            <a:r>
              <a:rPr lang="da-DK" altLang="da-DK" sz="3000" dirty="0"/>
              <a:t>I casen kommer </a:t>
            </a:r>
            <a:r>
              <a:rPr lang="da-DK" altLang="da-DK" sz="3000" dirty="0" err="1"/>
              <a:t>SYSlog</a:t>
            </a:r>
            <a:r>
              <a:rPr lang="da-DK" altLang="da-DK" sz="3000" dirty="0"/>
              <a:t> med.</a:t>
            </a:r>
          </a:p>
          <a:p>
            <a:r>
              <a:rPr lang="da-DK" altLang="da-DK" sz="3000" dirty="0"/>
              <a:t>Læs Modul 12 og/eller se </a:t>
            </a:r>
            <a:r>
              <a:rPr lang="da-DK" altLang="da-DK" sz="3000"/>
              <a:t>video 27+28</a:t>
            </a:r>
            <a:endParaRPr lang="da-DK" altLang="da-DK" sz="3000" dirty="0"/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866" y="295307"/>
            <a:ext cx="3586274" cy="4185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250217"/>
      </p:ext>
    </p:extLst>
  </p:cSld>
  <p:clrMapOvr>
    <a:masterClrMapping/>
  </p:clrMapOvr>
</p:sld>
</file>

<file path=ppt/theme/theme1.xml><?xml version="1.0" encoding="utf-8"?>
<a:theme xmlns:a="http://schemas.openxmlformats.org/drawingml/2006/main" name="Visk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1138</Words>
  <Application>Microsoft Office PowerPoint</Application>
  <PresentationFormat>Widescreen</PresentationFormat>
  <Paragraphs>167</Paragraphs>
  <Slides>22</Slides>
  <Notes>20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22</vt:i4>
      </vt:variant>
    </vt:vector>
  </HeadingPairs>
  <TitlesOfParts>
    <vt:vector size="29" baseType="lpstr">
      <vt:lpstr>Aharoni</vt:lpstr>
      <vt:lpstr>Arial</vt:lpstr>
      <vt:lpstr>Calibri</vt:lpstr>
      <vt:lpstr>Century Gothic</vt:lpstr>
      <vt:lpstr>Wingdings</vt:lpstr>
      <vt:lpstr>Wingdings 3</vt:lpstr>
      <vt:lpstr>Visk</vt:lpstr>
      <vt:lpstr>PowerPoint-præsentation</vt:lpstr>
      <vt:lpstr>Hvad kan jeg efter Netværk II?</vt:lpstr>
      <vt:lpstr>Meget kort kapitel </vt:lpstr>
      <vt:lpstr>Overview</vt:lpstr>
      <vt:lpstr>Network Failure is BAD</vt:lpstr>
      <vt:lpstr>Documenting the network</vt:lpstr>
      <vt:lpstr>Network Topology Diagram</vt:lpstr>
      <vt:lpstr>Network Baseline</vt:lpstr>
      <vt:lpstr>General Troubleshooting Procedures</vt:lpstr>
      <vt:lpstr>Gathering Symptoms</vt:lpstr>
      <vt:lpstr>Questioning End Users</vt:lpstr>
      <vt:lpstr>Isolating the Issue Using Layered Models</vt:lpstr>
      <vt:lpstr>Less Structured Approaches</vt:lpstr>
      <vt:lpstr>Troubleshooting Tools</vt:lpstr>
      <vt:lpstr>Troubleshooting with Syslog</vt:lpstr>
      <vt:lpstr>Troubleshooting Layer 1</vt:lpstr>
      <vt:lpstr>Troubleshooting Layer 2</vt:lpstr>
      <vt:lpstr>Troubleshooting Layer 3</vt:lpstr>
      <vt:lpstr>Troubleshooting Layer 4</vt:lpstr>
      <vt:lpstr>Troubleshooting Layer 5-7</vt:lpstr>
      <vt:lpstr>End-to-end connectivity testing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Grete Teta</dc:creator>
  <cp:lastModifiedBy>Grete Teta</cp:lastModifiedBy>
  <cp:revision>5</cp:revision>
  <dcterms:created xsi:type="dcterms:W3CDTF">2024-02-15T14:00:32Z</dcterms:created>
  <dcterms:modified xsi:type="dcterms:W3CDTF">2026-09-13T21:45:36Z</dcterms:modified>
</cp:coreProperties>
</file>