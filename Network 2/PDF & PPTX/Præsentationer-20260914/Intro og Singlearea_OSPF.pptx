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  <p:sldMasterId id="2147483945" r:id="rId2"/>
  </p:sldMasterIdLst>
  <p:notesMasterIdLst>
    <p:notesMasterId r:id="rId33"/>
  </p:notesMasterIdLst>
  <p:handoutMasterIdLst>
    <p:handoutMasterId r:id="rId34"/>
  </p:handoutMasterIdLst>
  <p:sldIdLst>
    <p:sldId id="861" r:id="rId3"/>
    <p:sldId id="513" r:id="rId4"/>
    <p:sldId id="845" r:id="rId5"/>
    <p:sldId id="848" r:id="rId6"/>
    <p:sldId id="852" r:id="rId7"/>
    <p:sldId id="851" r:id="rId8"/>
    <p:sldId id="827" r:id="rId9"/>
    <p:sldId id="828" r:id="rId10"/>
    <p:sldId id="855" r:id="rId11"/>
    <p:sldId id="856" r:id="rId12"/>
    <p:sldId id="857" r:id="rId13"/>
    <p:sldId id="858" r:id="rId14"/>
    <p:sldId id="829" r:id="rId15"/>
    <p:sldId id="844" r:id="rId16"/>
    <p:sldId id="830" r:id="rId17"/>
    <p:sldId id="832" r:id="rId18"/>
    <p:sldId id="862" r:id="rId19"/>
    <p:sldId id="761" r:id="rId20"/>
    <p:sldId id="802" r:id="rId21"/>
    <p:sldId id="803" r:id="rId22"/>
    <p:sldId id="804" r:id="rId23"/>
    <p:sldId id="805" r:id="rId24"/>
    <p:sldId id="808" r:id="rId25"/>
    <p:sldId id="810" r:id="rId26"/>
    <p:sldId id="812" r:id="rId27"/>
    <p:sldId id="816" r:id="rId28"/>
    <p:sldId id="853" r:id="rId29"/>
    <p:sldId id="854" r:id="rId30"/>
    <p:sldId id="843" r:id="rId31"/>
    <p:sldId id="847" r:id="rId32"/>
  </p:sldIdLst>
  <p:sldSz cx="9144000" cy="6858000" type="screen4x3"/>
  <p:notesSz cx="7010400" cy="9296400"/>
  <p:defaultTextStyle>
    <a:defPPr>
      <a:defRPr lang="en-US"/>
    </a:defPPr>
    <a:lvl1pPr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ane Gibbons" initials="JG" lastIdx="5" clrIdx="0"/>
  <p:cmAuthor id="1" name="ElaineHorn" initials="E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17D9"/>
    <a:srgbClr val="FF3399"/>
    <a:srgbClr val="07B997"/>
    <a:srgbClr val="3E67A4"/>
    <a:srgbClr val="FF0066"/>
    <a:srgbClr val="C0C0C4"/>
    <a:srgbClr val="678DC5"/>
    <a:srgbClr val="3E8DC5"/>
    <a:srgbClr val="5F5F65"/>
    <a:srgbClr val="7E7E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876" autoAdjust="0"/>
    <p:restoredTop sz="67633" autoAdjust="0"/>
  </p:normalViewPr>
  <p:slideViewPr>
    <p:cSldViewPr snapToGrid="0">
      <p:cViewPr>
        <p:scale>
          <a:sx n="51" d="100"/>
          <a:sy n="51" d="100"/>
        </p:scale>
        <p:origin x="1976" y="-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022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7596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commentAuthors" Target="commentAuthor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9.xml"/><Relationship Id="rId13" Type="http://schemas.openxmlformats.org/officeDocument/2006/relationships/slide" Target="slides/slide24.xml"/><Relationship Id="rId3" Type="http://schemas.openxmlformats.org/officeDocument/2006/relationships/slide" Target="slides/slide13.xml"/><Relationship Id="rId7" Type="http://schemas.openxmlformats.org/officeDocument/2006/relationships/slide" Target="slides/slide18.xml"/><Relationship Id="rId12" Type="http://schemas.openxmlformats.org/officeDocument/2006/relationships/slide" Target="slides/slide23.xml"/><Relationship Id="rId2" Type="http://schemas.openxmlformats.org/officeDocument/2006/relationships/slide" Target="slides/slide8.xml"/><Relationship Id="rId1" Type="http://schemas.openxmlformats.org/officeDocument/2006/relationships/slide" Target="slides/slide7.xml"/><Relationship Id="rId6" Type="http://schemas.openxmlformats.org/officeDocument/2006/relationships/slide" Target="slides/slide16.xml"/><Relationship Id="rId11" Type="http://schemas.openxmlformats.org/officeDocument/2006/relationships/slide" Target="slides/slide22.xml"/><Relationship Id="rId5" Type="http://schemas.openxmlformats.org/officeDocument/2006/relationships/slide" Target="slides/slide15.xml"/><Relationship Id="rId15" Type="http://schemas.openxmlformats.org/officeDocument/2006/relationships/slide" Target="slides/slide26.xml"/><Relationship Id="rId10" Type="http://schemas.openxmlformats.org/officeDocument/2006/relationships/slide" Target="slides/slide21.xml"/><Relationship Id="rId4" Type="http://schemas.openxmlformats.org/officeDocument/2006/relationships/slide" Target="slides/slide14.xml"/><Relationship Id="rId9" Type="http://schemas.openxmlformats.org/officeDocument/2006/relationships/slide" Target="slides/slide20.xml"/><Relationship Id="rId14" Type="http://schemas.openxmlformats.org/officeDocument/2006/relationships/slide" Target="slides/slide2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11"/>
          <p:cNvSpPr>
            <a:spLocks noChangeArrowheads="1"/>
          </p:cNvSpPr>
          <p:nvPr/>
        </p:nvSpPr>
        <p:spPr bwMode="auto">
          <a:xfrm>
            <a:off x="6249988" y="8609013"/>
            <a:ext cx="44926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97283" name="Rectangle 12"/>
          <p:cNvSpPr>
            <a:spLocks noChangeArrowheads="1"/>
          </p:cNvSpPr>
          <p:nvPr/>
        </p:nvSpPr>
        <p:spPr bwMode="auto">
          <a:xfrm>
            <a:off x="57150" y="8785225"/>
            <a:ext cx="2619375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5667" tIns="50185" rIns="95667" bIns="50185">
            <a:spAutoFit/>
          </a:bodyPr>
          <a:lstStyle/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  <a:defRPr/>
            </a:pPr>
            <a:r>
              <a:rPr lang="en-US" sz="800" dirty="0"/>
              <a:t>© 2006, Cisco Systems, Inc. All rights reserved.</a:t>
            </a:r>
          </a:p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  <a:defRPr/>
            </a:pPr>
            <a:r>
              <a:rPr lang="en-US" sz="800" dirty="0"/>
              <a:t>Presentation_ID.scr</a:t>
            </a:r>
          </a:p>
        </p:txBody>
      </p:sp>
      <p:sp>
        <p:nvSpPr>
          <p:cNvPr id="97284" name="Line 13"/>
          <p:cNvSpPr>
            <a:spLocks noChangeShapeType="1"/>
          </p:cNvSpPr>
          <p:nvPr/>
        </p:nvSpPr>
        <p:spPr bwMode="auto">
          <a:xfrm>
            <a:off x="152400" y="8799513"/>
            <a:ext cx="6653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97285" name="Rectangle 14"/>
          <p:cNvSpPr>
            <a:spLocks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819" tIns="0" rIns="18819" bIns="0" anchor="b"/>
          <a:lstStyle/>
          <a:p>
            <a:pPr algn="r" defTabSz="903288">
              <a:lnSpc>
                <a:spcPct val="100000"/>
              </a:lnSpc>
              <a:defRPr/>
            </a:pPr>
            <a:fld id="{E7EB4DA2-8BFB-4C25-8348-069CBABA53FF}" type="slidenum">
              <a:rPr lang="en-US" sz="800"/>
              <a:pPr algn="r" defTabSz="903288">
                <a:lnSpc>
                  <a:spcPct val="100000"/>
                </a:lnSpc>
                <a:defRPr/>
              </a:pPr>
              <a:t>‹nr.›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1558326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8"/>
          <p:cNvSpPr>
            <a:spLocks noChangeArrowheads="1"/>
          </p:cNvSpPr>
          <p:nvPr/>
        </p:nvSpPr>
        <p:spPr bwMode="auto">
          <a:xfrm>
            <a:off x="6249988" y="8609013"/>
            <a:ext cx="44926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51203" name="Rectangle 9"/>
          <p:cNvSpPr>
            <a:spLocks noChangeArrowheads="1"/>
          </p:cNvSpPr>
          <p:nvPr/>
        </p:nvSpPr>
        <p:spPr bwMode="auto">
          <a:xfrm>
            <a:off x="57150" y="8785225"/>
            <a:ext cx="2619375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5667" tIns="50185" rIns="95667" bIns="50185">
            <a:spAutoFit/>
          </a:bodyPr>
          <a:lstStyle/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  <a:defRPr/>
            </a:pPr>
            <a:r>
              <a:rPr lang="en-US" sz="800" dirty="0"/>
              <a:t>© 2006, Cisco Systems, Inc. All rights reserved.</a:t>
            </a:r>
          </a:p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  <a:defRPr/>
            </a:pPr>
            <a:r>
              <a:rPr lang="en-US" sz="800" dirty="0"/>
              <a:t>Presentation_ID.scr</a:t>
            </a:r>
          </a:p>
        </p:txBody>
      </p:sp>
      <p:sp>
        <p:nvSpPr>
          <p:cNvPr id="51204" name="Line 10"/>
          <p:cNvSpPr>
            <a:spLocks noChangeShapeType="1"/>
          </p:cNvSpPr>
          <p:nvPr/>
        </p:nvSpPr>
        <p:spPr bwMode="auto">
          <a:xfrm>
            <a:off x="152400" y="8799513"/>
            <a:ext cx="6653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83307" name="Rectangle 1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819" tIns="0" rIns="18819" bIns="0" numCol="1" anchor="b" anchorCtr="0" compatLnSpc="1">
            <a:prstTxWarp prst="textNoShape">
              <a:avLst/>
            </a:prstTxWarp>
          </a:bodyPr>
          <a:lstStyle>
            <a:lvl1pPr algn="r" defTabSz="903288">
              <a:lnSpc>
                <a:spcPct val="100000"/>
              </a:lnSpc>
              <a:defRPr sz="800"/>
            </a:lvl1pPr>
          </a:lstStyle>
          <a:p>
            <a:pPr>
              <a:defRPr/>
            </a:pPr>
            <a:fld id="{25E10C89-F8A7-4157-A987-D9097F7301B1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  <p:sp>
        <p:nvSpPr>
          <p:cNvPr id="36870" name="Rectangle 1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3125" y="244475"/>
            <a:ext cx="5321300" cy="3990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183309" name="Rectangle 1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68350" y="4378325"/>
            <a:ext cx="5468938" cy="425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67" tIns="50185" rIns="95667" bIns="5018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Body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2144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1020763" rtl="0" eaLnBrk="0" fontAlgn="base" hangingPunct="0">
      <a:lnSpc>
        <a:spcPct val="90000"/>
      </a:lnSpc>
      <a:spcBef>
        <a:spcPct val="50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82600" indent="-120650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667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4493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9319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542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DB79D2C-2513-4C1B-9532-8FA5C66044E0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DB79D2C-2513-4C1B-9532-8FA5C66044E0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EIGRP Enhanced Interior Gateway Protocol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DB79D2C-2513-4C1B-9532-8FA5C66044E0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5.1.1.</a:t>
            </a:r>
            <a:r>
              <a:rPr lang="en-US" baseline="0" dirty="0"/>
              <a:t>5 </a:t>
            </a:r>
            <a:r>
              <a:rPr lang="en-US" dirty="0"/>
              <a:t>Configuring Single-Area</a:t>
            </a:r>
            <a:r>
              <a:rPr lang="en-US" baseline="0" dirty="0"/>
              <a:t> OSPF</a:t>
            </a:r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DB79D2C-2513-4C1B-9532-8FA5C66044E0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DB79D2C-2513-4C1B-9532-8FA5C66044E0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DB79D2C-2513-4C1B-9532-8FA5C66044E0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DB79D2C-2513-4C1B-9532-8FA5C66044E0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DB79D2C-2513-4C1B-9532-8FA5C66044E0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DB79D2C-2513-4C1B-9532-8FA5C66044E0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DB79D2C-2513-4C1B-9532-8FA5C66044E0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DB79D2C-2513-4C1B-9532-8FA5C66044E0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n-US" baseline="0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DB79D2C-2513-4C1B-9532-8FA5C66044E0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n-US" baseline="0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DB79D2C-2513-4C1B-9532-8FA5C66044E0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n-US" baseline="0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DB79D2C-2513-4C1B-9532-8FA5C66044E0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n-US" baseline="0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DB79D2C-2513-4C1B-9532-8FA5C66044E0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b="1" dirty="0"/>
              <a:t>Hvorfor angive både exit-interface </a:t>
            </a:r>
            <a:r>
              <a:rPr lang="da-DK" b="1" i="1" dirty="0"/>
              <a:t>og</a:t>
            </a:r>
            <a:r>
              <a:rPr lang="da-DK" b="1" dirty="0"/>
              <a:t> next-hop IP?   1. Effektiv routing (</a:t>
            </a:r>
            <a:r>
              <a:rPr lang="da-DK" b="1" dirty="0" err="1"/>
              <a:t>Layer</a:t>
            </a:r>
            <a:r>
              <a:rPr lang="da-DK" b="1" dirty="0"/>
              <a:t> 2 + </a:t>
            </a:r>
            <a:r>
              <a:rPr lang="da-DK" b="1" dirty="0" err="1"/>
              <a:t>Layer</a:t>
            </a:r>
            <a:r>
              <a:rPr lang="da-DK" b="1" dirty="0"/>
              <a:t> 3 integration)</a:t>
            </a:r>
          </a:p>
          <a:p>
            <a:endParaRPr lang="da-DK" dirty="0"/>
          </a:p>
          <a:p>
            <a:pPr marL="0" indent="0">
              <a:buNone/>
            </a:pPr>
            <a:r>
              <a:rPr lang="da-DK" dirty="0"/>
              <a:t>Når du angiver </a:t>
            </a:r>
            <a:r>
              <a:rPr lang="da-DK" b="1" dirty="0"/>
              <a:t>next-hop IP</a:t>
            </a:r>
            <a:r>
              <a:rPr lang="da-DK" dirty="0"/>
              <a:t>:</a:t>
            </a:r>
          </a:p>
          <a:p>
            <a:r>
              <a:rPr lang="da-DK" dirty="0"/>
              <a:t>Routeren ved, hvilken IP den skal sende pakken til.</a:t>
            </a:r>
          </a:p>
          <a:p>
            <a:r>
              <a:rPr lang="da-DK" dirty="0"/>
              <a:t>Men den skal stadig slå MAC-adressen op via ARP (Address Resolution Protocol).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Når du </a:t>
            </a:r>
            <a:r>
              <a:rPr lang="da-DK" b="1" dirty="0"/>
              <a:t>også angiver interface</a:t>
            </a:r>
            <a:r>
              <a:rPr lang="da-DK" dirty="0"/>
              <a:t>:</a:t>
            </a:r>
          </a:p>
          <a:p>
            <a:r>
              <a:rPr lang="da-DK" dirty="0"/>
              <a:t>Routeren ved præcis, hvilken port (fysisk interface) ARP skal bruges på.</a:t>
            </a:r>
          </a:p>
          <a:p>
            <a:r>
              <a:rPr lang="da-DK" dirty="0"/>
              <a:t>Det gør ARP-opslaget mere effektivt og mindsker usikkerhed.</a:t>
            </a:r>
          </a:p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E10C89-F8A7-4157-A987-D9097F7301B1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5028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b="1" dirty="0"/>
              <a:t>Hvorfor angive både exit-interface </a:t>
            </a:r>
            <a:r>
              <a:rPr lang="da-DK" b="1" i="1" dirty="0"/>
              <a:t>og</a:t>
            </a:r>
            <a:r>
              <a:rPr lang="da-DK" b="1" dirty="0"/>
              <a:t> next-hop IP?   1. Effektiv routing (</a:t>
            </a:r>
            <a:r>
              <a:rPr lang="da-DK" b="1" dirty="0" err="1"/>
              <a:t>Layer</a:t>
            </a:r>
            <a:r>
              <a:rPr lang="da-DK" b="1" dirty="0"/>
              <a:t> 2 + </a:t>
            </a:r>
            <a:r>
              <a:rPr lang="da-DK" b="1" dirty="0" err="1"/>
              <a:t>Layer</a:t>
            </a:r>
            <a:r>
              <a:rPr lang="da-DK" b="1" dirty="0"/>
              <a:t> 3 integration)</a:t>
            </a:r>
          </a:p>
          <a:p>
            <a:endParaRPr lang="da-DK" dirty="0"/>
          </a:p>
          <a:p>
            <a:pPr marL="0" indent="0">
              <a:buNone/>
            </a:pPr>
            <a:r>
              <a:rPr lang="da-DK" dirty="0"/>
              <a:t>Når du angiver </a:t>
            </a:r>
            <a:r>
              <a:rPr lang="da-DK" b="1" dirty="0"/>
              <a:t>next-hop IP</a:t>
            </a:r>
            <a:r>
              <a:rPr lang="da-DK" dirty="0"/>
              <a:t>:</a:t>
            </a:r>
          </a:p>
          <a:p>
            <a:r>
              <a:rPr lang="da-DK" dirty="0"/>
              <a:t>Routeren ved, hvilken IP den skal sende pakken til.</a:t>
            </a:r>
          </a:p>
          <a:p>
            <a:r>
              <a:rPr lang="da-DK" dirty="0"/>
              <a:t>Men den skal stadig slå MAC-adressen op via ARP (Address Resolution Protocol).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Når du </a:t>
            </a:r>
            <a:r>
              <a:rPr lang="da-DK" b="1" dirty="0"/>
              <a:t>også angiver interface</a:t>
            </a:r>
            <a:r>
              <a:rPr lang="da-DK" dirty="0"/>
              <a:t>:</a:t>
            </a:r>
          </a:p>
          <a:p>
            <a:r>
              <a:rPr lang="da-DK" dirty="0"/>
              <a:t>Routeren ved præcis, hvilken port (fysisk interface) ARP skal bruges på.</a:t>
            </a:r>
          </a:p>
          <a:p>
            <a:r>
              <a:rPr lang="da-DK" dirty="0"/>
              <a:t>Det gør ARP-opslaget mere effektivt og mindsker usikkerhed.</a:t>
            </a:r>
          </a:p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E10C89-F8A7-4157-A987-D9097F7301B1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8889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E10C89-F8A7-4157-A987-D9097F7301B1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4450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_CoverArt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893888"/>
            <a:ext cx="9140825" cy="2449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498975" y="6670675"/>
            <a:ext cx="2347913" cy="19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© 2007 – 2010, Cisco Systems, Inc. All rights reserved.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123113" y="6672263"/>
            <a:ext cx="65087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Cisco Public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93675" y="6562725"/>
            <a:ext cx="962025" cy="29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ITE PC v4.1</a:t>
            </a:r>
          </a:p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Chapter 1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fld id="{01BBB46D-A68F-453A-ADAC-D6E5143346A7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  <a:defRPr/>
              </a:pPr>
              <a:t>‹nr.›</a:t>
            </a:fld>
            <a:endParaRPr lang="en-US" sz="1000" dirty="0">
              <a:solidFill>
                <a:srgbClr val="D3D3D3"/>
              </a:solidFill>
            </a:endParaRPr>
          </a:p>
        </p:txBody>
      </p:sp>
      <p:pic>
        <p:nvPicPr>
          <p:cNvPr id="9" name="Picture 9" descr="Cisco_New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3225" y="5940425"/>
            <a:ext cx="3354388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10" descr="Cisco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6063" y="119063"/>
            <a:ext cx="1171575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90247" name="Rectangle 7"/>
          <p:cNvSpPr>
            <a:spLocks noGrp="1" noChangeArrowheads="1"/>
          </p:cNvSpPr>
          <p:nvPr>
            <p:ph type="ctrTitle"/>
          </p:nvPr>
        </p:nvSpPr>
        <p:spPr bwMode="white">
          <a:xfrm>
            <a:off x="311150" y="2671763"/>
            <a:ext cx="3768725" cy="830262"/>
          </a:xfrm>
          <a:ln/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9024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4103688" cy="658812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2014538"/>
            <a:ext cx="3894137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2014538"/>
            <a:ext cx="3894138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798513"/>
            <a:ext cx="2035175" cy="47879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798513"/>
            <a:ext cx="5957887" cy="47879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38" y="798513"/>
            <a:ext cx="8145462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55638" y="2014538"/>
            <a:ext cx="7940675" cy="3571875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PPt_4face_021208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911350"/>
            <a:ext cx="9144000" cy="243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278"/>
          <p:cNvSpPr>
            <a:spLocks noChangeArrowheads="1"/>
          </p:cNvSpPr>
          <p:nvPr/>
        </p:nvSpPr>
        <p:spPr bwMode="auto">
          <a:xfrm>
            <a:off x="4498975" y="6672263"/>
            <a:ext cx="202247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© 2008 Cisco Systems, Inc. All rights reserved.</a:t>
            </a:r>
          </a:p>
        </p:txBody>
      </p:sp>
      <p:sp>
        <p:nvSpPr>
          <p:cNvPr id="6" name="Rectangle 279"/>
          <p:cNvSpPr>
            <a:spLocks noChangeArrowheads="1"/>
          </p:cNvSpPr>
          <p:nvPr/>
        </p:nvSpPr>
        <p:spPr bwMode="auto">
          <a:xfrm>
            <a:off x="6896100" y="6672263"/>
            <a:ext cx="877888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Cisco Confidential</a:t>
            </a:r>
          </a:p>
        </p:txBody>
      </p:sp>
      <p:sp>
        <p:nvSpPr>
          <p:cNvPr id="7" name="Rectangle 280"/>
          <p:cNvSpPr>
            <a:spLocks noChangeArrowheads="1"/>
          </p:cNvSpPr>
          <p:nvPr/>
        </p:nvSpPr>
        <p:spPr bwMode="auto">
          <a:xfrm>
            <a:off x="193675" y="6672263"/>
            <a:ext cx="96202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Presentation_ID</a:t>
            </a:r>
          </a:p>
        </p:txBody>
      </p:sp>
      <p:sp>
        <p:nvSpPr>
          <p:cNvPr id="8" name="Rectangle 281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fld id="{602D8DB9-125D-49B3-8BCC-F9D106BDA5A7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  <a:defRPr/>
              </a:pPr>
              <a:t>‹nr.›</a:t>
            </a:fld>
            <a:endParaRPr lang="en-US" sz="1000" dirty="0">
              <a:solidFill>
                <a:srgbClr val="D3D3D3"/>
              </a:solidFill>
            </a:endParaRPr>
          </a:p>
        </p:txBody>
      </p:sp>
      <p:pic>
        <p:nvPicPr>
          <p:cNvPr id="9" name="Picture 331" descr="Cisco_New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3225" y="5940425"/>
            <a:ext cx="3354388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333" descr="Cisco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6063" y="119063"/>
            <a:ext cx="1171575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9873" name="Rectangle 209"/>
          <p:cNvSpPr>
            <a:spLocks noGrp="1" noChangeArrowheads="1"/>
          </p:cNvSpPr>
          <p:nvPr>
            <p:ph type="ctrTitle"/>
          </p:nvPr>
        </p:nvSpPr>
        <p:spPr bwMode="white">
          <a:xfrm>
            <a:off x="311150" y="2671763"/>
            <a:ext cx="3768725" cy="830262"/>
          </a:xfrm>
          <a:ln/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69874" name="Rectangle 210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4103688" cy="658812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2014538"/>
            <a:ext cx="3894137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2014538"/>
            <a:ext cx="3894138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798513"/>
            <a:ext cx="2035175" cy="47879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798513"/>
            <a:ext cx="5957887" cy="47879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7" y="5079369"/>
            <a:ext cx="4319105" cy="384175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7" y="5399365"/>
            <a:ext cx="4319105" cy="384175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7" y="5719361"/>
            <a:ext cx="4319105" cy="384175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3829649"/>
            <a:ext cx="5925246" cy="398668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6" y="3067667"/>
            <a:ext cx="5955513" cy="85964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527051"/>
            <a:ext cx="796924" cy="565151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82252472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>
          <p15:clr>
            <a:srgbClr val="FBAE40"/>
          </p15:clr>
        </p15:guide>
        <p15:guide id="2" pos="360">
          <p15:clr>
            <a:srgbClr val="FBAE40"/>
          </p15:clr>
        </p15:guide>
        <p15:guide id="3" orient="horz" pos="518">
          <p15:clr>
            <a:srgbClr val="FBAE40"/>
          </p15:clr>
        </p15:guide>
        <p15:guide id="4" pos="812">
          <p15:clr>
            <a:srgbClr val="FBAE40"/>
          </p15:clr>
        </p15:guide>
        <p15:guide id="5" pos="31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55638" y="798513"/>
            <a:ext cx="8145462" cy="838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Slide Title</a:t>
            </a:r>
          </a:p>
        </p:txBody>
      </p:sp>
      <p:sp>
        <p:nvSpPr>
          <p:cNvPr id="1027" name="Rectangle 4"/>
          <p:cNvSpPr>
            <a:spLocks noChangeArrowheads="1"/>
          </p:cNvSpPr>
          <p:nvPr/>
        </p:nvSpPr>
        <p:spPr bwMode="auto">
          <a:xfrm>
            <a:off x="193675" y="6562725"/>
            <a:ext cx="962025" cy="29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ITE PC v4.1</a:t>
            </a:r>
          </a:p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Chapter 1</a:t>
            </a:r>
          </a:p>
        </p:txBody>
      </p:sp>
      <p:sp>
        <p:nvSpPr>
          <p:cNvPr id="1028" name="Rectangle 5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fld id="{444D8A9F-EF57-4EE6-A242-4C1A2E3B2F98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  <a:defRPr/>
              </a:pPr>
              <a:t>‹nr.›</a:t>
            </a:fld>
            <a:endParaRPr lang="en-US" sz="1000" dirty="0">
              <a:solidFill>
                <a:srgbClr val="D3D3D3"/>
              </a:solidFill>
            </a:endParaRPr>
          </a:p>
        </p:txBody>
      </p:sp>
      <p:sp>
        <p:nvSpPr>
          <p:cNvPr id="1029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5638" y="2014538"/>
            <a:ext cx="7940675" cy="3571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30" name="Picture 7" descr="PPt_TopBand_Artwork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08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8"/>
          <p:cNvSpPr>
            <a:spLocks noChangeArrowheads="1"/>
          </p:cNvSpPr>
          <p:nvPr/>
        </p:nvSpPr>
        <p:spPr bwMode="auto">
          <a:xfrm>
            <a:off x="4498975" y="6670675"/>
            <a:ext cx="2347913" cy="19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© 2007 – 2010, Cisco Systems, Inc. All rights reserved.</a:t>
            </a:r>
          </a:p>
        </p:txBody>
      </p:sp>
      <p:sp>
        <p:nvSpPr>
          <p:cNvPr id="1032" name="Rectangle 9"/>
          <p:cNvSpPr>
            <a:spLocks noChangeArrowheads="1"/>
          </p:cNvSpPr>
          <p:nvPr/>
        </p:nvSpPr>
        <p:spPr bwMode="auto">
          <a:xfrm>
            <a:off x="7123113" y="6672263"/>
            <a:ext cx="65087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Cisco Public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80" r:id="rId1"/>
    <p:sldLayoutId id="2147484559" r:id="rId2"/>
    <p:sldLayoutId id="2147484560" r:id="rId3"/>
    <p:sldLayoutId id="2147484561" r:id="rId4"/>
    <p:sldLayoutId id="2147484562" r:id="rId5"/>
    <p:sldLayoutId id="2147484563" r:id="rId6"/>
    <p:sldLayoutId id="2147484564" r:id="rId7"/>
    <p:sldLayoutId id="2147484565" r:id="rId8"/>
    <p:sldLayoutId id="2147484566" r:id="rId9"/>
    <p:sldLayoutId id="2147484567" r:id="rId10"/>
    <p:sldLayoutId id="2147484568" r:id="rId11"/>
    <p:sldLayoutId id="2147484569" r:id="rId12"/>
  </p:sldLayoutIdLst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+mj-lt"/>
          <a:ea typeface="+mj-ea"/>
          <a:cs typeface="+mj-cs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5pPr>
      <a:lvl6pPr marL="4572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6pPr>
      <a:lvl7pPr marL="9144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7pPr>
      <a:lvl8pPr marL="13716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8pPr>
      <a:lvl9pPr marL="18288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4675" indent="-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3pPr>
      <a:lvl4pPr marL="1254125" indent="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4pPr>
      <a:lvl5pPr marL="1604963" indent="223838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5pPr>
      <a:lvl6pPr marL="20621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6pPr>
      <a:lvl7pPr marL="25193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7pPr>
      <a:lvl8pPr marL="29765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8pPr>
      <a:lvl9pPr marL="34337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146"/>
          <p:cNvSpPr>
            <a:spLocks noGrp="1" noChangeArrowheads="1"/>
          </p:cNvSpPr>
          <p:nvPr>
            <p:ph type="title"/>
          </p:nvPr>
        </p:nvSpPr>
        <p:spPr bwMode="auto">
          <a:xfrm>
            <a:off x="655638" y="798513"/>
            <a:ext cx="8145462" cy="838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Slide Title</a:t>
            </a:r>
          </a:p>
        </p:txBody>
      </p:sp>
      <p:sp>
        <p:nvSpPr>
          <p:cNvPr id="2051" name="Rectangle 6281"/>
          <p:cNvSpPr>
            <a:spLocks noChangeArrowheads="1"/>
          </p:cNvSpPr>
          <p:nvPr/>
        </p:nvSpPr>
        <p:spPr bwMode="auto">
          <a:xfrm>
            <a:off x="193675" y="6672263"/>
            <a:ext cx="96202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Presentation_ID</a:t>
            </a:r>
          </a:p>
        </p:txBody>
      </p:sp>
      <p:sp>
        <p:nvSpPr>
          <p:cNvPr id="2052" name="Rectangle 6282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fld id="{4656828F-70FF-4FA6-A4C2-1E97AB34D530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  <a:defRPr/>
              </a:pPr>
              <a:t>‹nr.›</a:t>
            </a:fld>
            <a:endParaRPr lang="en-US" sz="1000" dirty="0">
              <a:solidFill>
                <a:srgbClr val="D3D3D3"/>
              </a:solidFill>
            </a:endParaRPr>
          </a:p>
        </p:txBody>
      </p:sp>
      <p:sp>
        <p:nvSpPr>
          <p:cNvPr id="2053" name="Rectangle 628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5638" y="2014538"/>
            <a:ext cx="7940675" cy="3571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54" name="Rectangle 6312"/>
          <p:cNvSpPr>
            <a:spLocks noChangeArrowheads="1"/>
          </p:cNvSpPr>
          <p:nvPr/>
        </p:nvSpPr>
        <p:spPr bwMode="auto">
          <a:xfrm>
            <a:off x="4498975" y="6672263"/>
            <a:ext cx="202247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© 2008 Cisco Systems, Inc. All rights reserved.</a:t>
            </a:r>
          </a:p>
        </p:txBody>
      </p:sp>
      <p:sp>
        <p:nvSpPr>
          <p:cNvPr id="2055" name="Rectangle 6313"/>
          <p:cNvSpPr>
            <a:spLocks noChangeArrowheads="1"/>
          </p:cNvSpPr>
          <p:nvPr/>
        </p:nvSpPr>
        <p:spPr bwMode="auto">
          <a:xfrm>
            <a:off x="6896100" y="6672263"/>
            <a:ext cx="877888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Cisco Confidential</a:t>
            </a:r>
          </a:p>
        </p:txBody>
      </p:sp>
      <p:pic>
        <p:nvPicPr>
          <p:cNvPr id="2056" name="Picture 8" descr="Rev08_Cisco_BrandBar10_060408.png"/>
          <p:cNvPicPr>
            <a:picLocks noChangeAspect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4000" cy="34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581" r:id="rId1"/>
    <p:sldLayoutId id="2147484570" r:id="rId2"/>
    <p:sldLayoutId id="2147484571" r:id="rId3"/>
    <p:sldLayoutId id="2147484572" r:id="rId4"/>
    <p:sldLayoutId id="2147484573" r:id="rId5"/>
    <p:sldLayoutId id="2147484574" r:id="rId6"/>
    <p:sldLayoutId id="2147484575" r:id="rId7"/>
    <p:sldLayoutId id="2147484576" r:id="rId8"/>
    <p:sldLayoutId id="2147484577" r:id="rId9"/>
    <p:sldLayoutId id="2147484578" r:id="rId10"/>
    <p:sldLayoutId id="2147484579" r:id="rId11"/>
    <p:sldLayoutId id="2147484582" r:id="rId12"/>
  </p:sldLayoutIdLst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+mj-lt"/>
          <a:ea typeface="+mj-ea"/>
          <a:cs typeface="+mj-cs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5pPr>
      <a:lvl6pPr marL="4572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6pPr>
      <a:lvl7pPr marL="9144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7pPr>
      <a:lvl8pPr marL="13716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8pPr>
      <a:lvl9pPr marL="18288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4675" indent="-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3pPr>
      <a:lvl4pPr marL="1254125" indent="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4pPr>
      <a:lvl5pPr marL="1604963" indent="223838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5pPr>
      <a:lvl6pPr marL="20621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6pPr>
      <a:lvl7pPr marL="25193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7pPr>
      <a:lvl8pPr marL="29765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8pPr>
      <a:lvl9pPr marL="34337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-MiNfa8kzHI" TargetMode="Externa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notes.networklessons.com/routing-fully-specified-route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notes.networklessons.com/routing-table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notes.networklessons.com/routing-fully-specified-route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notes.networklessons.com/routing-table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playlist?list=PLSaOtWGmiTwsmLDCn8gPVHpcW3DEetuYW" TargetMode="External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50838" y="114300"/>
            <a:ext cx="8145462" cy="838200"/>
          </a:xfrm>
        </p:spPr>
        <p:txBody>
          <a:bodyPr/>
          <a:lstStyle/>
          <a:p>
            <a:pPr algn="ctr"/>
            <a:r>
              <a:rPr lang="da-DK" dirty="0"/>
              <a:t>Velkommen til Netværk II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164969" y="1431994"/>
            <a:ext cx="8814061" cy="5426006"/>
          </a:xfrm>
        </p:spPr>
        <p:txBody>
          <a:bodyPr/>
          <a:lstStyle/>
          <a:p>
            <a:pPr marL="0" indent="0">
              <a:buNone/>
            </a:pPr>
            <a:r>
              <a:rPr lang="da-DK" dirty="0"/>
              <a:t>Jeg hedder Grete Teta, jeg har undervist på skolen siden 2020</a:t>
            </a:r>
          </a:p>
          <a:p>
            <a:pPr marL="0" indent="0">
              <a:buNone/>
            </a:pPr>
            <a:r>
              <a:rPr lang="da-DK" dirty="0"/>
              <a:t>Jeg er mest på H3 svendeprøveforløbet, men har også haft H1, H2 og H3 anden del.</a:t>
            </a:r>
          </a:p>
          <a:p>
            <a:pPr marL="0" indent="0">
              <a:buNone/>
            </a:pPr>
            <a:r>
              <a:rPr lang="da-DK" dirty="0"/>
              <a:t>Jeg laver mange af opgaverne selv, vi kommer også til at konstruere nogle opgaver på tavlen, så I får repeteret Netværk I</a:t>
            </a:r>
          </a:p>
          <a:p>
            <a:pPr marL="0" indent="0">
              <a:buNone/>
            </a:pPr>
            <a:r>
              <a:rPr lang="da-DK" dirty="0"/>
              <a:t>Jeg bruger også netacad opgaver ind imellem.</a:t>
            </a:r>
          </a:p>
          <a:p>
            <a:pPr marL="0" indent="0">
              <a:buNone/>
            </a:pPr>
            <a:r>
              <a:rPr lang="da-DK" dirty="0"/>
              <a:t>Der er SKAL opgaver, som I bør aflevere, hvis I vil bestå faget.</a:t>
            </a:r>
          </a:p>
          <a:p>
            <a:pPr marL="0" indent="0">
              <a:buNone/>
            </a:pPr>
            <a:r>
              <a:rPr lang="da-DK" dirty="0"/>
              <a:t>Der vil også være ekstra opgaver til de hurtige, så de ikke sidder å keder sig.</a:t>
            </a:r>
          </a:p>
          <a:p>
            <a:pPr marL="0" indent="0">
              <a:buNone/>
            </a:pPr>
            <a:r>
              <a:rPr lang="da-DK" dirty="0"/>
              <a:t>Har I haft om FHRP og HSRP?</a:t>
            </a:r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140918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211079" y="1651273"/>
            <a:ext cx="8038397" cy="1666626"/>
          </a:xfrm>
        </p:spPr>
        <p:txBody>
          <a:bodyPr/>
          <a:lstStyle/>
          <a:p>
            <a:r>
              <a:rPr lang="en-US" sz="3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1: Single-Area </a:t>
            </a:r>
            <a:r>
              <a:rPr lang="en-US" sz="3000">
                <a:solidFill>
                  <a:schemeClr val="accent5">
                    <a:lumMod val="40000"/>
                    <a:lumOff val="60000"/>
                  </a:schemeClr>
                </a:solidFill>
              </a:rPr>
              <a:t>OSPFv2 Concepts</a:t>
            </a:r>
            <a:br>
              <a:rPr lang="en-US" sz="3000">
                <a:solidFill>
                  <a:schemeClr val="accent5">
                    <a:lumMod val="40000"/>
                    <a:lumOff val="60000"/>
                  </a:schemeClr>
                </a:solidFill>
              </a:rPr>
            </a:br>
            <a:r>
              <a:rPr lang="en-US" sz="300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2: Single-Area OSPFv2 Configuration</a:t>
            </a:r>
            <a:endParaRPr lang="en-US" sz="30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11079" y="5028469"/>
            <a:ext cx="5925246" cy="299001"/>
          </a:xfrm>
        </p:spPr>
        <p:txBody>
          <a:bodyPr/>
          <a:lstStyle/>
          <a:p>
            <a:endParaRPr lang="en-US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628523" y="5819715"/>
            <a:ext cx="3836690" cy="902174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Enterprise Networking, Security, and Automationv7.0</a:t>
            </a:r>
          </a:p>
          <a:p>
            <a:pPr>
              <a:spcBef>
                <a:spcPts val="0"/>
              </a:spcBef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(ENSA)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650477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50838" y="114300"/>
            <a:ext cx="8145462" cy="838200"/>
          </a:xfrm>
        </p:spPr>
        <p:txBody>
          <a:bodyPr/>
          <a:lstStyle/>
          <a:p>
            <a:r>
              <a:rPr lang="da-DK" dirty="0"/>
              <a:t>Indhold i modul 1 og 2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0" y="1163924"/>
            <a:ext cx="9144000" cy="5426006"/>
          </a:xfrm>
        </p:spPr>
        <p:txBody>
          <a:bodyPr/>
          <a:lstStyle/>
          <a:p>
            <a:r>
              <a:rPr lang="da-DK" dirty="0"/>
              <a:t>Lidt om statisk vs. dynamisk routing   </a:t>
            </a:r>
            <a:r>
              <a:rPr lang="da-DK" sz="1800" dirty="0">
                <a:solidFill>
                  <a:srgbClr val="FF0000"/>
                </a:solidFill>
              </a:rPr>
              <a:t>(som I jo har hørt om i Netværk1 </a:t>
            </a:r>
            <a:r>
              <a:rPr lang="da-DK" sz="1800" dirty="0">
                <a:solidFill>
                  <a:srgbClr val="FF0000"/>
                </a:solidFill>
                <a:sym typeface="Wingdings" panose="05000000000000000000" pitchFamily="2" charset="2"/>
              </a:rPr>
              <a:t>)</a:t>
            </a:r>
          </a:p>
          <a:p>
            <a:endParaRPr lang="da-DK" dirty="0"/>
          </a:p>
          <a:p>
            <a:r>
              <a:rPr lang="da-DK" dirty="0"/>
              <a:t>Generel snak om OSPF</a:t>
            </a:r>
          </a:p>
          <a:p>
            <a:r>
              <a:rPr lang="da-DK" dirty="0"/>
              <a:t>Hvordan konfigurerer man OSPF</a:t>
            </a:r>
          </a:p>
          <a:p>
            <a:r>
              <a:rPr lang="da-DK" dirty="0"/>
              <a:t>Fejlsøgning i OSPF</a:t>
            </a:r>
          </a:p>
          <a:p>
            <a:endParaRPr lang="da-DK" dirty="0"/>
          </a:p>
          <a:p>
            <a:pPr lvl="1"/>
            <a:r>
              <a:rPr lang="da-DK" dirty="0"/>
              <a:t>	</a:t>
            </a:r>
          </a:p>
          <a:p>
            <a:endParaRPr lang="da-DK" dirty="0"/>
          </a:p>
          <a:p>
            <a:endParaRPr lang="da-DK" dirty="0"/>
          </a:p>
          <a:p>
            <a:pPr marL="0" indent="0">
              <a:buNone/>
            </a:pPr>
            <a:r>
              <a:rPr lang="da-DK" dirty="0"/>
              <a:t>				 			(</a:t>
            </a:r>
            <a:r>
              <a:rPr lang="da-DK" dirty="0" err="1"/>
              <a:t>ca</a:t>
            </a:r>
            <a:r>
              <a:rPr lang="da-DK" dirty="0"/>
              <a:t> 30 dias + video)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pPr marL="0" indent="0">
              <a:buNone/>
            </a:pPr>
            <a:r>
              <a:rPr lang="da-DK" dirty="0"/>
              <a:t>							      Ca. 19 dias </a:t>
            </a:r>
          </a:p>
        </p:txBody>
      </p:sp>
    </p:spTree>
    <p:extLst>
      <p:ext uri="{BB962C8B-B14F-4D97-AF65-F5344CB8AC3E}">
        <p14:creationId xmlns:p14="http://schemas.microsoft.com/office/powerpoint/2010/main" val="564233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81CF6C-7B3E-4C84-9FB1-C070F5BDF1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875" y="1212257"/>
            <a:ext cx="9005719" cy="486767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FD4F9E-FD47-41C1-8AD4-067E43AABA3D}"/>
              </a:ext>
            </a:extLst>
          </p:cNvPr>
          <p:cNvSpPr txBox="1"/>
          <p:nvPr/>
        </p:nvSpPr>
        <p:spPr>
          <a:xfrm>
            <a:off x="3648526" y="2657475"/>
            <a:ext cx="1351652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800" dirty="0">
                <a:highlight>
                  <a:srgbClr val="FFFF00"/>
                </a:highlight>
              </a:rPr>
              <a:t>VPN tunnel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A426F6-8191-4272-BDEC-D64C0B246E2A}"/>
              </a:ext>
            </a:extLst>
          </p:cNvPr>
          <p:cNvSpPr txBox="1"/>
          <p:nvPr/>
        </p:nvSpPr>
        <p:spPr>
          <a:xfrm>
            <a:off x="3762159" y="4953000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000" dirty="0">
                <a:highlight>
                  <a:srgbClr val="FFFF00"/>
                </a:highlight>
              </a:rPr>
              <a:t>OSPF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79A909-2E98-485A-A216-49CCCFF028C3}"/>
              </a:ext>
            </a:extLst>
          </p:cNvPr>
          <p:cNvSpPr txBox="1"/>
          <p:nvPr/>
        </p:nvSpPr>
        <p:spPr>
          <a:xfrm>
            <a:off x="2200197" y="2174516"/>
            <a:ext cx="680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000" dirty="0">
                <a:highlight>
                  <a:srgbClr val="FFFF00"/>
                </a:highlight>
              </a:rPr>
              <a:t>NAT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D2DAD4-B42D-44E2-85D7-5E6557048CF3}"/>
              </a:ext>
            </a:extLst>
          </p:cNvPr>
          <p:cNvSpPr txBox="1"/>
          <p:nvPr/>
        </p:nvSpPr>
        <p:spPr>
          <a:xfrm>
            <a:off x="6086397" y="2244882"/>
            <a:ext cx="680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000" dirty="0">
                <a:highlight>
                  <a:srgbClr val="FFFF00"/>
                </a:highlight>
              </a:rPr>
              <a:t>NAT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52F880-744D-4618-9976-3108A0054B0A}"/>
              </a:ext>
            </a:extLst>
          </p:cNvPr>
          <p:cNvSpPr txBox="1"/>
          <p:nvPr/>
        </p:nvSpPr>
        <p:spPr>
          <a:xfrm>
            <a:off x="5355704" y="948171"/>
            <a:ext cx="699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000" dirty="0">
                <a:highlight>
                  <a:srgbClr val="FFFF00"/>
                </a:highlight>
              </a:rPr>
              <a:t>NTP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EF254A-792E-4E73-9353-2B5379B5DD76}"/>
              </a:ext>
            </a:extLst>
          </p:cNvPr>
          <p:cNvSpPr txBox="1"/>
          <p:nvPr/>
        </p:nvSpPr>
        <p:spPr>
          <a:xfrm>
            <a:off x="1597813" y="2087041"/>
            <a:ext cx="684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000" dirty="0">
                <a:highlight>
                  <a:srgbClr val="FFFF00"/>
                </a:highlight>
              </a:rPr>
              <a:t>ACL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581149F8-E021-43ED-AE1E-4316A9FDD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388938"/>
            <a:ext cx="8143875" cy="473075"/>
          </a:xfrm>
        </p:spPr>
        <p:txBody>
          <a:bodyPr/>
          <a:lstStyle/>
          <a:p>
            <a:r>
              <a:rPr lang="da-DK" dirty="0"/>
              <a:t>Hvad kan jeg efter Netværk 2?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E53408-7281-45BF-90E6-41C1FBEE119F}"/>
              </a:ext>
            </a:extLst>
          </p:cNvPr>
          <p:cNvSpPr txBox="1"/>
          <p:nvPr/>
        </p:nvSpPr>
        <p:spPr>
          <a:xfrm>
            <a:off x="0" y="6226081"/>
            <a:ext cx="9148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a-DK" sz="2000" dirty="0">
                <a:highlight>
                  <a:srgbClr val="FFFF00"/>
                </a:highlight>
              </a:rPr>
              <a:t>Samt ”kendskab til” Design og Management; IPv6; QoS; WAN samt Virtualisering; Automatisering; Security og TSHOOT </a:t>
            </a:r>
          </a:p>
        </p:txBody>
      </p:sp>
    </p:spTree>
    <p:extLst>
      <p:ext uri="{BB962C8B-B14F-4D97-AF65-F5344CB8AC3E}">
        <p14:creationId xmlns:p14="http://schemas.microsoft.com/office/powerpoint/2010/main" val="248294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E42CC6-CE3F-4681-BCED-B1875F75D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" y="703524"/>
            <a:ext cx="9144000" cy="568063"/>
          </a:xfrm>
        </p:spPr>
        <p:txBody>
          <a:bodyPr/>
          <a:lstStyle/>
          <a:p>
            <a:r>
              <a:rPr lang="da-DK" dirty="0"/>
              <a:t>Plan – som den ser ud lige nu </a:t>
            </a:r>
            <a:r>
              <a:rPr lang="da-DK" dirty="0">
                <a:sym typeface="Wingdings" panose="05000000000000000000" pitchFamily="2" charset="2"/>
              </a:rPr>
              <a:t> </a:t>
            </a:r>
            <a:br>
              <a:rPr lang="da-DK" dirty="0">
                <a:sym typeface="Wingdings" panose="05000000000000000000" pitchFamily="2" charset="2"/>
              </a:rPr>
            </a:br>
            <a:endParaRPr lang="da-DK" dirty="0"/>
          </a:p>
        </p:txBody>
      </p:sp>
      <p:sp>
        <p:nvSpPr>
          <p:cNvPr id="5" name="Pladsholder til indhold 4">
            <a:extLst>
              <a:ext uri="{FF2B5EF4-FFF2-40B4-BE49-F238E27FC236}">
                <a16:creationId xmlns:a16="http://schemas.microsoft.com/office/drawing/2014/main" id="{C7E12BF8-DB30-45AF-AA1D-082A81244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793" y="5470777"/>
            <a:ext cx="8816181" cy="683700"/>
          </a:xfrm>
        </p:spPr>
        <p:txBody>
          <a:bodyPr/>
          <a:lstStyle/>
          <a:p>
            <a:pPr marL="0" indent="0">
              <a:buNone/>
            </a:pPr>
            <a:endParaRPr lang="da-DK" sz="2200"/>
          </a:p>
          <a:p>
            <a:pPr marL="0" indent="0">
              <a:buNone/>
            </a:pPr>
            <a:r>
              <a:rPr lang="da-DK" sz="2200"/>
              <a:t>Planen </a:t>
            </a:r>
            <a:r>
              <a:rPr lang="da-DK" sz="2200" dirty="0"/>
              <a:t>findes naturligvis stadig i Learn – </a:t>
            </a:r>
            <a:r>
              <a:rPr lang="da-DK" sz="2200"/>
              <a:t>nu under Netværk 2</a:t>
            </a:r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6721F042-509A-6211-7421-79B69DAE8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429" y="971423"/>
            <a:ext cx="6655142" cy="4915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295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E4D2DE-4F7B-4E28-BEE5-4A5C40919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269" y="259060"/>
            <a:ext cx="8145462" cy="838200"/>
          </a:xfrm>
        </p:spPr>
        <p:txBody>
          <a:bodyPr/>
          <a:lstStyle/>
          <a:p>
            <a:r>
              <a:rPr lang="da-DK" dirty="0"/>
              <a:t>Vi starter blødt ud </a:t>
            </a:r>
            <a:r>
              <a:rPr lang="da-DK" dirty="0">
                <a:sym typeface="Wingdings" panose="05000000000000000000" pitchFamily="2" charset="2"/>
              </a:rPr>
              <a:t>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2BFA759-49F3-4041-B156-BA331CCAA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577" y="1245184"/>
            <a:ext cx="8527722" cy="4537091"/>
          </a:xfrm>
        </p:spPr>
        <p:txBody>
          <a:bodyPr/>
          <a:lstStyle/>
          <a:p>
            <a:r>
              <a:rPr lang="da-DK" dirty="0"/>
              <a:t>Der er selvfølgelig masser af videoer derude….. </a:t>
            </a:r>
          </a:p>
          <a:p>
            <a:r>
              <a:rPr lang="da-DK" dirty="0"/>
              <a:t>Denne her (video) er ældgammel, men som opsamling og forståelse for hvordan en pakke/frame kan bevæge sig fra afsender til modtager, er den helt fin. Og nogle af jer kunne godt bruge den opsamling </a:t>
            </a:r>
            <a:r>
              <a:rPr lang="da-DK" dirty="0">
                <a:sym typeface="Wingdings" panose="05000000000000000000" pitchFamily="2" charset="2"/>
              </a:rPr>
              <a:t></a:t>
            </a:r>
            <a:endParaRPr lang="da-DK" dirty="0"/>
          </a:p>
          <a:p>
            <a:pPr marL="0" indent="0">
              <a:buNone/>
            </a:pPr>
            <a:r>
              <a:rPr lang="da-DK" i="1" dirty="0"/>
              <a:t>(den er lidt lang…… 16 minutter!)</a:t>
            </a:r>
          </a:p>
          <a:p>
            <a:r>
              <a:rPr lang="da-DK" dirty="0"/>
              <a:t>Efter videoen skal du endelig spørge hvis der er noget der ikke lige var klart, eller du ikke forstår </a:t>
            </a:r>
            <a:r>
              <a:rPr lang="da-DK" dirty="0">
                <a:sym typeface="Wingdings" panose="05000000000000000000" pitchFamily="2" charset="2"/>
              </a:rPr>
              <a:t> Det skal du altid </a:t>
            </a:r>
          </a:p>
          <a:p>
            <a:endParaRPr lang="da-DK" dirty="0">
              <a:sym typeface="Wingdings" panose="05000000000000000000" pitchFamily="2" charset="2"/>
            </a:endParaRPr>
          </a:p>
          <a:p>
            <a:r>
              <a:rPr lang="en-US" dirty="0">
                <a:hlinkClick r:id="rId2"/>
              </a:rPr>
              <a:t>Packet Walkthrough: A PC Perspective (youtube.com)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82777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394827" y="341194"/>
            <a:ext cx="8145463" cy="497006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Static Routing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672" y="751823"/>
            <a:ext cx="8537238" cy="6365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kstboks 1"/>
          <p:cNvSpPr txBox="1"/>
          <p:nvPr/>
        </p:nvSpPr>
        <p:spPr>
          <a:xfrm>
            <a:off x="281729" y="1328057"/>
            <a:ext cx="31037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a-DK" sz="2000" dirty="0">
                <a:solidFill>
                  <a:srgbClr val="FF0000"/>
                </a:solidFill>
              </a:rPr>
              <a:t>Hvornår bruger man: </a:t>
            </a:r>
          </a:p>
          <a:p>
            <a:pPr algn="l"/>
            <a:r>
              <a:rPr lang="da-DK" sz="2000">
                <a:solidFill>
                  <a:srgbClr val="FF0000"/>
                </a:solidFill>
              </a:rPr>
              <a:t>- statisk route?</a:t>
            </a:r>
          </a:p>
          <a:p>
            <a:pPr algn="l"/>
            <a:r>
              <a:rPr lang="da-DK" sz="2000">
                <a:solidFill>
                  <a:srgbClr val="FF0000"/>
                </a:solidFill>
              </a:rPr>
              <a:t>- default (static) route?</a:t>
            </a:r>
            <a:endParaRPr lang="da-DK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9334791"/>
      </p:ext>
    </p:extLst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927" y="337815"/>
            <a:ext cx="8145463" cy="481051"/>
          </a:xfrm>
        </p:spPr>
        <p:txBody>
          <a:bodyPr/>
          <a:lstStyle/>
          <a:p>
            <a:pPr eaLnBrk="1" hangingPunct="1">
              <a:defRPr/>
            </a:pPr>
            <a:br>
              <a:rPr lang="en-US" sz="2800" dirty="0"/>
            </a:br>
            <a:r>
              <a:rPr lang="en-US" dirty="0"/>
              <a:t>Dynamic Routing Protocols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858"/>
          <a:stretch/>
        </p:blipFill>
        <p:spPr bwMode="auto">
          <a:xfrm>
            <a:off x="2084614" y="777597"/>
            <a:ext cx="7256063" cy="63712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kstboks 3"/>
          <p:cNvSpPr txBox="1"/>
          <p:nvPr/>
        </p:nvSpPr>
        <p:spPr>
          <a:xfrm>
            <a:off x="108857" y="1208314"/>
            <a:ext cx="45828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a-DK" sz="2000" dirty="0">
                <a:solidFill>
                  <a:srgbClr val="FF0000"/>
                </a:solidFill>
              </a:rPr>
              <a:t>Hvad er en routing protokols opgaver?</a:t>
            </a:r>
          </a:p>
          <a:p>
            <a:pPr algn="l"/>
            <a:r>
              <a:rPr lang="da-DK" sz="2000" dirty="0">
                <a:solidFill>
                  <a:srgbClr val="FF0000"/>
                </a:solidFill>
              </a:rPr>
              <a:t>Hvilke routing protokoller kender I?</a:t>
            </a:r>
          </a:p>
        </p:txBody>
      </p:sp>
    </p:spTree>
    <p:extLst>
      <p:ext uri="{BB962C8B-B14F-4D97-AF65-F5344CB8AC3E}">
        <p14:creationId xmlns:p14="http://schemas.microsoft.com/office/powerpoint/2010/main" val="3318226921"/>
      </p:ext>
    </p:extLst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A7138A-3544-4203-964C-947988B53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8" y="297581"/>
            <a:ext cx="8145462" cy="838200"/>
          </a:xfrm>
        </p:spPr>
        <p:txBody>
          <a:bodyPr/>
          <a:lstStyle/>
          <a:p>
            <a:r>
              <a:rPr lang="da-DK" dirty="0"/>
              <a:t>Meget basal konfiguration af OSPF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A488153-8054-4995-BE10-F0C9B9678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418" y="1418190"/>
            <a:ext cx="7940675" cy="3571875"/>
          </a:xfrm>
        </p:spPr>
        <p:txBody>
          <a:bodyPr/>
          <a:lstStyle/>
          <a:p>
            <a:r>
              <a:rPr lang="da-DK" dirty="0"/>
              <a:t>På alle routerne i det område (</a:t>
            </a:r>
            <a:r>
              <a:rPr lang="da-DK" dirty="0" err="1"/>
              <a:t>area</a:t>
            </a:r>
            <a:r>
              <a:rPr lang="da-DK" dirty="0"/>
              <a:t>) der skal tale sammen, skal man aktivere og konfigurere OSPF.</a:t>
            </a:r>
          </a:p>
          <a:p>
            <a:r>
              <a:rPr lang="da-DK" dirty="0"/>
              <a:t>Konfigurationen går ud på at fortælle alle de andre routere, hvilke netværk ”jeg” (altså den aktuelle router du er ved at konfigurere) er medlem af.</a:t>
            </a:r>
          </a:p>
          <a:p>
            <a:r>
              <a:rPr lang="da-DK" dirty="0"/>
              <a:t>Disse oplysninger sender OSPF så automatisk til de andre routere og alle har nu kendskab til alle netværk – også dem hos de andre routere </a:t>
            </a:r>
            <a:r>
              <a:rPr lang="da-DK" dirty="0">
                <a:sym typeface="Wingdings" panose="05000000000000000000" pitchFamily="2" charset="2"/>
              </a:rPr>
              <a:t>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636023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>
            <a:extLst>
              <a:ext uri="{FF2B5EF4-FFF2-40B4-BE49-F238E27FC236}">
                <a16:creationId xmlns:a16="http://schemas.microsoft.com/office/drawing/2014/main" id="{32EABE3B-EF5B-43D4-98FB-DD2C34E91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898" y="780922"/>
            <a:ext cx="8078327" cy="361047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206A6BA-2C90-4C93-83DC-AC8FA3FE4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026" y="329386"/>
            <a:ext cx="8642074" cy="545257"/>
          </a:xfrm>
        </p:spPr>
        <p:txBody>
          <a:bodyPr/>
          <a:lstStyle/>
          <a:p>
            <a:pPr algn="ctr"/>
            <a:r>
              <a:rPr lang="da-DK" dirty="0"/>
              <a:t>Eksempel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55E6B1E-6C9C-477A-99AF-CFB470590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07" y="4510079"/>
            <a:ext cx="6987360" cy="1566999"/>
          </a:xfrm>
        </p:spPr>
        <p:txBody>
          <a:bodyPr/>
          <a:lstStyle/>
          <a:p>
            <a:pPr marL="0" indent="0">
              <a:buNone/>
            </a:pPr>
            <a:r>
              <a:rPr lang="da-DK" sz="2000" dirty="0"/>
              <a:t>R3(</a:t>
            </a:r>
            <a:r>
              <a:rPr lang="da-DK" sz="2000" dirty="0" err="1"/>
              <a:t>config</a:t>
            </a:r>
            <a:r>
              <a:rPr lang="da-DK" sz="2000" dirty="0"/>
              <a:t>)#router </a:t>
            </a:r>
            <a:r>
              <a:rPr lang="da-DK" sz="2000" dirty="0" err="1"/>
              <a:t>ospf</a:t>
            </a:r>
            <a:r>
              <a:rPr lang="da-DK" sz="2000" dirty="0"/>
              <a:t> 10</a:t>
            </a:r>
          </a:p>
          <a:p>
            <a:pPr marL="0" indent="0">
              <a:buNone/>
            </a:pPr>
            <a:r>
              <a:rPr lang="da-DK" sz="2000" dirty="0"/>
              <a:t>R3(</a:t>
            </a:r>
            <a:r>
              <a:rPr lang="da-DK" sz="2000" dirty="0" err="1"/>
              <a:t>config</a:t>
            </a:r>
            <a:r>
              <a:rPr lang="da-DK" sz="2000" dirty="0"/>
              <a:t>-router)# </a:t>
            </a:r>
            <a:r>
              <a:rPr lang="da-DK" sz="2000" dirty="0" err="1"/>
              <a:t>network</a:t>
            </a:r>
            <a:r>
              <a:rPr lang="da-DK" sz="2000" dirty="0"/>
              <a:t> 192.168.3.0 0.0.0.255 </a:t>
            </a:r>
            <a:r>
              <a:rPr lang="da-DK" sz="2000" dirty="0" err="1"/>
              <a:t>area</a:t>
            </a:r>
            <a:r>
              <a:rPr lang="da-DK" sz="2000" dirty="0"/>
              <a:t> 0</a:t>
            </a:r>
          </a:p>
          <a:p>
            <a:pPr marL="0" indent="0">
              <a:buNone/>
            </a:pPr>
            <a:r>
              <a:rPr lang="da-DK" sz="2000" dirty="0"/>
              <a:t>R3(</a:t>
            </a:r>
            <a:r>
              <a:rPr lang="da-DK" sz="2000" dirty="0" err="1"/>
              <a:t>config</a:t>
            </a:r>
            <a:r>
              <a:rPr lang="da-DK" sz="2000" dirty="0"/>
              <a:t>-router)# </a:t>
            </a:r>
            <a:r>
              <a:rPr lang="da-DK" sz="2000" err="1"/>
              <a:t>network</a:t>
            </a:r>
            <a:r>
              <a:rPr lang="da-DK" sz="2000"/>
              <a:t> 172.168.23.0 </a:t>
            </a:r>
            <a:r>
              <a:rPr lang="da-DK" sz="2000" dirty="0"/>
              <a:t>0.0.0.3 </a:t>
            </a:r>
            <a:r>
              <a:rPr lang="da-DK" sz="2000" dirty="0" err="1"/>
              <a:t>area</a:t>
            </a:r>
            <a:r>
              <a:rPr lang="da-DK" sz="2000" dirty="0"/>
              <a:t> 0</a:t>
            </a:r>
          </a:p>
          <a:p>
            <a:pPr marL="0" indent="0">
              <a:buNone/>
            </a:pPr>
            <a:r>
              <a:rPr lang="da-DK" sz="2000" dirty="0"/>
              <a:t>Hvordan med R1 og R2</a:t>
            </a:r>
            <a:r>
              <a:rPr lang="da-DK" sz="2000"/>
              <a:t>???? (fælles - på </a:t>
            </a:r>
            <a:r>
              <a:rPr lang="da-DK" sz="2000" dirty="0"/>
              <a:t>tavlen)</a:t>
            </a:r>
          </a:p>
          <a:p>
            <a:pPr marL="0" indent="0">
              <a:buNone/>
            </a:pPr>
            <a:endParaRPr lang="da-DK" sz="2000" dirty="0"/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9D67B1C9-122F-40D3-84A4-173A32327BC4}"/>
              </a:ext>
            </a:extLst>
          </p:cNvPr>
          <p:cNvSpPr txBox="1"/>
          <p:nvPr/>
        </p:nvSpPr>
        <p:spPr>
          <a:xfrm>
            <a:off x="5655789" y="4131514"/>
            <a:ext cx="3267987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a-DK" sz="1600" i="1" dirty="0">
                <a:solidFill>
                  <a:srgbClr val="FF3399"/>
                </a:solidFill>
              </a:rPr>
              <a:t>Proces-id?</a:t>
            </a:r>
          </a:p>
          <a:p>
            <a:pPr algn="l"/>
            <a:r>
              <a:rPr lang="da-DK" sz="1600" i="1" dirty="0">
                <a:solidFill>
                  <a:srgbClr val="FF3399"/>
                </a:solidFill>
              </a:rPr>
              <a:t>Wildcard mask?</a:t>
            </a:r>
          </a:p>
          <a:p>
            <a:pPr algn="l"/>
            <a:r>
              <a:rPr lang="da-DK" sz="1600" i="1" dirty="0">
                <a:solidFill>
                  <a:srgbClr val="FF3399"/>
                </a:solidFill>
              </a:rPr>
              <a:t>Kort – vi kommer tilbage til det! </a:t>
            </a:r>
            <a:r>
              <a:rPr lang="da-DK" sz="1600" i="1" dirty="0">
                <a:solidFill>
                  <a:srgbClr val="FF3399"/>
                </a:solidFill>
                <a:sym typeface="Wingdings" panose="05000000000000000000" pitchFamily="2" charset="2"/>
              </a:rPr>
              <a:t></a:t>
            </a:r>
            <a:endParaRPr lang="da-DK" sz="1600" i="1" dirty="0">
              <a:solidFill>
                <a:srgbClr val="FF3399"/>
              </a:solidFill>
            </a:endParaRP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9FADD9BA-BD4B-4751-A702-3628691DC4CE}"/>
              </a:ext>
            </a:extLst>
          </p:cNvPr>
          <p:cNvSpPr txBox="1"/>
          <p:nvPr/>
        </p:nvSpPr>
        <p:spPr>
          <a:xfrm>
            <a:off x="604635" y="6433268"/>
            <a:ext cx="7934736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>
                <a:highlight>
                  <a:srgbClr val="FFFF00"/>
                </a:highlight>
              </a:rPr>
              <a:t>Ta-daaa… så nemt er det faktisk at konfigurere OSPF </a:t>
            </a:r>
            <a:r>
              <a:rPr lang="da-DK">
                <a:highlight>
                  <a:srgbClr val="FFFF00"/>
                </a:highlight>
                <a:sym typeface="Wingdings" panose="05000000000000000000" pitchFamily="2" charset="2"/>
              </a:rPr>
              <a:t></a:t>
            </a:r>
            <a:endParaRPr lang="da-DK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39768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lede 6">
            <a:extLst>
              <a:ext uri="{FF2B5EF4-FFF2-40B4-BE49-F238E27FC236}">
                <a16:creationId xmlns:a16="http://schemas.microsoft.com/office/drawing/2014/main" id="{3CEA25D8-CB6F-4E51-8EA0-22326F2B3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99" y="873588"/>
            <a:ext cx="7821054" cy="369841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2482036-D9F9-491C-8911-06AE143A8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88" y="456963"/>
            <a:ext cx="9078012" cy="394183"/>
          </a:xfrm>
        </p:spPr>
        <p:txBody>
          <a:bodyPr/>
          <a:lstStyle/>
          <a:p>
            <a:r>
              <a:rPr lang="da-DK"/>
              <a:t>Byg dette netværk 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602D373-EDBE-4257-9DE2-F43E866EB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88" y="5111610"/>
            <a:ext cx="9078012" cy="1615510"/>
          </a:xfrm>
        </p:spPr>
        <p:txBody>
          <a:bodyPr/>
          <a:lstStyle/>
          <a:p>
            <a:r>
              <a:rPr lang="da-DK" sz="2000" dirty="0"/>
              <a:t>Løs alle punkter </a:t>
            </a:r>
            <a:r>
              <a:rPr lang="da-DK" sz="2000" dirty="0">
                <a:highlight>
                  <a:srgbClr val="FFFF00"/>
                </a:highlight>
              </a:rPr>
              <a:t>BORTSET fra punkt 2 </a:t>
            </a:r>
            <a:endParaRPr lang="da-DK" sz="2000" dirty="0">
              <a:sym typeface="Wingdings" panose="05000000000000000000" pitchFamily="2" charset="2"/>
            </a:endParaRPr>
          </a:p>
          <a:p>
            <a:r>
              <a:rPr lang="da-DK" sz="2000" dirty="0">
                <a:sym typeface="Wingdings" panose="05000000000000000000" pitchFamily="2" charset="2"/>
              </a:rPr>
              <a:t>Og du skal ikke aflevere den.</a:t>
            </a:r>
          </a:p>
          <a:p>
            <a:r>
              <a:rPr lang="da-DK" sz="2000" dirty="0">
                <a:sym typeface="Wingdings" panose="05000000000000000000" pitchFamily="2" charset="2"/>
              </a:rPr>
              <a:t>Pkt. 2 tager vi senere (og det tæller helt vildt </a:t>
            </a:r>
            <a:r>
              <a:rPr lang="da-DK" sz="2000" b="1" dirty="0">
                <a:sym typeface="Wingdings" panose="05000000000000000000" pitchFamily="2" charset="2"/>
              </a:rPr>
              <a:t>ned</a:t>
            </a:r>
            <a:r>
              <a:rPr lang="da-DK" sz="2000" dirty="0">
                <a:sym typeface="Wingdings" panose="05000000000000000000" pitchFamily="2" charset="2"/>
              </a:rPr>
              <a:t> hvis nogen spørger hvordan man gør det….  før vi har gennemgået det senere )</a:t>
            </a:r>
            <a:endParaRPr lang="da-DK" sz="2000" dirty="0"/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FBB612B2-4835-49E3-A4DF-C58545A43D17}"/>
              </a:ext>
            </a:extLst>
          </p:cNvPr>
          <p:cNvSpPr txBox="1"/>
          <p:nvPr/>
        </p:nvSpPr>
        <p:spPr>
          <a:xfrm>
            <a:off x="6315958" y="3674972"/>
            <a:ext cx="2733773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800" dirty="0">
                <a:solidFill>
                  <a:srgbClr val="C00000"/>
                </a:solidFill>
              </a:rPr>
              <a:t>Husk for          at starte med at sætte labels på, INDEN du begynder at konfigurere noget som helst overhovedet!!!</a:t>
            </a:r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EDDE3F1A-E4A8-49FC-9C2A-758AFA817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4984" y="3575745"/>
            <a:ext cx="535719" cy="426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8944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F22515D-2850-4863-B273-389BD0F35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909" y="1244525"/>
            <a:ext cx="8816181" cy="5384875"/>
          </a:xfrm>
        </p:spPr>
        <p:txBody>
          <a:bodyPr/>
          <a:lstStyle/>
          <a:p>
            <a:pPr marL="0" indent="0">
              <a:buNone/>
            </a:pPr>
            <a:r>
              <a:rPr lang="da-DK" sz="5000"/>
              <a:t>Efter eleverne har arbejdet med opgaven i ca 30 minutter …..</a:t>
            </a:r>
            <a:endParaRPr lang="da-DK" sz="5000" dirty="0"/>
          </a:p>
          <a:p>
            <a:pPr marL="0" indent="0">
              <a:buNone/>
            </a:pPr>
            <a:endParaRPr lang="da-DK" sz="5000"/>
          </a:p>
          <a:p>
            <a:pPr marL="0" indent="0">
              <a:buNone/>
            </a:pPr>
            <a:r>
              <a:rPr lang="da-DK" sz="5000"/>
              <a:t>Nogle </a:t>
            </a:r>
            <a:r>
              <a:rPr lang="da-DK" sz="5000" dirty="0"/>
              <a:t>der løb ind i </a:t>
            </a:r>
            <a:r>
              <a:rPr lang="da-DK" sz="5000"/>
              <a:t>problemer?</a:t>
            </a:r>
          </a:p>
          <a:p>
            <a:pPr marL="0" indent="0">
              <a:buNone/>
            </a:pPr>
            <a:r>
              <a:rPr lang="da-DK" sz="3000"/>
              <a:t>(vi kan fortsætte på opgaven senere….)</a:t>
            </a:r>
          </a:p>
        </p:txBody>
      </p:sp>
    </p:spTree>
    <p:extLst>
      <p:ext uri="{BB962C8B-B14F-4D97-AF65-F5344CB8AC3E}">
        <p14:creationId xmlns:p14="http://schemas.microsoft.com/office/powerpoint/2010/main" val="1284829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11480" y="358243"/>
            <a:ext cx="8284684" cy="479829"/>
          </a:xfrm>
        </p:spPr>
        <p:txBody>
          <a:bodyPr/>
          <a:lstStyle/>
          <a:p>
            <a:pPr eaLnBrk="1" hangingPunct="1">
              <a:defRPr/>
            </a:pPr>
            <a:br>
              <a:rPr lang="en-US" sz="2800"/>
            </a:br>
            <a:r>
              <a:rPr lang="en-US"/>
              <a:t>OSPF </a:t>
            </a:r>
            <a:r>
              <a:rPr lang="en-US">
                <a:solidFill>
                  <a:schemeClr val="accent5">
                    <a:lumMod val="75000"/>
                  </a:schemeClr>
                </a:solidFill>
              </a:rPr>
              <a:t>“passive-interface”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4475" y="1445864"/>
            <a:ext cx="3819525" cy="309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89758"/>
            <a:ext cx="5452732" cy="2475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21834"/>
            <a:ext cx="5612826" cy="25361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ktangel 7"/>
          <p:cNvSpPr/>
          <p:nvPr/>
        </p:nvSpPr>
        <p:spPr>
          <a:xfrm>
            <a:off x="5716277" y="4613601"/>
            <a:ext cx="3324272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da-DK" sz="1500" i="1" dirty="0">
                <a:solidFill>
                  <a:srgbClr val="00B050"/>
                </a:solidFill>
                <a:highlight>
                  <a:srgbClr val="FFFF00"/>
                </a:highlight>
              </a:rPr>
              <a:t>Hvad er ”10-tallet” i </a:t>
            </a:r>
            <a:r>
              <a:rPr lang="da-DK" sz="1500" i="1" dirty="0">
                <a:solidFill>
                  <a:srgbClr val="FF0000"/>
                </a:solidFill>
                <a:highlight>
                  <a:srgbClr val="FFFF00"/>
                </a:highlight>
              </a:rPr>
              <a:t>#router </a:t>
            </a:r>
            <a:r>
              <a:rPr lang="da-DK" sz="1500" i="1" dirty="0" err="1">
                <a:solidFill>
                  <a:srgbClr val="FF0000"/>
                </a:solidFill>
                <a:highlight>
                  <a:srgbClr val="FFFF00"/>
                </a:highlight>
              </a:rPr>
              <a:t>ospf</a:t>
            </a:r>
            <a:r>
              <a:rPr lang="da-DK" sz="1500" i="1" dirty="0">
                <a:solidFill>
                  <a:srgbClr val="FF0000"/>
                </a:solidFill>
                <a:highlight>
                  <a:srgbClr val="FFFF00"/>
                </a:highlight>
              </a:rPr>
              <a:t> 10</a:t>
            </a:r>
          </a:p>
          <a:p>
            <a:pPr algn="l"/>
            <a:endParaRPr lang="da-DK" sz="1500" i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algn="l"/>
            <a:r>
              <a:rPr lang="da-DK" sz="1500" i="1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da-DK" sz="1500" i="1" dirty="0">
                <a:solidFill>
                  <a:srgbClr val="00B050"/>
                </a:solidFill>
                <a:highlight>
                  <a:srgbClr val="FFFF00"/>
                </a:highlight>
              </a:rPr>
              <a:t>????????????????????????????</a:t>
            </a:r>
          </a:p>
          <a:p>
            <a:pPr algn="l"/>
            <a:endParaRPr lang="da-DK" sz="1500" i="1" dirty="0">
              <a:solidFill>
                <a:srgbClr val="00B050"/>
              </a:solidFill>
            </a:endParaRPr>
          </a:p>
          <a:p>
            <a:pPr algn="l"/>
            <a:endParaRPr lang="da-DK" sz="1500" i="1" dirty="0">
              <a:solidFill>
                <a:srgbClr val="00B050"/>
              </a:solidFill>
            </a:endParaRPr>
          </a:p>
          <a:p>
            <a:pPr algn="l"/>
            <a:r>
              <a:rPr lang="da-DK" sz="1500" i="1" dirty="0">
                <a:solidFill>
                  <a:srgbClr val="00B050"/>
                </a:solidFill>
              </a:rPr>
              <a:t>Hvis nu vi ikke manuelt havde tastet OSPF router-id ind……hvilken router-id ville R1, R2 og R3 så få?</a:t>
            </a:r>
          </a:p>
          <a:p>
            <a:pPr algn="l"/>
            <a:endParaRPr lang="da-DK" sz="1500" i="1" dirty="0">
              <a:solidFill>
                <a:srgbClr val="00B050"/>
              </a:solidFill>
            </a:endParaRPr>
          </a:p>
          <a:p>
            <a:pPr algn="l"/>
            <a:r>
              <a:rPr lang="da-DK" sz="1500" i="1" dirty="0">
                <a:solidFill>
                  <a:srgbClr val="00B050"/>
                </a:solidFill>
              </a:rPr>
              <a:t>Se svar på næste dias </a:t>
            </a:r>
            <a:r>
              <a:rPr lang="da-DK" sz="1500" i="1" dirty="0">
                <a:solidFill>
                  <a:srgbClr val="00B050"/>
                </a:solidFill>
                <a:sym typeface="Wingdings" panose="05000000000000000000" pitchFamily="2" charset="2"/>
              </a:rPr>
              <a:t></a:t>
            </a:r>
            <a:endParaRPr lang="da-DK" sz="1500" i="1" dirty="0">
              <a:solidFill>
                <a:srgbClr val="00B050"/>
              </a:solidFill>
            </a:endParaRPr>
          </a:p>
        </p:txBody>
      </p:sp>
      <p:sp>
        <p:nvSpPr>
          <p:cNvPr id="2" name="Tekstfelt 1"/>
          <p:cNvSpPr txBox="1"/>
          <p:nvPr/>
        </p:nvSpPr>
        <p:spPr>
          <a:xfrm>
            <a:off x="12072" y="4756220"/>
            <a:ext cx="5452732" cy="75111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da-DK"/>
          </a:p>
        </p:txBody>
      </p:sp>
      <p:sp>
        <p:nvSpPr>
          <p:cNvPr id="9" name="Tekstfelt 8"/>
          <p:cNvSpPr txBox="1"/>
          <p:nvPr/>
        </p:nvSpPr>
        <p:spPr>
          <a:xfrm>
            <a:off x="0" y="1345212"/>
            <a:ext cx="5452732" cy="75111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da-DK"/>
          </a:p>
        </p:txBody>
      </p:sp>
      <p:sp>
        <p:nvSpPr>
          <p:cNvPr id="3" name="Tekstfelt 2">
            <a:extLst>
              <a:ext uri="{FF2B5EF4-FFF2-40B4-BE49-F238E27FC236}">
                <a16:creationId xmlns:a16="http://schemas.microsoft.com/office/drawing/2014/main" id="{33CAF01A-ADA7-4002-B533-D3E1F895332B}"/>
              </a:ext>
            </a:extLst>
          </p:cNvPr>
          <p:cNvSpPr txBox="1"/>
          <p:nvPr/>
        </p:nvSpPr>
        <p:spPr>
          <a:xfrm>
            <a:off x="5356539" y="862662"/>
            <a:ext cx="3883654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a-DK" sz="1200" dirty="0">
                <a:solidFill>
                  <a:srgbClr val="3E67A4"/>
                </a:solidFill>
              </a:rPr>
              <a:t>NB: Det er ikke altid der manuelt skal tildeles router-id. </a:t>
            </a:r>
            <a:r>
              <a:rPr lang="da-DK" sz="1200" dirty="0">
                <a:solidFill>
                  <a:srgbClr val="3E67A4"/>
                </a:solidFill>
                <a:highlight>
                  <a:srgbClr val="FFFF00"/>
                </a:highlight>
              </a:rPr>
              <a:t>Hvis ikke du får at vide at du skal gøre det, så lader du bare routeren klare det selv </a:t>
            </a:r>
            <a:r>
              <a:rPr lang="da-DK" sz="1200" dirty="0">
                <a:solidFill>
                  <a:srgbClr val="3E67A4"/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</a:t>
            </a:r>
            <a:r>
              <a:rPr lang="da-DK" sz="1200" dirty="0">
                <a:solidFill>
                  <a:srgbClr val="3E67A4"/>
                </a:solidFill>
                <a:highlight>
                  <a:srgbClr val="FFFF00"/>
                </a:highlight>
              </a:rPr>
              <a:t> </a:t>
            </a:r>
          </a:p>
        </p:txBody>
      </p:sp>
      <p:sp>
        <p:nvSpPr>
          <p:cNvPr id="4" name="Pil: venstre 3">
            <a:extLst>
              <a:ext uri="{FF2B5EF4-FFF2-40B4-BE49-F238E27FC236}">
                <a16:creationId xmlns:a16="http://schemas.microsoft.com/office/drawing/2014/main" id="{4B1FDFC3-9D2F-4CEE-8FCD-B4A71908E268}"/>
              </a:ext>
            </a:extLst>
          </p:cNvPr>
          <p:cNvSpPr/>
          <p:nvPr/>
        </p:nvSpPr>
        <p:spPr bwMode="auto">
          <a:xfrm>
            <a:off x="4916971" y="978371"/>
            <a:ext cx="301072" cy="317747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2124" tIns="41061" rIns="82124" bIns="4106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2D699294-17F5-44A2-95F1-42252E3249C5}"/>
              </a:ext>
            </a:extLst>
          </p:cNvPr>
          <p:cNvSpPr txBox="1"/>
          <p:nvPr/>
        </p:nvSpPr>
        <p:spPr>
          <a:xfrm>
            <a:off x="135937" y="3732380"/>
            <a:ext cx="4267098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a-DK" sz="1600" i="1" dirty="0"/>
              <a:t>Nedenstående metode kan man også bruge – jeg er ikke vild med metoden </a:t>
            </a:r>
            <a:r>
              <a:rPr lang="da-DK" sz="1600" i="1" dirty="0">
                <a:sym typeface="Wingdings" panose="05000000000000000000" pitchFamily="2" charset="2"/>
              </a:rPr>
              <a:t></a:t>
            </a:r>
            <a:endParaRPr lang="da-DK" sz="1600" i="1" dirty="0"/>
          </a:p>
        </p:txBody>
      </p:sp>
    </p:spTree>
    <p:extLst>
      <p:ext uri="{BB962C8B-B14F-4D97-AF65-F5344CB8AC3E}">
        <p14:creationId xmlns:p14="http://schemas.microsoft.com/office/powerpoint/2010/main" val="2263121707"/>
      </p:ext>
    </p:extLst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2867" y="311741"/>
            <a:ext cx="8145463" cy="479829"/>
          </a:xfrm>
        </p:spPr>
        <p:txBody>
          <a:bodyPr/>
          <a:lstStyle/>
          <a:p>
            <a:pPr eaLnBrk="1" hangingPunct="1">
              <a:defRPr/>
            </a:pPr>
            <a:br>
              <a:rPr lang="en-US" sz="2800"/>
            </a:br>
            <a:r>
              <a:rPr lang="en-US"/>
              <a:t>OSPF   “</a:t>
            </a:r>
            <a:r>
              <a:rPr lang="en-US">
                <a:solidFill>
                  <a:schemeClr val="accent5">
                    <a:lumMod val="75000"/>
                  </a:schemeClr>
                </a:solidFill>
              </a:rPr>
              <a:t>router-id”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2732" y="1089614"/>
            <a:ext cx="3819525" cy="309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89758"/>
            <a:ext cx="5452732" cy="2475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21834"/>
            <a:ext cx="5612826" cy="25361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ktangel 7"/>
          <p:cNvSpPr/>
          <p:nvPr/>
        </p:nvSpPr>
        <p:spPr>
          <a:xfrm>
            <a:off x="5700358" y="4357260"/>
            <a:ext cx="3324272" cy="2377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da-DK" sz="1500" i="1" dirty="0">
                <a:solidFill>
                  <a:srgbClr val="FF0000"/>
                </a:solidFill>
              </a:rPr>
              <a:t>(#router </a:t>
            </a:r>
            <a:r>
              <a:rPr lang="da-DK" sz="1500" i="1" dirty="0" err="1">
                <a:solidFill>
                  <a:srgbClr val="FF0000"/>
                </a:solidFill>
              </a:rPr>
              <a:t>osfp</a:t>
            </a:r>
            <a:r>
              <a:rPr lang="da-DK" sz="1500" i="1" dirty="0">
                <a:solidFill>
                  <a:srgbClr val="FF0000"/>
                </a:solidFill>
              </a:rPr>
              <a:t> 10)      10 = </a:t>
            </a:r>
            <a:r>
              <a:rPr lang="da-DK" sz="1500" i="1" dirty="0" err="1">
                <a:solidFill>
                  <a:srgbClr val="FF0000"/>
                </a:solidFill>
              </a:rPr>
              <a:t>process</a:t>
            </a:r>
            <a:r>
              <a:rPr lang="da-DK" sz="1500" i="1" dirty="0">
                <a:solidFill>
                  <a:srgbClr val="FF0000"/>
                </a:solidFill>
              </a:rPr>
              <a:t>-id</a:t>
            </a:r>
          </a:p>
          <a:p>
            <a:pPr algn="l"/>
            <a:endParaRPr lang="da-DK" sz="1500" i="1" u="sng" dirty="0">
              <a:solidFill>
                <a:srgbClr val="00B050"/>
              </a:solidFill>
            </a:endParaRPr>
          </a:p>
          <a:p>
            <a:pPr algn="l"/>
            <a:r>
              <a:rPr lang="da-DK" sz="1500" i="1" u="sng">
                <a:solidFill>
                  <a:srgbClr val="00B050"/>
                </a:solidFill>
              </a:rPr>
              <a:t>Router-id (= HØJESTE IP adresse!) </a:t>
            </a:r>
            <a:r>
              <a:rPr lang="da-DK" sz="1500" i="1">
                <a:solidFill>
                  <a:schemeClr val="accent1"/>
                </a:solidFill>
              </a:rPr>
              <a:t>Det kommer vi tilbage til om lidt!</a:t>
            </a:r>
            <a:endParaRPr lang="da-DK" sz="1500" i="1" dirty="0">
              <a:solidFill>
                <a:schemeClr val="accent1"/>
              </a:solidFill>
            </a:endParaRPr>
          </a:p>
          <a:p>
            <a:pPr algn="l"/>
            <a:endParaRPr lang="da-DK" sz="1500" i="1" dirty="0">
              <a:solidFill>
                <a:srgbClr val="00B050"/>
              </a:solidFill>
            </a:endParaRPr>
          </a:p>
          <a:p>
            <a:pPr algn="l"/>
            <a:r>
              <a:rPr lang="da-DK" sz="1500" i="1" dirty="0">
                <a:solidFill>
                  <a:srgbClr val="00B050"/>
                </a:solidFill>
              </a:rPr>
              <a:t>R1: 192.168.10.5</a:t>
            </a:r>
          </a:p>
          <a:p>
            <a:pPr algn="l"/>
            <a:r>
              <a:rPr lang="da-DK" sz="1500" i="1" dirty="0">
                <a:solidFill>
                  <a:srgbClr val="00B050"/>
                </a:solidFill>
              </a:rPr>
              <a:t>R2: 192.168.10.9</a:t>
            </a:r>
          </a:p>
          <a:p>
            <a:pPr algn="l"/>
            <a:r>
              <a:rPr lang="da-DK" sz="1500" i="1" dirty="0">
                <a:solidFill>
                  <a:srgbClr val="00B050"/>
                </a:solidFill>
              </a:rPr>
              <a:t>R3: 192.168.10.10</a:t>
            </a:r>
          </a:p>
          <a:p>
            <a:pPr algn="l"/>
            <a:endParaRPr lang="da-DK" sz="1500" i="1" dirty="0">
              <a:solidFill>
                <a:srgbClr val="00B050"/>
              </a:solidFill>
            </a:endParaRPr>
          </a:p>
          <a:p>
            <a:pPr algn="l"/>
            <a:r>
              <a:rPr lang="da-DK" sz="1500" i="1" dirty="0">
                <a:solidFill>
                  <a:srgbClr val="7030A0"/>
                </a:solidFill>
              </a:rPr>
              <a:t>Hvad hvis der havde været Loopback-interfaces?</a:t>
            </a:r>
          </a:p>
        </p:txBody>
      </p:sp>
      <p:sp>
        <p:nvSpPr>
          <p:cNvPr id="7" name="Tekstfelt 6"/>
          <p:cNvSpPr txBox="1"/>
          <p:nvPr/>
        </p:nvSpPr>
        <p:spPr>
          <a:xfrm>
            <a:off x="0" y="1345212"/>
            <a:ext cx="5452732" cy="75111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da-DK"/>
          </a:p>
        </p:txBody>
      </p:sp>
      <p:sp>
        <p:nvSpPr>
          <p:cNvPr id="9" name="Tekstfelt 8"/>
          <p:cNvSpPr txBox="1"/>
          <p:nvPr/>
        </p:nvSpPr>
        <p:spPr>
          <a:xfrm>
            <a:off x="0" y="4763515"/>
            <a:ext cx="5612826" cy="75111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16656387"/>
      </p:ext>
    </p:extLst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991" y="1183000"/>
            <a:ext cx="4354432" cy="2264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9484"/>
            <a:ext cx="8145463" cy="547203"/>
          </a:xfrm>
        </p:spPr>
        <p:txBody>
          <a:bodyPr/>
          <a:lstStyle/>
          <a:p>
            <a:pPr eaLnBrk="1" hangingPunct="1">
              <a:defRPr/>
            </a:pPr>
            <a:br>
              <a:rPr lang="en-US" sz="2800" dirty="0"/>
            </a:br>
            <a:r>
              <a:rPr lang="en-US" dirty="0"/>
              <a:t>Verifying OSPF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2" name="Rektangel 1"/>
          <p:cNvSpPr/>
          <p:nvPr/>
        </p:nvSpPr>
        <p:spPr>
          <a:xfrm>
            <a:off x="0" y="5962232"/>
            <a:ext cx="9199634" cy="7155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da-DK" sz="1500" dirty="0"/>
              <a:t>Nonstop </a:t>
            </a:r>
            <a:r>
              <a:rPr lang="da-DK" sz="1500" dirty="0" err="1"/>
              <a:t>Forwarding</a:t>
            </a:r>
            <a:r>
              <a:rPr lang="da-DK" sz="1500" dirty="0"/>
              <a:t> </a:t>
            </a:r>
            <a:r>
              <a:rPr lang="en-US" sz="1500" i="1" dirty="0">
                <a:solidFill>
                  <a:srgbClr val="7030A0"/>
                </a:solidFill>
              </a:rPr>
              <a:t>(NSF) </a:t>
            </a:r>
            <a:r>
              <a:rPr lang="en-US" sz="1500" i="1" dirty="0" err="1">
                <a:solidFill>
                  <a:srgbClr val="7030A0"/>
                </a:solidFill>
              </a:rPr>
              <a:t>betyder</a:t>
            </a:r>
            <a:r>
              <a:rPr lang="en-US" sz="1500" i="1" dirty="0">
                <a:solidFill>
                  <a:srgbClr val="7030A0"/>
                </a:solidFill>
              </a:rPr>
              <a:t> at </a:t>
            </a:r>
            <a:r>
              <a:rPr lang="en-US" sz="1500" i="1" dirty="0" err="1">
                <a:solidFill>
                  <a:srgbClr val="7030A0"/>
                </a:solidFill>
              </a:rPr>
              <a:t>routeren</a:t>
            </a:r>
            <a:r>
              <a:rPr lang="en-US" sz="1500" i="1" dirty="0">
                <a:solidFill>
                  <a:srgbClr val="7030A0"/>
                </a:solidFill>
              </a:rPr>
              <a:t> </a:t>
            </a:r>
            <a:r>
              <a:rPr lang="en-US" sz="1500" i="1" dirty="0" err="1">
                <a:solidFill>
                  <a:srgbClr val="7030A0"/>
                </a:solidFill>
              </a:rPr>
              <a:t>kan</a:t>
            </a:r>
            <a:r>
              <a:rPr lang="en-US" sz="1500" i="1" dirty="0">
                <a:solidFill>
                  <a:srgbClr val="7030A0"/>
                </a:solidFill>
              </a:rPr>
              <a:t> </a:t>
            </a:r>
            <a:r>
              <a:rPr lang="en-US" sz="1500" i="1" dirty="0" err="1">
                <a:solidFill>
                  <a:srgbClr val="7030A0"/>
                </a:solidFill>
              </a:rPr>
              <a:t>fortsætte</a:t>
            </a:r>
            <a:r>
              <a:rPr lang="en-US" sz="1500" i="1" dirty="0">
                <a:solidFill>
                  <a:srgbClr val="7030A0"/>
                </a:solidFill>
              </a:rPr>
              <a:t> med at </a:t>
            </a:r>
            <a:r>
              <a:rPr lang="en-US" sz="1500" i="1" dirty="0" err="1">
                <a:solidFill>
                  <a:srgbClr val="7030A0"/>
                </a:solidFill>
              </a:rPr>
              <a:t>videresende</a:t>
            </a:r>
            <a:r>
              <a:rPr lang="en-US" sz="1500" i="1" dirty="0">
                <a:solidFill>
                  <a:srgbClr val="7030A0"/>
                </a:solidFill>
              </a:rPr>
              <a:t> IP </a:t>
            </a:r>
            <a:r>
              <a:rPr lang="en-US" sz="1500" i="1" dirty="0" err="1">
                <a:solidFill>
                  <a:srgbClr val="7030A0"/>
                </a:solidFill>
              </a:rPr>
              <a:t>pakker</a:t>
            </a:r>
            <a:r>
              <a:rPr lang="en-US" sz="1500" i="1" dirty="0">
                <a:solidFill>
                  <a:srgbClr val="7030A0"/>
                </a:solidFill>
              </a:rPr>
              <a:t>, </a:t>
            </a:r>
            <a:r>
              <a:rPr lang="en-US" sz="1500" i="1" dirty="0" err="1">
                <a:solidFill>
                  <a:srgbClr val="7030A0"/>
                </a:solidFill>
              </a:rPr>
              <a:t>selvom</a:t>
            </a:r>
            <a:r>
              <a:rPr lang="en-US" sz="1500" i="1" dirty="0">
                <a:solidFill>
                  <a:srgbClr val="7030A0"/>
                </a:solidFill>
              </a:rPr>
              <a:t> den </a:t>
            </a:r>
            <a:r>
              <a:rPr lang="en-US" sz="1500" i="1" dirty="0" err="1">
                <a:solidFill>
                  <a:srgbClr val="7030A0"/>
                </a:solidFill>
              </a:rPr>
              <a:t>proces</a:t>
            </a:r>
            <a:r>
              <a:rPr lang="en-US" sz="1500" i="1" dirty="0">
                <a:solidFill>
                  <a:srgbClr val="7030A0"/>
                </a:solidFill>
              </a:rPr>
              <a:t> der </a:t>
            </a:r>
            <a:r>
              <a:rPr lang="en-US" sz="1500" i="1" dirty="0" err="1">
                <a:solidFill>
                  <a:srgbClr val="7030A0"/>
                </a:solidFill>
              </a:rPr>
              <a:t>udregner</a:t>
            </a:r>
            <a:r>
              <a:rPr lang="en-US" sz="1500" i="1" dirty="0">
                <a:solidFill>
                  <a:srgbClr val="7030A0"/>
                </a:solidFill>
              </a:rPr>
              <a:t> </a:t>
            </a:r>
            <a:r>
              <a:rPr lang="en-US" sz="1500" i="1" dirty="0" err="1">
                <a:solidFill>
                  <a:srgbClr val="7030A0"/>
                </a:solidFill>
              </a:rPr>
              <a:t>og</a:t>
            </a:r>
            <a:r>
              <a:rPr lang="en-US" sz="1500" i="1" dirty="0">
                <a:solidFill>
                  <a:srgbClr val="7030A0"/>
                </a:solidFill>
              </a:rPr>
              <a:t> </a:t>
            </a:r>
            <a:r>
              <a:rPr lang="en-US" sz="1500" i="1" dirty="0" err="1">
                <a:solidFill>
                  <a:srgbClr val="7030A0"/>
                </a:solidFill>
              </a:rPr>
              <a:t>vedligeholder</a:t>
            </a:r>
            <a:r>
              <a:rPr lang="en-US" sz="1500" i="1" dirty="0">
                <a:solidFill>
                  <a:srgbClr val="7030A0"/>
                </a:solidFill>
              </a:rPr>
              <a:t> </a:t>
            </a:r>
            <a:r>
              <a:rPr lang="en-US" sz="1500" i="1" dirty="0" err="1">
                <a:solidFill>
                  <a:srgbClr val="7030A0"/>
                </a:solidFill>
              </a:rPr>
              <a:t>posterne</a:t>
            </a:r>
            <a:r>
              <a:rPr lang="en-US" sz="1500" i="1" dirty="0">
                <a:solidFill>
                  <a:srgbClr val="7030A0"/>
                </a:solidFill>
              </a:rPr>
              <a:t> </a:t>
            </a:r>
            <a:r>
              <a:rPr lang="en-US" sz="1500" i="1" dirty="0" err="1">
                <a:solidFill>
                  <a:srgbClr val="7030A0"/>
                </a:solidFill>
              </a:rPr>
              <a:t>i</a:t>
            </a:r>
            <a:r>
              <a:rPr lang="en-US" sz="1500" i="1" dirty="0">
                <a:solidFill>
                  <a:srgbClr val="7030A0"/>
                </a:solidFill>
              </a:rPr>
              <a:t> routing </a:t>
            </a:r>
            <a:r>
              <a:rPr lang="en-US" sz="1500" i="1" dirty="0" err="1">
                <a:solidFill>
                  <a:srgbClr val="7030A0"/>
                </a:solidFill>
              </a:rPr>
              <a:t>tabellen</a:t>
            </a:r>
            <a:r>
              <a:rPr lang="en-US" sz="1500" i="1" dirty="0">
                <a:solidFill>
                  <a:srgbClr val="7030A0"/>
                </a:solidFill>
              </a:rPr>
              <a:t>, </a:t>
            </a:r>
            <a:r>
              <a:rPr lang="en-US" sz="1500" i="1" dirty="0" err="1">
                <a:solidFill>
                  <a:srgbClr val="7030A0"/>
                </a:solidFill>
              </a:rPr>
              <a:t>midlertidigt</a:t>
            </a:r>
            <a:r>
              <a:rPr lang="en-US" sz="1500" i="1" dirty="0">
                <a:solidFill>
                  <a:srgbClr val="7030A0"/>
                </a:solidFill>
              </a:rPr>
              <a:t> stopper med at </a:t>
            </a:r>
            <a:r>
              <a:rPr lang="en-US" sz="1500" i="1" dirty="0" err="1">
                <a:solidFill>
                  <a:srgbClr val="7030A0"/>
                </a:solidFill>
              </a:rPr>
              <a:t>virke</a:t>
            </a:r>
            <a:r>
              <a:rPr lang="en-US" sz="1500" i="1" dirty="0">
                <a:solidFill>
                  <a:srgbClr val="7030A0"/>
                </a:solidFill>
              </a:rPr>
              <a:t> (</a:t>
            </a:r>
            <a:r>
              <a:rPr lang="en-US" sz="1500" i="1" dirty="0" err="1">
                <a:solidFill>
                  <a:srgbClr val="7030A0"/>
                </a:solidFill>
              </a:rPr>
              <a:t>ikke</a:t>
            </a:r>
            <a:r>
              <a:rPr lang="en-US" sz="1500" i="1" dirty="0">
                <a:solidFill>
                  <a:srgbClr val="7030A0"/>
                </a:solidFill>
              </a:rPr>
              <a:t> </a:t>
            </a:r>
            <a:r>
              <a:rPr lang="en-US" sz="1500" i="1" dirty="0" err="1">
                <a:solidFill>
                  <a:srgbClr val="7030A0"/>
                </a:solidFill>
              </a:rPr>
              <a:t>en</a:t>
            </a:r>
            <a:r>
              <a:rPr lang="en-US" sz="1500" i="1" dirty="0">
                <a:solidFill>
                  <a:srgbClr val="7030A0"/>
                </a:solidFill>
              </a:rPr>
              <a:t> del </a:t>
            </a:r>
            <a:r>
              <a:rPr lang="en-US" sz="1500" i="1" dirty="0" err="1">
                <a:solidFill>
                  <a:srgbClr val="7030A0"/>
                </a:solidFill>
              </a:rPr>
              <a:t>af</a:t>
            </a:r>
            <a:r>
              <a:rPr lang="en-US" sz="1500" i="1" dirty="0">
                <a:solidFill>
                  <a:srgbClr val="7030A0"/>
                </a:solidFill>
              </a:rPr>
              <a:t> </a:t>
            </a:r>
            <a:r>
              <a:rPr lang="en-US" sz="1500" i="1" dirty="0" err="1">
                <a:solidFill>
                  <a:srgbClr val="7030A0"/>
                </a:solidFill>
              </a:rPr>
              <a:t>dette</a:t>
            </a:r>
            <a:r>
              <a:rPr lang="en-US" sz="1500" i="1" dirty="0">
                <a:solidFill>
                  <a:srgbClr val="7030A0"/>
                </a:solidFill>
              </a:rPr>
              <a:t> </a:t>
            </a:r>
            <a:r>
              <a:rPr lang="en-US" sz="1500" i="1" dirty="0" err="1">
                <a:solidFill>
                  <a:srgbClr val="7030A0"/>
                </a:solidFill>
              </a:rPr>
              <a:t>pensum</a:t>
            </a:r>
            <a:r>
              <a:rPr lang="en-US" sz="1500" i="1" dirty="0">
                <a:solidFill>
                  <a:srgbClr val="7030A0"/>
                </a:solidFill>
              </a:rPr>
              <a:t>! </a:t>
            </a:r>
            <a:r>
              <a:rPr lang="en-US" sz="1500" i="1">
                <a:solidFill>
                  <a:srgbClr val="7030A0"/>
                </a:solidFill>
                <a:sym typeface="Wingdings" panose="05000000000000000000" pitchFamily="2" charset="2"/>
              </a:rPr>
              <a:t>)</a:t>
            </a:r>
            <a:endParaRPr lang="en-US" sz="1500" i="1" dirty="0">
              <a:solidFill>
                <a:srgbClr val="7030A0"/>
              </a:solidFill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3730" y="608543"/>
            <a:ext cx="4041852" cy="28204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232" y="4049267"/>
            <a:ext cx="7029450" cy="113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Lige pilforbindelse 3">
            <a:extLst>
              <a:ext uri="{FF2B5EF4-FFF2-40B4-BE49-F238E27FC236}">
                <a16:creationId xmlns:a16="http://schemas.microsoft.com/office/drawing/2014/main" id="{2B8FC942-5D08-4921-85A3-D79DA60F10FB}"/>
              </a:ext>
            </a:extLst>
          </p:cNvPr>
          <p:cNvCxnSpPr>
            <a:cxnSpLocks/>
          </p:cNvCxnSpPr>
          <p:nvPr/>
        </p:nvCxnSpPr>
        <p:spPr bwMode="auto">
          <a:xfrm>
            <a:off x="6166378" y="893889"/>
            <a:ext cx="1242392" cy="15100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</p:spPr>
      </p:cxnSp>
      <p:sp>
        <p:nvSpPr>
          <p:cNvPr id="6" name="Tekstfelt 5">
            <a:extLst>
              <a:ext uri="{FF2B5EF4-FFF2-40B4-BE49-F238E27FC236}">
                <a16:creationId xmlns:a16="http://schemas.microsoft.com/office/drawing/2014/main" id="{1BCD8782-E5AC-4A8A-9B50-674A8EAF126E}"/>
              </a:ext>
            </a:extLst>
          </p:cNvPr>
          <p:cNvSpPr txBox="1"/>
          <p:nvPr/>
        </p:nvSpPr>
        <p:spPr>
          <a:xfrm>
            <a:off x="7408770" y="869068"/>
            <a:ext cx="949298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Se note!</a:t>
            </a:r>
          </a:p>
        </p:txBody>
      </p:sp>
    </p:spTree>
    <p:extLst>
      <p:ext uri="{BB962C8B-B14F-4D97-AF65-F5344CB8AC3E}">
        <p14:creationId xmlns:p14="http://schemas.microsoft.com/office/powerpoint/2010/main" val="2730317567"/>
      </p:ext>
    </p:extLst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927" y="338802"/>
            <a:ext cx="8145463" cy="534655"/>
          </a:xfrm>
        </p:spPr>
        <p:txBody>
          <a:bodyPr/>
          <a:lstStyle/>
          <a:p>
            <a:pPr eaLnBrk="1" hangingPunct="1">
              <a:defRPr/>
            </a:pPr>
            <a:br>
              <a:rPr lang="en-US" sz="2800" dirty="0"/>
            </a:br>
            <a:r>
              <a:rPr lang="en-US" dirty="0"/>
              <a:t>Verifying OSPF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0128" y="362745"/>
            <a:ext cx="5313872" cy="4683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881392"/>
            <a:ext cx="7254815" cy="2059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3043625"/>
      </p:ext>
    </p:extLst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718A2B-AB69-4CE2-9430-86ECAA305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Hello pakker på kryds og tværs blandt alle routere?????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964C8F1-C651-4BA1-9547-0079B9474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638" y="2730818"/>
            <a:ext cx="7940675" cy="3571875"/>
          </a:xfrm>
        </p:spPr>
        <p:txBody>
          <a:bodyPr/>
          <a:lstStyle/>
          <a:p>
            <a:pPr marL="0" indent="0">
              <a:buNone/>
            </a:pPr>
            <a:r>
              <a:rPr lang="da-DK"/>
              <a:t>Det er ikke så hensigtsmæssigt hvis alle routere sender alle beskeder om ændringer, til alle andre routere – som så fortæller alle routere om den nyhed de lige har modtager (som måske har ændret deres topologi tabel).</a:t>
            </a:r>
          </a:p>
          <a:p>
            <a:pPr marL="0" indent="0">
              <a:buNone/>
            </a:pPr>
            <a:endParaRPr lang="da-DK"/>
          </a:p>
          <a:p>
            <a:pPr marL="0" indent="0">
              <a:buNone/>
            </a:pPr>
            <a:r>
              <a:rPr lang="da-DK"/>
              <a:t>Derfor gør man noget lidt smartere </a:t>
            </a:r>
            <a:r>
              <a:rPr lang="da-DK">
                <a:sym typeface="Wingdings" panose="05000000000000000000" pitchFamily="2" charset="2"/>
              </a:rPr>
              <a:t>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751445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2279" y="284210"/>
            <a:ext cx="8145463" cy="521008"/>
          </a:xfrm>
        </p:spPr>
        <p:txBody>
          <a:bodyPr/>
          <a:lstStyle/>
          <a:p>
            <a:pPr eaLnBrk="1" hangingPunct="1">
              <a:defRPr/>
            </a:pPr>
            <a:br>
              <a:rPr lang="en-US" sz="3000" dirty="0"/>
            </a:br>
            <a:r>
              <a:rPr lang="en-US" sz="3000" dirty="0"/>
              <a:t>OSPF Designated Router</a:t>
            </a:r>
            <a:endParaRPr lang="en-US" sz="3000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7171" name="Rectangle 6"/>
          <p:cNvSpPr>
            <a:spLocks noGrp="1" noChangeArrowheads="1"/>
          </p:cNvSpPr>
          <p:nvPr>
            <p:ph idx="1"/>
          </p:nvPr>
        </p:nvSpPr>
        <p:spPr>
          <a:xfrm>
            <a:off x="1" y="603172"/>
            <a:ext cx="9143999" cy="6254828"/>
          </a:xfrm>
        </p:spPr>
        <p:txBody>
          <a:bodyPr/>
          <a:lstStyle/>
          <a:p>
            <a:pPr marL="0" indent="0" eaLnBrk="1" hangingPunct="1">
              <a:lnSpc>
                <a:spcPct val="100000"/>
              </a:lnSpc>
              <a:buNone/>
              <a:defRPr/>
            </a:pPr>
            <a:endParaRPr lang="en-US" sz="2000">
              <a:solidFill>
                <a:schemeClr val="accent1"/>
              </a:solidFill>
            </a:endParaRPr>
          </a:p>
          <a:p>
            <a:pPr marL="0" indent="0" eaLnBrk="1" hangingPunct="1">
              <a:lnSpc>
                <a:spcPct val="100000"/>
              </a:lnSpc>
              <a:buNone/>
              <a:defRPr/>
            </a:pPr>
            <a:r>
              <a:rPr lang="en-US" sz="2000">
                <a:solidFill>
                  <a:schemeClr val="accent1"/>
                </a:solidFill>
              </a:rPr>
              <a:t>I </a:t>
            </a:r>
            <a:r>
              <a:rPr lang="en-US" sz="2000" dirty="0" err="1">
                <a:solidFill>
                  <a:schemeClr val="accent1"/>
                </a:solidFill>
              </a:rPr>
              <a:t>stedet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>
                <a:solidFill>
                  <a:schemeClr val="accent1"/>
                </a:solidFill>
              </a:rPr>
              <a:t>for at routerne  “flooder” </a:t>
            </a:r>
            <a:r>
              <a:rPr lang="en-US" sz="2000" dirty="0" err="1">
                <a:solidFill>
                  <a:schemeClr val="accent1"/>
                </a:solidFill>
              </a:rPr>
              <a:t>deres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 err="1">
                <a:solidFill>
                  <a:schemeClr val="accent1"/>
                </a:solidFill>
              </a:rPr>
              <a:t>oplysninger</a:t>
            </a:r>
            <a:r>
              <a:rPr lang="en-US" sz="2000" dirty="0">
                <a:solidFill>
                  <a:schemeClr val="accent1"/>
                </a:solidFill>
              </a:rPr>
              <a:t> (</a:t>
            </a:r>
            <a:r>
              <a:rPr lang="en-US" sz="2000" dirty="0" err="1">
                <a:solidFill>
                  <a:schemeClr val="accent1"/>
                </a:solidFill>
              </a:rPr>
              <a:t>ligesom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 err="1">
                <a:solidFill>
                  <a:schemeClr val="accent1"/>
                </a:solidFill>
              </a:rPr>
              <a:t>en</a:t>
            </a:r>
            <a:r>
              <a:rPr lang="en-US" sz="2000" dirty="0">
                <a:solidFill>
                  <a:schemeClr val="accent1"/>
                </a:solidFill>
              </a:rPr>
              <a:t> broadcast </a:t>
            </a:r>
            <a:r>
              <a:rPr lang="en-US" sz="2000" dirty="0" err="1">
                <a:solidFill>
                  <a:schemeClr val="accent1"/>
                </a:solidFill>
              </a:rPr>
              <a:t>til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 err="1">
                <a:solidFill>
                  <a:schemeClr val="accent1"/>
                </a:solidFill>
              </a:rPr>
              <a:t>alle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 err="1">
                <a:solidFill>
                  <a:schemeClr val="accent1"/>
                </a:solidFill>
              </a:rPr>
              <a:t>routerne</a:t>
            </a:r>
            <a:r>
              <a:rPr lang="en-US" sz="2000" dirty="0">
                <a:solidFill>
                  <a:schemeClr val="accent1"/>
                </a:solidFill>
              </a:rPr>
              <a:t>), har OSPF </a:t>
            </a:r>
            <a:r>
              <a:rPr lang="en-US" sz="2000" dirty="0" err="1">
                <a:solidFill>
                  <a:schemeClr val="accent1"/>
                </a:solidFill>
              </a:rPr>
              <a:t>fundet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 err="1">
                <a:solidFill>
                  <a:schemeClr val="accent1"/>
                </a:solidFill>
              </a:rPr>
              <a:t>en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 err="1">
                <a:solidFill>
                  <a:schemeClr val="accent1"/>
                </a:solidFill>
              </a:rPr>
              <a:t>løsning</a:t>
            </a:r>
            <a:r>
              <a:rPr lang="en-US" sz="2000" dirty="0">
                <a:solidFill>
                  <a:schemeClr val="accent1"/>
                </a:solidFill>
              </a:rPr>
              <a:t>, der </a:t>
            </a:r>
            <a:r>
              <a:rPr lang="en-US" sz="2000" dirty="0" err="1">
                <a:solidFill>
                  <a:schemeClr val="accent1"/>
                </a:solidFill>
              </a:rPr>
              <a:t>ligner</a:t>
            </a:r>
            <a:r>
              <a:rPr lang="en-US" sz="2000" dirty="0">
                <a:solidFill>
                  <a:schemeClr val="accent1"/>
                </a:solidFill>
              </a:rPr>
              <a:t> den </a:t>
            </a:r>
            <a:r>
              <a:rPr lang="en-US" sz="2000" dirty="0" err="1">
                <a:solidFill>
                  <a:schemeClr val="accent1"/>
                </a:solidFill>
              </a:rPr>
              <a:t>metode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 err="1">
                <a:solidFill>
                  <a:schemeClr val="accent1"/>
                </a:solidFill>
              </a:rPr>
              <a:t>som</a:t>
            </a:r>
            <a:r>
              <a:rPr lang="en-US" sz="2000" dirty="0">
                <a:solidFill>
                  <a:schemeClr val="accent1"/>
                </a:solidFill>
              </a:rPr>
              <a:t> STP </a:t>
            </a:r>
            <a:r>
              <a:rPr lang="en-US" sz="2000" dirty="0" err="1">
                <a:solidFill>
                  <a:schemeClr val="accent1"/>
                </a:solidFill>
              </a:rPr>
              <a:t>bruger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>
                <a:solidFill>
                  <a:schemeClr val="accent1"/>
                </a:solidFill>
                <a:sym typeface="Wingdings" panose="05000000000000000000" pitchFamily="2" charset="2"/>
              </a:rPr>
              <a:t></a:t>
            </a:r>
            <a:endParaRPr lang="en-US" sz="2000" dirty="0">
              <a:solidFill>
                <a:schemeClr val="accent1"/>
              </a:solidFill>
            </a:endParaRPr>
          </a:p>
          <a:p>
            <a:pPr marL="0" indent="0" eaLnBrk="1" hangingPunct="1">
              <a:lnSpc>
                <a:spcPct val="100000"/>
              </a:lnSpc>
              <a:buNone/>
              <a:defRPr/>
            </a:pPr>
            <a:r>
              <a:rPr lang="en-US" sz="2000" dirty="0">
                <a:solidFill>
                  <a:schemeClr val="accent1"/>
                </a:solidFill>
              </a:rPr>
              <a:t>OSPF </a:t>
            </a:r>
            <a:r>
              <a:rPr lang="en-US" sz="2000" dirty="0" err="1">
                <a:solidFill>
                  <a:schemeClr val="accent1"/>
                </a:solidFill>
              </a:rPr>
              <a:t>arbejder</a:t>
            </a:r>
            <a:r>
              <a:rPr lang="en-US" sz="2000" dirty="0">
                <a:solidFill>
                  <a:schemeClr val="accent1"/>
                </a:solidFill>
              </a:rPr>
              <a:t> med </a:t>
            </a:r>
            <a:r>
              <a:rPr lang="en-US" sz="2000" dirty="0" err="1">
                <a:solidFill>
                  <a:schemeClr val="accent1"/>
                </a:solidFill>
              </a:rPr>
              <a:t>en</a:t>
            </a:r>
            <a:r>
              <a:rPr lang="en-US" sz="2000" dirty="0">
                <a:solidFill>
                  <a:schemeClr val="accent1"/>
                </a:solidFill>
              </a:rPr>
              <a:t> “</a:t>
            </a:r>
            <a:r>
              <a:rPr lang="en-US" sz="2000" dirty="0" err="1">
                <a:solidFill>
                  <a:schemeClr val="accent1"/>
                </a:solidFill>
              </a:rPr>
              <a:t>sjakformand</a:t>
            </a:r>
            <a:r>
              <a:rPr lang="en-US" sz="2000" dirty="0">
                <a:solidFill>
                  <a:schemeClr val="accent1"/>
                </a:solidFill>
              </a:rPr>
              <a:t>” = </a:t>
            </a:r>
            <a:r>
              <a:rPr lang="en-US" sz="2000" dirty="0" err="1">
                <a:solidFill>
                  <a:schemeClr val="accent1"/>
                </a:solidFill>
              </a:rPr>
              <a:t>én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 err="1">
                <a:solidFill>
                  <a:schemeClr val="accent1"/>
                </a:solidFill>
              </a:rPr>
              <a:t>af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 err="1">
                <a:solidFill>
                  <a:schemeClr val="accent1"/>
                </a:solidFill>
              </a:rPr>
              <a:t>routerne</a:t>
            </a:r>
            <a:r>
              <a:rPr lang="en-US" sz="2000" dirty="0">
                <a:solidFill>
                  <a:schemeClr val="accent1"/>
                </a:solidFill>
              </a:rPr>
              <a:t> holder </a:t>
            </a:r>
            <a:r>
              <a:rPr lang="en-US" sz="2000" dirty="0" err="1">
                <a:solidFill>
                  <a:schemeClr val="accent1"/>
                </a:solidFill>
              </a:rPr>
              <a:t>styr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 err="1">
                <a:solidFill>
                  <a:schemeClr val="accent1"/>
                </a:solidFill>
              </a:rPr>
              <a:t>på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 err="1">
                <a:solidFill>
                  <a:schemeClr val="accent1"/>
                </a:solidFill>
              </a:rPr>
              <a:t>hvad</a:t>
            </a:r>
            <a:r>
              <a:rPr lang="en-US" sz="2000" dirty="0">
                <a:solidFill>
                  <a:schemeClr val="accent1"/>
                </a:solidFill>
              </a:rPr>
              <a:t> der </a:t>
            </a:r>
            <a:r>
              <a:rPr lang="en-US" sz="2000" dirty="0" err="1">
                <a:solidFill>
                  <a:schemeClr val="accent1"/>
                </a:solidFill>
              </a:rPr>
              <a:t>sker</a:t>
            </a:r>
            <a:r>
              <a:rPr lang="en-US" sz="2000" dirty="0">
                <a:solidFill>
                  <a:schemeClr val="accent1"/>
                </a:solidFill>
              </a:rPr>
              <a:t>, </a:t>
            </a:r>
            <a:r>
              <a:rPr lang="en-US" sz="2000" dirty="0" err="1">
                <a:solidFill>
                  <a:schemeClr val="accent1"/>
                </a:solidFill>
              </a:rPr>
              <a:t>i</a:t>
            </a:r>
            <a:r>
              <a:rPr lang="en-US" sz="2000" dirty="0">
                <a:solidFill>
                  <a:schemeClr val="accent1"/>
                </a:solidFill>
              </a:rPr>
              <a:t> forhold </a:t>
            </a:r>
            <a:r>
              <a:rPr lang="en-US" sz="2000" dirty="0" err="1">
                <a:solidFill>
                  <a:schemeClr val="accent1"/>
                </a:solidFill>
              </a:rPr>
              <a:t>til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 err="1">
                <a:solidFill>
                  <a:schemeClr val="accent1"/>
                </a:solidFill>
              </a:rPr>
              <a:t>opdateringer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 err="1">
                <a:solidFill>
                  <a:schemeClr val="accent1"/>
                </a:solidFill>
              </a:rPr>
              <a:t>af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 err="1">
                <a:solidFill>
                  <a:schemeClr val="accent1"/>
                </a:solidFill>
              </a:rPr>
              <a:t>netværkstopologien</a:t>
            </a:r>
            <a:r>
              <a:rPr lang="en-US" sz="2000" dirty="0">
                <a:solidFill>
                  <a:schemeClr val="accent1"/>
                </a:solidFill>
              </a:rPr>
              <a:t>. Den </a:t>
            </a:r>
            <a:r>
              <a:rPr lang="en-US" sz="2000" dirty="0" err="1">
                <a:solidFill>
                  <a:schemeClr val="accent1"/>
                </a:solidFill>
              </a:rPr>
              <a:t>hedder</a:t>
            </a:r>
            <a:r>
              <a:rPr lang="en-US" sz="2000" dirty="0">
                <a:solidFill>
                  <a:schemeClr val="accent1"/>
                </a:solidFill>
              </a:rPr>
              <a:t> DR!</a:t>
            </a:r>
          </a:p>
          <a:p>
            <a:pPr marL="381000" indent="-381000" eaLnBrk="1" hangingPunct="1">
              <a:lnSpc>
                <a:spcPct val="100000"/>
              </a:lnSpc>
              <a:defRPr/>
            </a:pPr>
            <a:endParaRPr lang="en-US" sz="1800" dirty="0">
              <a:solidFill>
                <a:srgbClr val="7030A0"/>
              </a:solidFill>
            </a:endParaRPr>
          </a:p>
          <a:p>
            <a:pPr marL="381000" indent="-381000" eaLnBrk="1" hangingPunct="1">
              <a:lnSpc>
                <a:spcPct val="100000"/>
              </a:lnSpc>
              <a:defRPr/>
            </a:pPr>
            <a:r>
              <a:rPr lang="en-US" sz="1800" dirty="0">
                <a:solidFill>
                  <a:srgbClr val="7030A0"/>
                </a:solidFill>
              </a:rPr>
              <a:t>The designated router (DR) </a:t>
            </a:r>
            <a:r>
              <a:rPr lang="en-US" sz="1800" dirty="0"/>
              <a:t>is the solution to </a:t>
            </a:r>
            <a:r>
              <a:rPr lang="en-US" sz="1800" dirty="0">
                <a:solidFill>
                  <a:srgbClr val="00B050"/>
                </a:solidFill>
              </a:rPr>
              <a:t>managing adjacencies and flooding of LSAs </a:t>
            </a:r>
            <a:r>
              <a:rPr lang="en-US" sz="1800" dirty="0"/>
              <a:t>on a multiaccess network.</a:t>
            </a:r>
          </a:p>
          <a:p>
            <a:pPr marL="381000" indent="-381000" eaLnBrk="1" hangingPunct="1">
              <a:lnSpc>
                <a:spcPct val="100000"/>
              </a:lnSpc>
              <a:defRPr/>
            </a:pPr>
            <a:r>
              <a:rPr lang="en-US" sz="1800" dirty="0">
                <a:solidFill>
                  <a:srgbClr val="7030A0"/>
                </a:solidFill>
              </a:rPr>
              <a:t>The backup designated router (BDR) </a:t>
            </a:r>
            <a:r>
              <a:rPr lang="en-US" sz="1800" dirty="0"/>
              <a:t>is elected </a:t>
            </a:r>
            <a:r>
              <a:rPr lang="en-US" sz="1800" dirty="0">
                <a:solidFill>
                  <a:srgbClr val="00B050"/>
                </a:solidFill>
              </a:rPr>
              <a:t>in case the DR fails</a:t>
            </a:r>
            <a:r>
              <a:rPr lang="en-US" sz="1800" dirty="0"/>
              <a:t>.</a:t>
            </a:r>
          </a:p>
          <a:p>
            <a:pPr marL="381000" indent="-381000" eaLnBrk="1" hangingPunct="1">
              <a:lnSpc>
                <a:spcPct val="100000"/>
              </a:lnSpc>
              <a:defRPr/>
            </a:pPr>
            <a:r>
              <a:rPr lang="en-US" sz="1800" dirty="0">
                <a:solidFill>
                  <a:schemeClr val="tx1"/>
                </a:solidFill>
              </a:rPr>
              <a:t>All other non-DR and non-BDR routers become </a:t>
            </a:r>
            <a:r>
              <a:rPr lang="en-US" sz="1800" dirty="0">
                <a:solidFill>
                  <a:srgbClr val="7030A0"/>
                </a:solidFill>
              </a:rPr>
              <a:t>DROTHERs. </a:t>
            </a:r>
            <a:r>
              <a:rPr lang="en-US" sz="1800" dirty="0">
                <a:solidFill>
                  <a:schemeClr val="tx1"/>
                </a:solidFill>
              </a:rPr>
              <a:t>DROTHERs </a:t>
            </a:r>
            <a:r>
              <a:rPr lang="en-US" sz="1800" dirty="0">
                <a:solidFill>
                  <a:srgbClr val="00B050"/>
                </a:solidFill>
              </a:rPr>
              <a:t>only form adjacencies with the DR and BDR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</a:p>
          <a:p>
            <a:pPr marL="381000" indent="-381000" eaLnBrk="1" hangingPunct="1">
              <a:lnSpc>
                <a:spcPct val="100000"/>
              </a:lnSpc>
              <a:defRPr/>
            </a:pPr>
            <a:r>
              <a:rPr lang="en-US" sz="1800" dirty="0">
                <a:solidFill>
                  <a:srgbClr val="7030A0"/>
                </a:solidFill>
              </a:rPr>
              <a:t>DROTHERs</a:t>
            </a:r>
            <a:r>
              <a:rPr lang="en-US" sz="1800" dirty="0">
                <a:solidFill>
                  <a:schemeClr val="tx1"/>
                </a:solidFill>
              </a:rPr>
              <a:t> only send their LSAs to the DR and BDR using the multicast address </a:t>
            </a:r>
            <a:r>
              <a:rPr lang="en-US" sz="1800" dirty="0">
                <a:solidFill>
                  <a:srgbClr val="00B050"/>
                </a:solidFill>
              </a:rPr>
              <a:t>224.0.0.6.</a:t>
            </a:r>
          </a:p>
          <a:p>
            <a:pPr marL="381000" indent="-381000" eaLnBrk="1" hangingPunct="1">
              <a:lnSpc>
                <a:spcPct val="100000"/>
              </a:lnSpc>
              <a:defRPr/>
            </a:pPr>
            <a:r>
              <a:rPr lang="en-US" sz="1800" dirty="0">
                <a:solidFill>
                  <a:srgbClr val="7030A0"/>
                </a:solidFill>
              </a:rPr>
              <a:t>DR</a:t>
            </a:r>
            <a:r>
              <a:rPr lang="en-US" sz="1800" dirty="0">
                <a:solidFill>
                  <a:schemeClr val="tx1"/>
                </a:solidFill>
              </a:rPr>
              <a:t> uses the multicast address </a:t>
            </a:r>
            <a:r>
              <a:rPr lang="en-US" sz="1800" dirty="0">
                <a:solidFill>
                  <a:srgbClr val="00B050"/>
                </a:solidFill>
              </a:rPr>
              <a:t>224.0.0.5</a:t>
            </a:r>
            <a:r>
              <a:rPr lang="en-US" sz="1800" dirty="0">
                <a:solidFill>
                  <a:schemeClr val="tx1"/>
                </a:solidFill>
              </a:rPr>
              <a:t> to send LSAs to all other routers. DR only router flooding LSAs.</a:t>
            </a:r>
          </a:p>
          <a:p>
            <a:pPr marL="381000" indent="-381000" eaLnBrk="1" hangingPunct="1">
              <a:lnSpc>
                <a:spcPct val="100000"/>
              </a:lnSpc>
              <a:defRPr/>
            </a:pPr>
            <a:r>
              <a:rPr lang="en-US" altLang="ja-JP" sz="1800" dirty="0"/>
              <a:t>DR/BDR Elections only necessary on multiaccess networks.</a:t>
            </a:r>
            <a:endParaRPr lang="en-US" altLang="ja-JP" sz="1800" dirty="0">
              <a:ea typeface="ＭＳ Ｐゴシック" pitchFamily="34" charset="-128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09575" y="338801"/>
            <a:ext cx="8145463" cy="643837"/>
          </a:xfrm>
        </p:spPr>
        <p:txBody>
          <a:bodyPr/>
          <a:lstStyle/>
          <a:p>
            <a:pPr eaLnBrk="1" hangingPunct="1">
              <a:defRPr/>
            </a:pPr>
            <a:br>
              <a:rPr lang="en-US" sz="2800" dirty="0"/>
            </a:br>
            <a:r>
              <a:rPr lang="en-US" dirty="0"/>
              <a:t>Default DR/BDR Election Process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7171" name="Rectangle 6"/>
          <p:cNvSpPr>
            <a:spLocks noGrp="1" noChangeArrowheads="1"/>
          </p:cNvSpPr>
          <p:nvPr>
            <p:ph idx="1"/>
          </p:nvPr>
        </p:nvSpPr>
        <p:spPr>
          <a:xfrm>
            <a:off x="0" y="1392043"/>
            <a:ext cx="9144000" cy="5131019"/>
          </a:xfrm>
        </p:spPr>
        <p:txBody>
          <a:bodyPr/>
          <a:lstStyle/>
          <a:p>
            <a:pPr marL="381000" indent="-381000" eaLnBrk="1" hangingPunct="1">
              <a:lnSpc>
                <a:spcPct val="75000"/>
              </a:lnSpc>
              <a:defRPr/>
            </a:pPr>
            <a:r>
              <a:rPr lang="en-US" sz="2000" dirty="0"/>
              <a:t>T</a:t>
            </a:r>
            <a:r>
              <a:rPr lang="en-US" sz="2000" dirty="0">
                <a:solidFill>
                  <a:schemeClr val="tx1"/>
                </a:solidFill>
              </a:rPr>
              <a:t>he router with the </a:t>
            </a:r>
            <a:r>
              <a:rPr lang="en-US" sz="2000" dirty="0">
                <a:solidFill>
                  <a:srgbClr val="00B050"/>
                </a:solidFill>
              </a:rPr>
              <a:t>highest interface priority is elected as the DR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</a:p>
          <a:p>
            <a:pPr marL="381000" indent="-381000" eaLnBrk="1" hangingPunct="1">
              <a:lnSpc>
                <a:spcPct val="75000"/>
              </a:lnSpc>
              <a:defRPr/>
            </a:pPr>
            <a:r>
              <a:rPr lang="en-US" sz="2000" dirty="0"/>
              <a:t>The router with the </a:t>
            </a:r>
            <a:r>
              <a:rPr lang="en-US" sz="2000" dirty="0">
                <a:solidFill>
                  <a:srgbClr val="00B050"/>
                </a:solidFill>
              </a:rPr>
              <a:t>second highest interface priority is elected as the BDR</a:t>
            </a:r>
            <a:r>
              <a:rPr lang="en-US" sz="2000" dirty="0"/>
              <a:t>.</a:t>
            </a:r>
          </a:p>
          <a:p>
            <a:pPr marL="381000" indent="-381000" eaLnBrk="1" hangingPunct="1">
              <a:lnSpc>
                <a:spcPct val="75000"/>
              </a:lnSpc>
              <a:defRPr/>
            </a:pPr>
            <a:r>
              <a:rPr lang="en-US" sz="2000" dirty="0"/>
              <a:t>Priority can be configured between 0-255.  (</a:t>
            </a:r>
            <a:r>
              <a:rPr lang="en-US" sz="2000" dirty="0">
                <a:solidFill>
                  <a:schemeClr val="tx1"/>
                </a:solidFill>
              </a:rPr>
              <a:t>Priority of 0 = router cannot become </a:t>
            </a:r>
            <a:r>
              <a:rPr lang="en-US" sz="2000">
                <a:solidFill>
                  <a:schemeClr val="tx1"/>
                </a:solidFill>
              </a:rPr>
              <a:t>the DR; 1 = default value</a:t>
            </a:r>
            <a:r>
              <a:rPr lang="en-US" sz="2000"/>
              <a:t>)</a:t>
            </a:r>
            <a:endParaRPr lang="en-US" sz="2000" dirty="0">
              <a:solidFill>
                <a:schemeClr val="tx1"/>
              </a:solidFill>
            </a:endParaRPr>
          </a:p>
          <a:p>
            <a:pPr marL="381000" indent="-381000" eaLnBrk="1" hangingPunct="1">
              <a:lnSpc>
                <a:spcPct val="75000"/>
              </a:lnSpc>
              <a:defRPr/>
            </a:pPr>
            <a:r>
              <a:rPr lang="en-US" sz="2000" dirty="0"/>
              <a:t>If interface </a:t>
            </a:r>
            <a:r>
              <a:rPr lang="en-US" sz="2000" dirty="0">
                <a:solidFill>
                  <a:srgbClr val="00B050"/>
                </a:solidFill>
              </a:rPr>
              <a:t>priorities are equal</a:t>
            </a:r>
            <a:r>
              <a:rPr lang="en-US" sz="2000" dirty="0"/>
              <a:t>, then the router with </a:t>
            </a:r>
            <a:r>
              <a:rPr lang="en-US" sz="2000" dirty="0">
                <a:solidFill>
                  <a:srgbClr val="00B050"/>
                </a:solidFill>
              </a:rPr>
              <a:t>highest router ID </a:t>
            </a:r>
            <a:r>
              <a:rPr lang="en-US" sz="2000" dirty="0"/>
              <a:t>is elected DR and second highest the BDR</a:t>
            </a:r>
          </a:p>
          <a:p>
            <a:pPr marL="0" indent="0" eaLnBrk="1" hangingPunct="1">
              <a:lnSpc>
                <a:spcPct val="75000"/>
              </a:lnSpc>
              <a:buNone/>
              <a:defRPr/>
            </a:pPr>
            <a:endParaRPr lang="en-US" sz="2000"/>
          </a:p>
          <a:p>
            <a:pPr marL="0" indent="0" eaLnBrk="1" hangingPunct="1">
              <a:lnSpc>
                <a:spcPct val="75000"/>
              </a:lnSpc>
              <a:buNone/>
              <a:defRPr/>
            </a:pPr>
            <a:endParaRPr lang="en-US" sz="2000" dirty="0"/>
          </a:p>
          <a:p>
            <a:pPr marL="381000" indent="-381000" eaLnBrk="1" hangingPunct="1">
              <a:lnSpc>
                <a:spcPct val="75000"/>
              </a:lnSpc>
              <a:defRPr/>
            </a:pPr>
            <a:r>
              <a:rPr lang="en-US" sz="2000" dirty="0"/>
              <a:t>Three ways to determine </a:t>
            </a:r>
            <a:r>
              <a:rPr lang="en-US" sz="2000" dirty="0">
                <a:solidFill>
                  <a:srgbClr val="7030A0"/>
                </a:solidFill>
              </a:rPr>
              <a:t>router ID</a:t>
            </a:r>
            <a:r>
              <a:rPr lang="en-US" sz="2000" dirty="0"/>
              <a:t>:</a:t>
            </a:r>
          </a:p>
          <a:p>
            <a:pPr marL="719137" lvl="1" indent="-381000" eaLnBrk="1" hangingPunct="1">
              <a:lnSpc>
                <a:spcPct val="75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  <a:ea typeface="+mn-ea"/>
                <a:cs typeface="+mn-cs"/>
              </a:rPr>
              <a:t>Router ID can be </a:t>
            </a:r>
            <a:r>
              <a:rPr lang="en-US" dirty="0">
                <a:solidFill>
                  <a:srgbClr val="0070C0"/>
                </a:solidFill>
                <a:ea typeface="+mn-ea"/>
                <a:cs typeface="+mn-cs"/>
              </a:rPr>
              <a:t>manually configured</a:t>
            </a:r>
            <a:r>
              <a:rPr lang="en-US" dirty="0">
                <a:solidFill>
                  <a:schemeClr val="tx1"/>
                </a:solidFill>
                <a:ea typeface="+mn-ea"/>
                <a:cs typeface="+mn-cs"/>
              </a:rPr>
              <a:t>.</a:t>
            </a:r>
          </a:p>
          <a:p>
            <a:pPr marL="719137" lvl="1" indent="-381000" eaLnBrk="1" hangingPunct="1">
              <a:lnSpc>
                <a:spcPct val="75000"/>
              </a:lnSpc>
              <a:buFont typeface="Arial" panose="020B0604020202020204" pitchFamily="34" charset="0"/>
              <a:buChar char="•"/>
              <a:defRPr/>
            </a:pPr>
            <a:r>
              <a:rPr lang="en-US" dirty="0"/>
              <a:t>If not configured, the ID determined by the </a:t>
            </a:r>
            <a:r>
              <a:rPr lang="en-US" dirty="0">
                <a:solidFill>
                  <a:srgbClr val="0070C0"/>
                </a:solidFill>
              </a:rPr>
              <a:t>highest loopback IP address</a:t>
            </a:r>
            <a:r>
              <a:rPr lang="en-US" dirty="0"/>
              <a:t>.</a:t>
            </a:r>
          </a:p>
          <a:p>
            <a:pPr marL="719137" lvl="1" indent="-381000" eaLnBrk="1" hangingPunct="1">
              <a:lnSpc>
                <a:spcPct val="75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  <a:ea typeface="+mn-ea"/>
                <a:cs typeface="+mn-cs"/>
              </a:rPr>
              <a:t>If no loopbacks, the ID is determined by the </a:t>
            </a:r>
            <a:r>
              <a:rPr lang="en-US" dirty="0">
                <a:solidFill>
                  <a:srgbClr val="0070C0"/>
                </a:solidFill>
                <a:ea typeface="+mn-ea"/>
                <a:cs typeface="+mn-cs"/>
              </a:rPr>
              <a:t>highest active IPv4 address</a:t>
            </a:r>
            <a:r>
              <a:rPr lang="en-US" dirty="0">
                <a:solidFill>
                  <a:schemeClr val="tx1"/>
                </a:solidFill>
                <a:ea typeface="+mn-ea"/>
                <a:cs typeface="+mn-cs"/>
              </a:rPr>
              <a:t>.</a:t>
            </a:r>
          </a:p>
          <a:p>
            <a:pPr marL="338137" lvl="1" indent="0" eaLnBrk="1" hangingPunct="1">
              <a:lnSpc>
                <a:spcPct val="75000"/>
              </a:lnSpc>
              <a:defRPr/>
            </a:pPr>
            <a:endParaRPr lang="en-US" dirty="0">
              <a:solidFill>
                <a:schemeClr val="tx1"/>
              </a:solidFill>
              <a:ea typeface="+mn-ea"/>
              <a:cs typeface="+mn-cs"/>
            </a:endParaRPr>
          </a:p>
          <a:p>
            <a:pPr marL="719137" lvl="1" indent="-381000" eaLnBrk="1" hangingPunct="1">
              <a:lnSpc>
                <a:spcPct val="75000"/>
              </a:lnSpc>
              <a:defRPr/>
            </a:pPr>
            <a:endParaRPr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09575" y="420688"/>
            <a:ext cx="8145463" cy="452769"/>
          </a:xfrm>
        </p:spPr>
        <p:txBody>
          <a:bodyPr/>
          <a:lstStyle/>
          <a:p>
            <a:pPr eaLnBrk="1" hangingPunct="1">
              <a:defRPr/>
            </a:pPr>
            <a:br>
              <a:rPr lang="en-US" sz="2800" dirty="0"/>
            </a:br>
            <a:r>
              <a:rPr lang="en-US" dirty="0"/>
              <a:t>DR/BDR Election Process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7171" name="Rectangle 6"/>
          <p:cNvSpPr>
            <a:spLocks noGrp="1" noChangeArrowheads="1"/>
          </p:cNvSpPr>
          <p:nvPr>
            <p:ph idx="1"/>
          </p:nvPr>
        </p:nvSpPr>
        <p:spPr>
          <a:xfrm>
            <a:off x="0" y="1460281"/>
            <a:ext cx="9144000" cy="5150069"/>
          </a:xfrm>
        </p:spPr>
        <p:txBody>
          <a:bodyPr/>
          <a:lstStyle/>
          <a:p>
            <a:pPr marL="381000" indent="-381000" eaLnBrk="1" hangingPunct="1">
              <a:lnSpc>
                <a:spcPct val="100000"/>
              </a:lnSpc>
              <a:buNone/>
              <a:defRPr/>
            </a:pPr>
            <a:r>
              <a:rPr lang="en-US" sz="2000" dirty="0"/>
              <a:t>DR remains the DR until one of the following occurs:</a:t>
            </a:r>
          </a:p>
          <a:p>
            <a:pPr marL="381000" indent="-381000" eaLnBrk="1" hangingPunct="1">
              <a:lnSpc>
                <a:spcPct val="100000"/>
              </a:lnSpc>
              <a:defRPr/>
            </a:pPr>
            <a:r>
              <a:rPr lang="en-US" sz="2000" dirty="0"/>
              <a:t>The DR fails.</a:t>
            </a:r>
          </a:p>
          <a:p>
            <a:pPr marL="381000" indent="-381000" eaLnBrk="1" hangingPunct="1">
              <a:lnSpc>
                <a:spcPct val="100000"/>
              </a:lnSpc>
              <a:defRPr/>
            </a:pPr>
            <a:r>
              <a:rPr lang="en-US" sz="2000" dirty="0">
                <a:solidFill>
                  <a:schemeClr val="tx1"/>
                </a:solidFill>
              </a:rPr>
              <a:t>The OSPF process on the DR fails or is stopped.</a:t>
            </a:r>
          </a:p>
          <a:p>
            <a:pPr marL="381000" indent="-381000" eaLnBrk="1" hangingPunct="1">
              <a:lnSpc>
                <a:spcPct val="100000"/>
              </a:lnSpc>
              <a:defRPr/>
            </a:pPr>
            <a:r>
              <a:rPr lang="en-US" sz="2000" dirty="0">
                <a:solidFill>
                  <a:schemeClr val="tx1"/>
                </a:solidFill>
              </a:rPr>
              <a:t>The multiaccess interface on the DR fails or is </a:t>
            </a:r>
            <a:r>
              <a:rPr lang="en-US" sz="2000">
                <a:solidFill>
                  <a:schemeClr val="tx1"/>
                </a:solidFill>
              </a:rPr>
              <a:t>shutdown.</a:t>
            </a:r>
          </a:p>
          <a:p>
            <a:pPr marL="0" indent="0" eaLnBrk="1" hangingPunct="1">
              <a:lnSpc>
                <a:spcPct val="100000"/>
              </a:lnSpc>
              <a:buNone/>
              <a:defRPr/>
            </a:pPr>
            <a:r>
              <a:rPr lang="en-US" sz="2000" i="1"/>
              <a:t>(Modsat STP hvor rootbridge skifter hvis en “bedre” switch kommer til </a:t>
            </a:r>
            <a:r>
              <a:rPr lang="en-US" sz="2000" i="1">
                <a:sym typeface="Wingdings" panose="05000000000000000000" pitchFamily="2" charset="2"/>
              </a:rPr>
              <a:t> )</a:t>
            </a:r>
            <a:endParaRPr lang="en-US" sz="2000" i="1">
              <a:solidFill>
                <a:schemeClr val="tx1"/>
              </a:solidFill>
            </a:endParaRPr>
          </a:p>
          <a:p>
            <a:pPr marL="381000" indent="-381000" eaLnBrk="1" hangingPunct="1">
              <a:lnSpc>
                <a:spcPct val="100000"/>
              </a:lnSpc>
              <a:defRPr/>
            </a:pPr>
            <a:endParaRPr lang="en-US" sz="2000" dirty="0">
              <a:solidFill>
                <a:schemeClr val="tx1"/>
              </a:solidFill>
            </a:endParaRPr>
          </a:p>
          <a:p>
            <a:pPr marL="381000" indent="-381000" eaLnBrk="1" hangingPunct="1">
              <a:lnSpc>
                <a:spcPct val="100000"/>
              </a:lnSpc>
              <a:buNone/>
              <a:defRPr/>
            </a:pPr>
            <a:r>
              <a:rPr lang="en-US" sz="2000" dirty="0">
                <a:solidFill>
                  <a:schemeClr val="tx1"/>
                </a:solidFill>
              </a:rPr>
              <a:t>If the DR fails, the BDR is automatically promoted to DR.</a:t>
            </a:r>
          </a:p>
          <a:p>
            <a:pPr marL="381000" indent="-381000" eaLnBrk="1" hangingPunct="1">
              <a:lnSpc>
                <a:spcPct val="100000"/>
              </a:lnSpc>
              <a:defRPr/>
            </a:pPr>
            <a:r>
              <a:rPr lang="en-US" sz="2000" dirty="0"/>
              <a:t>There is then a</a:t>
            </a:r>
            <a:r>
              <a:rPr lang="en-US" sz="2000" dirty="0">
                <a:solidFill>
                  <a:schemeClr val="tx1"/>
                </a:solidFill>
              </a:rPr>
              <a:t> new BDR election and the DROTHER with the higher priority or router ID is elected as the new </a:t>
            </a:r>
            <a:r>
              <a:rPr lang="en-US" sz="2000">
                <a:solidFill>
                  <a:schemeClr val="tx1"/>
                </a:solidFill>
              </a:rPr>
              <a:t>BDR.</a:t>
            </a:r>
          </a:p>
          <a:p>
            <a:pPr marL="0" indent="0" eaLnBrk="1" hangingPunct="1">
              <a:lnSpc>
                <a:spcPct val="100000"/>
              </a:lnSpc>
              <a:buNone/>
              <a:defRPr/>
            </a:pPr>
            <a:r>
              <a:rPr lang="en-US" sz="2000" i="1">
                <a:solidFill>
                  <a:schemeClr val="tx1"/>
                </a:solidFill>
              </a:rPr>
              <a:t>(denne BDR beholder så til gengæld sin rolle også hvis den gamle DR kommer tilbage og kræver sin “ret” – hvis den er konf. sådan – til at få sin rolle tilbage)</a:t>
            </a:r>
            <a:endParaRPr lang="en-US" sz="2000" i="1" dirty="0">
              <a:solidFill>
                <a:schemeClr val="tx1"/>
              </a:solidFill>
            </a:endParaRPr>
          </a:p>
          <a:p>
            <a:pPr marL="381000" indent="-381000" eaLnBrk="1" hangingPunct="1">
              <a:lnSpc>
                <a:spcPct val="75000"/>
              </a:lnSpc>
              <a:defRPr/>
            </a:pPr>
            <a:endParaRPr lang="en-US" sz="2000" dirty="0">
              <a:solidFill>
                <a:schemeClr val="tx1"/>
              </a:solidFill>
            </a:endParaRPr>
          </a:p>
          <a:p>
            <a:pPr marL="381000" indent="-381000" eaLnBrk="1" hangingPunct="1">
              <a:lnSpc>
                <a:spcPct val="75000"/>
              </a:lnSpc>
              <a:defRPr/>
            </a:pPr>
            <a:endParaRPr lang="en-US" dirty="0">
              <a:ea typeface="+mn-ea"/>
              <a:cs typeface="+mn-cs"/>
            </a:endParaRPr>
          </a:p>
          <a:p>
            <a:pPr marL="719137" lvl="1" indent="-381000" eaLnBrk="1" hangingPunct="1">
              <a:lnSpc>
                <a:spcPct val="75000"/>
              </a:lnSpc>
              <a:defRPr/>
            </a:pPr>
            <a:endParaRPr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716" y="5036024"/>
            <a:ext cx="8395385" cy="1821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09575" y="420688"/>
            <a:ext cx="8145463" cy="439121"/>
          </a:xfrm>
        </p:spPr>
        <p:txBody>
          <a:bodyPr/>
          <a:lstStyle/>
          <a:p>
            <a:pPr eaLnBrk="1" hangingPunct="1">
              <a:defRPr/>
            </a:pPr>
            <a:br>
              <a:rPr lang="en-US" sz="2800" dirty="0"/>
            </a:br>
            <a:r>
              <a:rPr lang="en-US" dirty="0"/>
              <a:t>The OSPF Priority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7171" name="Rectangle 6"/>
          <p:cNvSpPr>
            <a:spLocks noGrp="1" noChangeArrowheads="1"/>
          </p:cNvSpPr>
          <p:nvPr>
            <p:ph idx="1"/>
          </p:nvPr>
        </p:nvSpPr>
        <p:spPr>
          <a:xfrm>
            <a:off x="0" y="948804"/>
            <a:ext cx="9144000" cy="5909196"/>
          </a:xfrm>
        </p:spPr>
        <p:txBody>
          <a:bodyPr/>
          <a:lstStyle/>
          <a:p>
            <a:pPr eaLnBrk="1" hangingPunct="1">
              <a:lnSpc>
                <a:spcPct val="100000"/>
              </a:lnSpc>
              <a:defRPr/>
            </a:pPr>
            <a:r>
              <a:rPr lang="en-US" sz="2000" dirty="0"/>
              <a:t>Instead of setting the router ID on all routers, it </a:t>
            </a:r>
            <a:r>
              <a:rPr lang="en-US" sz="2000" dirty="0">
                <a:solidFill>
                  <a:schemeClr val="tx1"/>
                </a:solidFill>
              </a:rPr>
              <a:t>is better to control the election by setting interface </a:t>
            </a:r>
            <a:r>
              <a:rPr lang="en-US" sz="2000">
                <a:solidFill>
                  <a:schemeClr val="tx1"/>
                </a:solidFill>
              </a:rPr>
              <a:t>priorities. </a:t>
            </a:r>
            <a:r>
              <a:rPr lang="en-US" sz="2000" i="1">
                <a:solidFill>
                  <a:srgbClr val="3E67A4"/>
                </a:solidFill>
              </a:rPr>
              <a:t>Det er jeg ikke nødvendigvis enig i </a:t>
            </a:r>
            <a:r>
              <a:rPr lang="en-US" sz="2000" i="1">
                <a:solidFill>
                  <a:srgbClr val="3E67A4"/>
                </a:solidFill>
                <a:sym typeface="Wingdings" panose="05000000000000000000" pitchFamily="2" charset="2"/>
              </a:rPr>
              <a:t></a:t>
            </a:r>
            <a:endParaRPr lang="en-US" sz="2000" i="1" dirty="0">
              <a:solidFill>
                <a:srgbClr val="3E67A4"/>
              </a:solidFill>
            </a:endParaRPr>
          </a:p>
          <a:p>
            <a:pPr marL="800100" lvl="1" indent="-342900" eaLnBrk="1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/>
              <a:t>To change the priority, use one of the following commands:</a:t>
            </a:r>
          </a:p>
          <a:p>
            <a:pPr marL="677862" lvl="2" eaLnBrk="1" hangingPunct="1">
              <a:lnSpc>
                <a:spcPct val="100000"/>
              </a:lnSpc>
              <a:defRPr/>
            </a:pPr>
            <a:r>
              <a:rPr lang="en-US" b="1" dirty="0">
                <a:solidFill>
                  <a:schemeClr val="tx1"/>
                </a:solidFill>
                <a:ea typeface="+mn-ea"/>
                <a:cs typeface="+mn-cs"/>
              </a:rPr>
              <a:t>	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ip ospf priority</a:t>
            </a:r>
            <a:r>
              <a:rPr lang="en-US" b="1" dirty="0">
                <a:solidFill>
                  <a:schemeClr val="tx1"/>
                </a:solidFill>
                <a:ea typeface="+mn-ea"/>
                <a:cs typeface="+mn-cs"/>
              </a:rPr>
              <a:t> </a:t>
            </a:r>
            <a:r>
              <a:rPr lang="en-US" i="1" dirty="0">
                <a:solidFill>
                  <a:schemeClr val="tx1"/>
                </a:solidFill>
                <a:ea typeface="+mn-ea"/>
                <a:cs typeface="+mn-cs"/>
              </a:rPr>
              <a:t>value</a:t>
            </a:r>
            <a:r>
              <a:rPr lang="en-US" dirty="0">
                <a:solidFill>
                  <a:schemeClr val="tx1"/>
                </a:solidFill>
                <a:ea typeface="+mn-ea"/>
                <a:cs typeface="+mn-cs"/>
              </a:rPr>
              <a:t> (OSPFv2 interface command)</a:t>
            </a:r>
          </a:p>
          <a:p>
            <a:pPr marL="677862" lvl="2" eaLnBrk="1" hangingPunct="1">
              <a:lnSpc>
                <a:spcPct val="100000"/>
              </a:lnSpc>
              <a:defRPr/>
            </a:pPr>
            <a:endParaRPr lang="en-US" dirty="0">
              <a:solidFill>
                <a:schemeClr val="tx1"/>
              </a:solidFill>
              <a:ea typeface="+mn-ea"/>
              <a:cs typeface="+mn-cs"/>
            </a:endParaRPr>
          </a:p>
          <a:p>
            <a:pPr eaLnBrk="1" hangingPunct="1">
              <a:lnSpc>
                <a:spcPct val="100000"/>
              </a:lnSpc>
              <a:defRPr/>
            </a:pPr>
            <a:r>
              <a:rPr lang="en-US" sz="2000" dirty="0">
                <a:solidFill>
                  <a:schemeClr val="tx1"/>
                </a:solidFill>
              </a:rPr>
              <a:t>To begin another OSPF election, use one of the following methods:</a:t>
            </a:r>
          </a:p>
          <a:p>
            <a:pPr marL="681037" lvl="1" indent="-342900" eaLnBrk="1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  <a:ea typeface="+mn-ea"/>
                <a:cs typeface="+mn-cs"/>
              </a:rPr>
              <a:t>Shutdown the router interfaces and then re-enable them starting with the DR, then the BDR, and then all other routers.</a:t>
            </a:r>
          </a:p>
          <a:p>
            <a:pPr marL="681037" lvl="1" indent="-342900" eaLnBrk="1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  <a:ea typeface="+mn-ea"/>
                <a:cs typeface="+mn-cs"/>
              </a:rPr>
              <a:t>Reset the OSPF process using the</a:t>
            </a:r>
            <a:r>
              <a:rPr lang="en-US" b="1" dirty="0">
                <a:solidFill>
                  <a:schemeClr val="tx1"/>
                </a:solidFill>
                <a:ea typeface="+mn-ea"/>
                <a:cs typeface="+mn-cs"/>
              </a:rPr>
              <a:t> 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clear ip ospf process</a:t>
            </a:r>
            <a:r>
              <a:rPr lang="en-US" b="1" dirty="0">
                <a:solidFill>
                  <a:schemeClr val="tx1"/>
                </a:solidFill>
                <a:ea typeface="+mn-ea"/>
                <a:cs typeface="+mn-cs"/>
              </a:rPr>
              <a:t> </a:t>
            </a:r>
            <a:r>
              <a:rPr lang="en-US" dirty="0">
                <a:solidFill>
                  <a:schemeClr val="tx1"/>
                </a:solidFill>
                <a:ea typeface="+mn-ea"/>
                <a:cs typeface="+mn-cs"/>
              </a:rPr>
              <a:t>privileged EXEC mode command on all routers.</a:t>
            </a:r>
          </a:p>
          <a:p>
            <a:pPr marL="381000" indent="-381000" eaLnBrk="1" hangingPunct="1">
              <a:lnSpc>
                <a:spcPct val="75000"/>
              </a:lnSpc>
              <a:defRPr/>
            </a:pPr>
            <a:endParaRPr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81000" indent="-381000" eaLnBrk="1" hangingPunct="1">
              <a:lnSpc>
                <a:spcPct val="75000"/>
              </a:lnSpc>
              <a:defRPr/>
            </a:pPr>
            <a:endParaRPr lang="en-US" dirty="0">
              <a:ea typeface="+mn-ea"/>
              <a:cs typeface="+mn-cs"/>
            </a:endParaRPr>
          </a:p>
          <a:p>
            <a:pPr marL="719137" lvl="1" indent="-381000" eaLnBrk="1" hangingPunct="1">
              <a:lnSpc>
                <a:spcPct val="75000"/>
              </a:lnSpc>
              <a:defRPr/>
            </a:pPr>
            <a:endParaRPr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44988" y="311506"/>
            <a:ext cx="8145463" cy="425473"/>
          </a:xfrm>
        </p:spPr>
        <p:txBody>
          <a:bodyPr/>
          <a:lstStyle/>
          <a:p>
            <a:pPr eaLnBrk="1" hangingPunct="1">
              <a:defRPr/>
            </a:pPr>
            <a:br>
              <a:rPr lang="en-US" sz="2800" dirty="0"/>
            </a:br>
            <a:r>
              <a:rPr lang="en-US" sz="2800" dirty="0">
                <a:solidFill>
                  <a:srgbClr val="FF0000"/>
                </a:solidFill>
              </a:rPr>
              <a:t>Propagating</a:t>
            </a:r>
            <a:r>
              <a:rPr lang="en-US" sz="2800" dirty="0"/>
              <a:t> a Default Static Route in OSPFv2</a:t>
            </a:r>
            <a:endParaRPr lang="en-US" sz="2800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7171" name="Rectangle 6"/>
          <p:cNvSpPr>
            <a:spLocks noGrp="1" noChangeArrowheads="1"/>
          </p:cNvSpPr>
          <p:nvPr>
            <p:ph idx="1"/>
          </p:nvPr>
        </p:nvSpPr>
        <p:spPr>
          <a:xfrm>
            <a:off x="0" y="938743"/>
            <a:ext cx="9144000" cy="1517854"/>
          </a:xfrm>
        </p:spPr>
        <p:txBody>
          <a:bodyPr/>
          <a:lstStyle/>
          <a:p>
            <a:pPr marL="0" indent="0" eaLnBrk="1" hangingPunct="1">
              <a:lnSpc>
                <a:spcPct val="100000"/>
              </a:lnSpc>
              <a:buNone/>
              <a:defRPr/>
            </a:pPr>
            <a:r>
              <a:rPr lang="en-US" sz="2000" dirty="0"/>
              <a:t>T</a:t>
            </a:r>
            <a:r>
              <a:rPr lang="en-US" sz="2000" dirty="0">
                <a:solidFill>
                  <a:schemeClr val="tx1"/>
                </a:solidFill>
              </a:rPr>
              <a:t>he router connected to the Internet that is used to propagate a default route is often called the edge, entrance or gateway router. In an OSPF network, it may also be call the </a:t>
            </a:r>
            <a:r>
              <a:rPr lang="en-US" sz="2000" dirty="0">
                <a:solidFill>
                  <a:srgbClr val="C00000"/>
                </a:solidFill>
              </a:rPr>
              <a:t>autonomous system boundary router (ASBR)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</a:p>
          <a:p>
            <a:pPr marL="719137" lvl="1" indent="-381000" eaLnBrk="1" hangingPunct="1">
              <a:lnSpc>
                <a:spcPct val="100000"/>
              </a:lnSpc>
              <a:defRPr/>
            </a:pPr>
            <a:r>
              <a:rPr lang="en-US" dirty="0"/>
              <a:t>	</a:t>
            </a:r>
            <a:endParaRPr lang="en-US" dirty="0">
              <a:solidFill>
                <a:schemeClr val="tx1"/>
              </a:solidFill>
              <a:latin typeface="+mn-lt"/>
            </a:endParaRPr>
          </a:p>
          <a:p>
            <a:pPr marL="719137" lvl="1" indent="-381000" eaLnBrk="1" hangingPunct="1">
              <a:lnSpc>
                <a:spcPct val="100000"/>
              </a:lnSpc>
              <a:defRPr/>
            </a:pPr>
            <a:r>
              <a:rPr lang="en-US" dirty="0"/>
              <a:t>	</a:t>
            </a:r>
          </a:p>
          <a:p>
            <a:pPr marL="381000" indent="-381000" eaLnBrk="1" hangingPunct="1">
              <a:lnSpc>
                <a:spcPct val="100000"/>
              </a:lnSpc>
              <a:defRPr/>
            </a:pPr>
            <a:endParaRPr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81000" indent="-381000" eaLnBrk="1" hangingPunct="1">
              <a:lnSpc>
                <a:spcPct val="75000"/>
              </a:lnSpc>
              <a:defRPr/>
            </a:pPr>
            <a:endParaRPr lang="en-US" dirty="0">
              <a:ea typeface="+mn-ea"/>
              <a:cs typeface="+mn-cs"/>
            </a:endParaRPr>
          </a:p>
          <a:p>
            <a:pPr marL="719137" lvl="1" indent="-381000" eaLnBrk="1" hangingPunct="1">
              <a:lnSpc>
                <a:spcPct val="75000"/>
              </a:lnSpc>
              <a:defRPr/>
            </a:pPr>
            <a:endParaRPr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94210" name="Picture 2"/>
          <p:cNvPicPr>
            <a:picLocks noChangeAspect="1" noChangeArrowheads="1"/>
          </p:cNvPicPr>
          <p:nvPr/>
        </p:nvPicPr>
        <p:blipFill>
          <a:blip r:embed="rId3" cstate="print"/>
          <a:srcRect l="52562" t="46615" r="17329" b="39323"/>
          <a:stretch>
            <a:fillRect/>
          </a:stretch>
        </p:blipFill>
        <p:spPr bwMode="auto">
          <a:xfrm>
            <a:off x="277348" y="4924424"/>
            <a:ext cx="7363481" cy="1933576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/>
            <a:tailEnd/>
          </a:ln>
        </p:spPr>
      </p:pic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492" y="1982193"/>
            <a:ext cx="5747233" cy="2164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Elbow Connector 2"/>
          <p:cNvCxnSpPr/>
          <p:nvPr/>
        </p:nvCxnSpPr>
        <p:spPr bwMode="auto">
          <a:xfrm rot="16200000" flipV="1">
            <a:off x="4970166" y="3818486"/>
            <a:ext cx="1276350" cy="1143000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" name="Tekstfelt 1">
            <a:extLst>
              <a:ext uri="{FF2B5EF4-FFF2-40B4-BE49-F238E27FC236}">
                <a16:creationId xmlns:a16="http://schemas.microsoft.com/office/drawing/2014/main" id="{0E5D05FB-2C13-4904-8B4E-16DE13F1BD2B}"/>
              </a:ext>
            </a:extLst>
          </p:cNvPr>
          <p:cNvSpPr txBox="1"/>
          <p:nvPr/>
        </p:nvSpPr>
        <p:spPr>
          <a:xfrm rot="18601691">
            <a:off x="6473246" y="3481441"/>
            <a:ext cx="3034037" cy="424732"/>
          </a:xfrm>
          <a:prstGeom prst="rect">
            <a:avLst/>
          </a:prstGeom>
          <a:noFill/>
          <a:ln>
            <a:solidFill>
              <a:srgbClr val="F917D9"/>
            </a:solidFill>
          </a:ln>
        </p:spPr>
        <p:txBody>
          <a:bodyPr wrap="none" rtlCol="0">
            <a:spAutoFit/>
          </a:bodyPr>
          <a:lstStyle/>
          <a:p>
            <a:r>
              <a:rPr lang="da-DK">
                <a:solidFill>
                  <a:srgbClr val="FF3399"/>
                </a:solidFill>
              </a:rPr>
              <a:t>MEGET vigtig info </a:t>
            </a:r>
            <a:r>
              <a:rPr lang="da-DK">
                <a:solidFill>
                  <a:srgbClr val="FF3399"/>
                </a:solidFill>
                <a:sym typeface="Wingdings" panose="05000000000000000000" pitchFamily="2" charset="2"/>
              </a:rPr>
              <a:t></a:t>
            </a:r>
            <a:endParaRPr lang="da-DK">
              <a:solidFill>
                <a:srgbClr val="FF3399"/>
              </a:solidFill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82" name="Picture 2"/>
          <p:cNvPicPr>
            <a:picLocks noChangeAspect="1" noChangeArrowheads="1"/>
          </p:cNvPicPr>
          <p:nvPr/>
        </p:nvPicPr>
        <p:blipFill>
          <a:blip r:embed="rId3" cstate="print"/>
          <a:srcRect l="53733" t="33073" r="15813" b="44531"/>
          <a:stretch>
            <a:fillRect/>
          </a:stretch>
        </p:blipFill>
        <p:spPr bwMode="auto">
          <a:xfrm>
            <a:off x="1466848" y="1460310"/>
            <a:ext cx="6868897" cy="2840025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/>
            <a:tailEnd/>
          </a:ln>
        </p:spPr>
      </p:pic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371475" y="420688"/>
            <a:ext cx="8145463" cy="480064"/>
          </a:xfrm>
        </p:spPr>
        <p:txBody>
          <a:bodyPr/>
          <a:lstStyle/>
          <a:p>
            <a:pPr eaLnBrk="1" hangingPunct="1">
              <a:defRPr/>
            </a:pPr>
            <a:br>
              <a:rPr lang="en-US" sz="2800" dirty="0"/>
            </a:br>
            <a:r>
              <a:rPr lang="en-US" sz="2800" dirty="0"/>
              <a:t>OSPF Hello and Dead Intervals</a:t>
            </a:r>
            <a:endParaRPr lang="en-US" sz="2800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7171" name="Rectangle 6"/>
          <p:cNvSpPr>
            <a:spLocks noGrp="1" noChangeArrowheads="1"/>
          </p:cNvSpPr>
          <p:nvPr>
            <p:ph idx="1"/>
          </p:nvPr>
        </p:nvSpPr>
        <p:spPr>
          <a:xfrm>
            <a:off x="327546" y="977208"/>
            <a:ext cx="8366078" cy="919832"/>
          </a:xfrm>
        </p:spPr>
        <p:txBody>
          <a:bodyPr/>
          <a:lstStyle/>
          <a:p>
            <a:pPr marL="0" indent="0" eaLnBrk="1" hangingPunct="1">
              <a:lnSpc>
                <a:spcPct val="100000"/>
              </a:lnSpc>
              <a:buNone/>
              <a:defRPr/>
            </a:pPr>
            <a:r>
              <a:rPr lang="en-US" sz="2000" dirty="0">
                <a:solidFill>
                  <a:schemeClr val="tx1"/>
                </a:solidFill>
              </a:rPr>
              <a:t>OSPF Hello and Dead </a:t>
            </a:r>
            <a:r>
              <a:rPr lang="en-US" sz="2000" dirty="0">
                <a:solidFill>
                  <a:srgbClr val="C00000"/>
                </a:solidFill>
              </a:rPr>
              <a:t>intervals must match</a:t>
            </a:r>
            <a:r>
              <a:rPr lang="en-US" sz="2000" dirty="0">
                <a:solidFill>
                  <a:schemeClr val="tx1"/>
                </a:solidFill>
              </a:rPr>
              <a:t>, or a neighbor adjacency will not occur.</a:t>
            </a:r>
            <a:r>
              <a:rPr lang="en-US" sz="2000" dirty="0"/>
              <a:t>	</a:t>
            </a:r>
            <a:endParaRPr lang="en-US" sz="2000" dirty="0">
              <a:solidFill>
                <a:schemeClr val="tx1"/>
              </a:solidFill>
            </a:endParaRPr>
          </a:p>
          <a:p>
            <a:pPr marL="719137" lvl="1" indent="-381000" eaLnBrk="1" hangingPunct="1">
              <a:lnSpc>
                <a:spcPct val="100000"/>
              </a:lnSpc>
              <a:defRPr/>
            </a:pPr>
            <a:r>
              <a:rPr lang="en-US" dirty="0"/>
              <a:t>	</a:t>
            </a:r>
          </a:p>
          <a:p>
            <a:pPr marL="381000" indent="-381000" eaLnBrk="1" hangingPunct="1">
              <a:lnSpc>
                <a:spcPct val="100000"/>
              </a:lnSpc>
              <a:defRPr/>
            </a:pPr>
            <a:endParaRPr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81000" indent="-381000" eaLnBrk="1" hangingPunct="1">
              <a:lnSpc>
                <a:spcPct val="75000"/>
              </a:lnSpc>
              <a:defRPr/>
            </a:pPr>
            <a:endParaRPr lang="en-US" dirty="0">
              <a:ea typeface="+mn-ea"/>
              <a:cs typeface="+mn-cs"/>
            </a:endParaRPr>
          </a:p>
          <a:p>
            <a:pPr marL="719137" lvl="1" indent="-381000" eaLnBrk="1" hangingPunct="1">
              <a:lnSpc>
                <a:spcPct val="75000"/>
              </a:lnSpc>
              <a:defRPr/>
            </a:pPr>
            <a:endParaRPr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97283" name="Picture 3"/>
          <p:cNvPicPr>
            <a:picLocks noChangeAspect="1" noChangeArrowheads="1"/>
          </p:cNvPicPr>
          <p:nvPr/>
        </p:nvPicPr>
        <p:blipFill>
          <a:blip r:embed="rId4" cstate="print"/>
          <a:srcRect l="53660" t="32812" r="15740" b="48177"/>
          <a:stretch>
            <a:fillRect/>
          </a:stretch>
        </p:blipFill>
        <p:spPr bwMode="auto">
          <a:xfrm>
            <a:off x="1466848" y="4489333"/>
            <a:ext cx="6868897" cy="2399184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/>
            <a:tailEnd/>
          </a:ln>
        </p:spPr>
      </p:pic>
    </p:spTree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56865" y="352449"/>
            <a:ext cx="9087135" cy="452769"/>
          </a:xfrm>
        </p:spPr>
        <p:txBody>
          <a:bodyPr/>
          <a:lstStyle/>
          <a:p>
            <a:pPr eaLnBrk="1" hangingPunct="1">
              <a:defRPr/>
            </a:pPr>
            <a:br>
              <a:rPr lang="en-US" sz="2800" dirty="0"/>
            </a:br>
            <a:r>
              <a:rPr lang="en-US" sz="3000" dirty="0"/>
              <a:t>Secure </a:t>
            </a:r>
            <a:r>
              <a:rPr lang="en-US" sz="3000"/>
              <a:t>Routing Updates </a:t>
            </a:r>
            <a:r>
              <a:rPr lang="en-US" sz="2000"/>
              <a:t>= password med i update pakker!</a:t>
            </a:r>
            <a:endParaRPr lang="en-US" sz="2000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7171" name="Rectangle 6"/>
          <p:cNvSpPr>
            <a:spLocks noGrp="1" noChangeArrowheads="1"/>
          </p:cNvSpPr>
          <p:nvPr>
            <p:ph idx="1"/>
          </p:nvPr>
        </p:nvSpPr>
        <p:spPr>
          <a:xfrm>
            <a:off x="-140102" y="847015"/>
            <a:ext cx="9144000" cy="3091501"/>
          </a:xfrm>
        </p:spPr>
        <p:txBody>
          <a:bodyPr/>
          <a:lstStyle/>
          <a:p>
            <a:pPr marL="381000" indent="-381000" eaLnBrk="1" hangingPunct="1">
              <a:lnSpc>
                <a:spcPct val="100000"/>
              </a:lnSpc>
              <a:defRPr/>
            </a:pPr>
            <a:r>
              <a:rPr lang="en-US" sz="2000" dirty="0">
                <a:solidFill>
                  <a:schemeClr val="tx1"/>
                </a:solidFill>
              </a:rPr>
              <a:t>When </a:t>
            </a:r>
            <a:r>
              <a:rPr lang="en-US" sz="2000" dirty="0">
                <a:solidFill>
                  <a:srgbClr val="C00000"/>
                </a:solidFill>
              </a:rPr>
              <a:t>neighbor authentication </a:t>
            </a:r>
            <a:r>
              <a:rPr lang="en-US" sz="2000" dirty="0">
                <a:solidFill>
                  <a:schemeClr val="tx1"/>
                </a:solidFill>
              </a:rPr>
              <a:t>has been configured on a router, the router authenticates the source of each routing update packet that it receives.</a:t>
            </a:r>
          </a:p>
          <a:p>
            <a:pPr marL="381000" indent="-381000" eaLnBrk="1" hangingPunct="1">
              <a:lnSpc>
                <a:spcPct val="100000"/>
              </a:lnSpc>
              <a:defRPr/>
            </a:pPr>
            <a:r>
              <a:rPr lang="en-US" sz="2000" dirty="0"/>
              <a:t>OSPF supports three types of authentication:</a:t>
            </a:r>
          </a:p>
          <a:p>
            <a:pPr marL="681037" lvl="1" indent="-342900" eaLnBrk="1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solidFill>
                  <a:schemeClr val="tx1"/>
                </a:solidFill>
              </a:rPr>
              <a:t>Null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/>
              <a:t>–</a:t>
            </a:r>
            <a:r>
              <a:rPr lang="en-US" dirty="0">
                <a:solidFill>
                  <a:schemeClr val="tx1"/>
                </a:solidFill>
              </a:rPr>
              <a:t> no authentication.</a:t>
            </a:r>
          </a:p>
          <a:p>
            <a:pPr marL="681037" lvl="1" indent="-342900" eaLnBrk="1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solidFill>
                  <a:schemeClr val="tx1"/>
                </a:solidFill>
              </a:rPr>
              <a:t>Simple password authentication </a:t>
            </a:r>
            <a:r>
              <a:rPr lang="en-US" dirty="0"/>
              <a:t> –</a:t>
            </a:r>
            <a:r>
              <a:rPr lang="en-US" dirty="0">
                <a:solidFill>
                  <a:schemeClr val="tx1"/>
                </a:solidFill>
              </a:rPr>
              <a:t> the password in the update is </a:t>
            </a:r>
            <a:r>
              <a:rPr lang="en-US" dirty="0">
                <a:solidFill>
                  <a:srgbClr val="7030A0"/>
                </a:solidFill>
              </a:rPr>
              <a:t>sent in plaintext</a:t>
            </a:r>
            <a:r>
              <a:rPr lang="en-US" dirty="0">
                <a:solidFill>
                  <a:schemeClr val="tx1"/>
                </a:solidFill>
              </a:rPr>
              <a:t> over the network </a:t>
            </a:r>
            <a:r>
              <a:rPr lang="en-US" dirty="0">
                <a:solidFill>
                  <a:srgbClr val="0070C0"/>
                </a:solidFill>
              </a:rPr>
              <a:t>(outdated method).</a:t>
            </a:r>
          </a:p>
          <a:p>
            <a:pPr marL="719137" lvl="1" indent="-381000" eaLnBrk="1" hangingPunct="1">
              <a:lnSpc>
                <a:spcPct val="100000"/>
              </a:lnSpc>
              <a:defRPr/>
            </a:pPr>
            <a:r>
              <a:rPr lang="en-US" dirty="0"/>
              <a:t>	</a:t>
            </a:r>
            <a:endParaRPr lang="en-US" dirty="0">
              <a:solidFill>
                <a:schemeClr val="tx1"/>
              </a:solidFill>
            </a:endParaRPr>
          </a:p>
          <a:p>
            <a:pPr marL="719137" lvl="1" indent="-381000" eaLnBrk="1" hangingPunct="1">
              <a:lnSpc>
                <a:spcPct val="100000"/>
              </a:lnSpc>
              <a:defRPr/>
            </a:pPr>
            <a:r>
              <a:rPr lang="en-US" dirty="0"/>
              <a:t>	</a:t>
            </a:r>
            <a:endParaRPr lang="en-US" dirty="0">
              <a:solidFill>
                <a:schemeClr val="tx1"/>
              </a:solidFill>
              <a:latin typeface="+mn-lt"/>
            </a:endParaRPr>
          </a:p>
          <a:p>
            <a:pPr marL="719137" lvl="1" indent="-381000" eaLnBrk="1" hangingPunct="1">
              <a:lnSpc>
                <a:spcPct val="100000"/>
              </a:lnSpc>
              <a:defRPr/>
            </a:pP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5206" y="3124032"/>
            <a:ext cx="3858692" cy="3733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6"/>
          <p:cNvSpPr txBox="1">
            <a:spLocks noChangeArrowheads="1"/>
          </p:cNvSpPr>
          <p:nvPr/>
        </p:nvSpPr>
        <p:spPr bwMode="auto">
          <a:xfrm>
            <a:off x="56865" y="3745231"/>
            <a:ext cx="4910920" cy="309150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2pPr>
            <a:lvl3pPr marL="9144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3pPr>
            <a:lvl4pPr marL="1254125" indent="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5pPr>
            <a:lvl6pPr marL="20621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681037" lvl="1" indent="-342900" eaLnBrk="1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b="1" kern="0" dirty="0"/>
              <a:t>MD5 authentication  </a:t>
            </a:r>
            <a:r>
              <a:rPr lang="en-US" kern="0" dirty="0"/>
              <a:t> – Most secure and recommended method of authentication. Password is </a:t>
            </a:r>
            <a:r>
              <a:rPr lang="en-US" kern="0" dirty="0">
                <a:solidFill>
                  <a:srgbClr val="7030A0"/>
                </a:solidFill>
              </a:rPr>
              <a:t>calculated using the MD5 </a:t>
            </a:r>
            <a:r>
              <a:rPr lang="en-US" kern="0" dirty="0"/>
              <a:t>algorithm.</a:t>
            </a:r>
          </a:p>
          <a:p>
            <a:pPr marL="719137" lvl="1" indent="-381000" eaLnBrk="1" hangingPunct="1">
              <a:lnSpc>
                <a:spcPct val="100000"/>
              </a:lnSpc>
              <a:defRPr/>
            </a:pPr>
            <a:r>
              <a:rPr lang="en-US" kern="0" dirty="0"/>
              <a:t>	</a:t>
            </a:r>
          </a:p>
          <a:p>
            <a:pPr marL="719137" lvl="1" indent="-381000" eaLnBrk="1" hangingPunct="1">
              <a:lnSpc>
                <a:spcPct val="100000"/>
              </a:lnSpc>
              <a:defRPr/>
            </a:pPr>
            <a:r>
              <a:rPr lang="en-US" kern="0" dirty="0"/>
              <a:t>	</a:t>
            </a:r>
          </a:p>
          <a:p>
            <a:pPr marL="719137" lvl="1" indent="-381000" eaLnBrk="1" hangingPunct="1">
              <a:lnSpc>
                <a:spcPct val="100000"/>
              </a:lnSpc>
              <a:defRPr/>
            </a:pPr>
            <a:endParaRPr lang="en-US" kern="0" dirty="0"/>
          </a:p>
        </p:txBody>
      </p:sp>
    </p:spTree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9862" y="539442"/>
            <a:ext cx="5064883" cy="4071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65784" y="-85440"/>
            <a:ext cx="8145463" cy="838200"/>
          </a:xfrm>
        </p:spPr>
        <p:txBody>
          <a:bodyPr/>
          <a:lstStyle/>
          <a:p>
            <a:pPr eaLnBrk="1" hangingPunct="1">
              <a:defRPr/>
            </a:pPr>
            <a:br>
              <a:rPr lang="en-US" sz="2800" dirty="0"/>
            </a:br>
            <a:r>
              <a:rPr lang="en-US" sz="2800" dirty="0"/>
              <a:t>Configuring OSPF MD5 Authentication</a:t>
            </a:r>
            <a:endParaRPr lang="en-US" sz="2800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7171" name="Rectangle 6"/>
          <p:cNvSpPr>
            <a:spLocks noGrp="1" noChangeArrowheads="1"/>
          </p:cNvSpPr>
          <p:nvPr>
            <p:ph idx="1"/>
          </p:nvPr>
        </p:nvSpPr>
        <p:spPr>
          <a:xfrm>
            <a:off x="131404" y="753582"/>
            <a:ext cx="4189863" cy="2130474"/>
          </a:xfrm>
        </p:spPr>
        <p:txBody>
          <a:bodyPr/>
          <a:lstStyle/>
          <a:p>
            <a:pPr marL="342900" indent="-342900"/>
            <a:r>
              <a:rPr lang="en-US" sz="2000" dirty="0"/>
              <a:t>    To enable OSPF MD5        	authentication </a:t>
            </a:r>
            <a:r>
              <a:rPr lang="en-US" sz="2000" dirty="0">
                <a:solidFill>
                  <a:srgbClr val="7030A0"/>
                </a:solidFill>
                <a:highlight>
                  <a:srgbClr val="FFFF00"/>
                </a:highlight>
              </a:rPr>
              <a:t>globally </a:t>
            </a:r>
            <a:r>
              <a:rPr lang="en-US" sz="2000" dirty="0">
                <a:solidFill>
                  <a:srgbClr val="7030A0"/>
                </a:solidFill>
              </a:rPr>
              <a:t>   </a:t>
            </a:r>
            <a:r>
              <a:rPr lang="en-US" sz="3000" dirty="0">
                <a:solidFill>
                  <a:srgbClr val="7030A0"/>
                </a:solidFill>
                <a:cs typeface="Arial"/>
              </a:rPr>
              <a:t>→</a:t>
            </a:r>
          </a:p>
          <a:p>
            <a:pPr marL="0" indent="0" eaLnBrk="1" hangingPunct="1">
              <a:lnSpc>
                <a:spcPct val="100000"/>
              </a:lnSpc>
              <a:buNone/>
              <a:defRPr/>
            </a:pPr>
            <a:r>
              <a:rPr lang="en-US" sz="2000" dirty="0">
                <a:solidFill>
                  <a:schemeClr val="tx1"/>
                </a:solidFill>
              </a:rPr>
              <a:t>MD5 authentication can be enabled </a:t>
            </a:r>
            <a:r>
              <a:rPr lang="en-US" sz="2000" dirty="0">
                <a:solidFill>
                  <a:srgbClr val="C00000"/>
                </a:solidFill>
              </a:rPr>
              <a:t>globally for all interfaces or on a per-interface</a:t>
            </a:r>
            <a:r>
              <a:rPr lang="en-US" sz="2000" dirty="0">
                <a:solidFill>
                  <a:schemeClr val="tx1"/>
                </a:solidFill>
              </a:rPr>
              <a:t> basis (</a:t>
            </a:r>
            <a:r>
              <a:rPr lang="en-US" sz="2000" dirty="0" err="1"/>
              <a:t>næsten</a:t>
            </a:r>
            <a:r>
              <a:rPr lang="en-US" sz="2000" dirty="0"/>
              <a:t> det </a:t>
            </a:r>
            <a:r>
              <a:rPr lang="en-US" sz="2000" dirty="0" err="1"/>
              <a:t>samme</a:t>
            </a:r>
            <a:r>
              <a:rPr lang="en-US" sz="2000" dirty="0"/>
              <a:t> der </a:t>
            </a:r>
            <a:r>
              <a:rPr lang="en-US" sz="2000" dirty="0" err="1"/>
              <a:t>skal</a:t>
            </a:r>
            <a:r>
              <a:rPr lang="en-US" sz="2000" dirty="0"/>
              <a:t> </a:t>
            </a:r>
            <a:r>
              <a:rPr lang="en-US" sz="2000" dirty="0" err="1"/>
              <a:t>gøres</a:t>
            </a:r>
            <a:r>
              <a:rPr lang="en-US" sz="2000" dirty="0"/>
              <a:t>!)</a:t>
            </a:r>
          </a:p>
          <a:p>
            <a:pPr marL="381000" indent="-381000" eaLnBrk="1" hangingPunct="1">
              <a:lnSpc>
                <a:spcPct val="100000"/>
              </a:lnSpc>
              <a:defRPr/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5" name="Rectangle 6"/>
          <p:cNvSpPr txBox="1">
            <a:spLocks noChangeArrowheads="1"/>
          </p:cNvSpPr>
          <p:nvPr/>
        </p:nvSpPr>
        <p:spPr bwMode="auto">
          <a:xfrm>
            <a:off x="4572000" y="4664463"/>
            <a:ext cx="4189863" cy="97112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2pPr>
            <a:lvl3pPr marL="9144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3pPr>
            <a:lvl4pPr marL="1254125" indent="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5pPr>
            <a:lvl6pPr marL="20621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lnSpc>
                <a:spcPct val="100000"/>
              </a:lnSpc>
              <a:buNone/>
              <a:defRPr/>
            </a:pPr>
            <a:r>
              <a:rPr lang="en-US" sz="3000" kern="0" dirty="0">
                <a:solidFill>
                  <a:srgbClr val="7030A0"/>
                </a:solidFill>
                <a:latin typeface="Arial"/>
                <a:cs typeface="Arial"/>
              </a:rPr>
              <a:t>←</a:t>
            </a:r>
            <a:r>
              <a:rPr lang="en-US" sz="3000" kern="0" dirty="0">
                <a:latin typeface="Arial"/>
                <a:cs typeface="Arial"/>
              </a:rPr>
              <a:t> </a:t>
            </a:r>
            <a:r>
              <a:rPr lang="en-US" sz="2000" kern="0" dirty="0"/>
              <a:t>To enable MD5 authentication    	on a </a:t>
            </a:r>
            <a:r>
              <a:rPr lang="en-US" sz="2000" kern="0" dirty="0">
                <a:solidFill>
                  <a:srgbClr val="7030A0"/>
                </a:solidFill>
                <a:highlight>
                  <a:srgbClr val="FFFF00"/>
                </a:highlight>
              </a:rPr>
              <a:t>per-interface</a:t>
            </a:r>
            <a:r>
              <a:rPr lang="en-US" sz="2000" kern="0" dirty="0"/>
              <a:t> basis</a:t>
            </a:r>
            <a:endParaRPr lang="en-US" sz="2200" kern="0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6082" y="3050277"/>
            <a:ext cx="4784837" cy="3807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Lige pilforbindelse 2">
            <a:extLst>
              <a:ext uri="{FF2B5EF4-FFF2-40B4-BE49-F238E27FC236}">
                <a16:creationId xmlns:a16="http://schemas.microsoft.com/office/drawing/2014/main" id="{71F3FED4-CE80-40D1-BAA0-52DDA025636D}"/>
              </a:ext>
            </a:extLst>
          </p:cNvPr>
          <p:cNvCxnSpPr>
            <a:cxnSpLocks/>
          </p:cNvCxnSpPr>
          <p:nvPr/>
        </p:nvCxnSpPr>
        <p:spPr bwMode="auto">
          <a:xfrm>
            <a:off x="3822060" y="1419268"/>
            <a:ext cx="1572243" cy="1464788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7030A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357827" y="368656"/>
            <a:ext cx="8145463" cy="491153"/>
          </a:xfrm>
        </p:spPr>
        <p:txBody>
          <a:bodyPr/>
          <a:lstStyle/>
          <a:p>
            <a:pPr eaLnBrk="1" hangingPunct="1">
              <a:defRPr/>
            </a:pPr>
            <a:br>
              <a:rPr lang="en-US" sz="2800" dirty="0"/>
            </a:br>
            <a:r>
              <a:rPr lang="en-US" sz="2800" dirty="0" err="1"/>
              <a:t>OSPF</a:t>
            </a:r>
            <a:r>
              <a:rPr lang="en-US" sz="2800" dirty="0"/>
              <a:t> </a:t>
            </a:r>
            <a:r>
              <a:rPr lang="en-US" sz="2800" dirty="0">
                <a:cs typeface="Arial" charset="0"/>
              </a:rPr>
              <a:t>Troubleshooting Commands</a:t>
            </a:r>
            <a:endParaRPr lang="en-US" sz="2800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7171" name="Rectangle 6"/>
          <p:cNvSpPr>
            <a:spLocks noGrp="1" noChangeArrowheads="1"/>
          </p:cNvSpPr>
          <p:nvPr>
            <p:ph idx="1"/>
          </p:nvPr>
        </p:nvSpPr>
        <p:spPr>
          <a:xfrm>
            <a:off x="0" y="1311076"/>
            <a:ext cx="8975035" cy="4803557"/>
          </a:xfrm>
        </p:spPr>
        <p:txBody>
          <a:bodyPr/>
          <a:lstStyle/>
          <a:p>
            <a:r>
              <a:rPr lang="en-US" sz="23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</a:t>
            </a:r>
            <a:r>
              <a:rPr lang="en-US" sz="23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23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protocols</a:t>
            </a:r>
            <a:r>
              <a:rPr lang="en-US" sz="2300" dirty="0">
                <a:solidFill>
                  <a:srgbClr val="00B050"/>
                </a:solidFill>
              </a:rPr>
              <a:t> </a:t>
            </a:r>
            <a:r>
              <a:rPr lang="en-US" sz="2300" dirty="0"/>
              <a:t>– </a:t>
            </a:r>
            <a:r>
              <a:rPr lang="en-US" sz="2300" dirty="0">
                <a:solidFill>
                  <a:schemeClr val="tx1"/>
                </a:solidFill>
              </a:rPr>
              <a:t>Verifies vital OSPF configuration information</a:t>
            </a:r>
            <a:r>
              <a:rPr lang="en-US" sz="2300" dirty="0"/>
              <a:t>.</a:t>
            </a:r>
            <a:endParaRPr lang="en-US" sz="2300" b="1" dirty="0">
              <a:solidFill>
                <a:schemeClr val="tx1"/>
              </a:solidFill>
            </a:endParaRPr>
          </a:p>
          <a:p>
            <a:r>
              <a:rPr lang="en-US" sz="23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 ospf neighbor</a:t>
            </a:r>
            <a:r>
              <a:rPr lang="en-US" sz="2300" dirty="0">
                <a:solidFill>
                  <a:schemeClr val="tx1"/>
                </a:solidFill>
              </a:rPr>
              <a:t> </a:t>
            </a:r>
            <a:r>
              <a:rPr lang="en-US" sz="2300" dirty="0"/>
              <a:t> –</a:t>
            </a:r>
            <a:r>
              <a:rPr lang="en-US" sz="2300" dirty="0">
                <a:solidFill>
                  <a:schemeClr val="tx1"/>
                </a:solidFill>
              </a:rPr>
              <a:t> Verifies that the router has formed an adjacency with its neighboring routers. </a:t>
            </a:r>
          </a:p>
          <a:p>
            <a:r>
              <a:rPr lang="en-US" sz="23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 ospf interface</a:t>
            </a:r>
            <a:r>
              <a:rPr lang="en-US" sz="2300" dirty="0">
                <a:solidFill>
                  <a:schemeClr val="tx1"/>
                </a:solidFill>
              </a:rPr>
              <a:t> </a:t>
            </a:r>
            <a:r>
              <a:rPr lang="en-US" sz="2300" dirty="0"/>
              <a:t> –</a:t>
            </a:r>
            <a:r>
              <a:rPr lang="en-US" sz="2300" dirty="0">
                <a:solidFill>
                  <a:schemeClr val="tx1"/>
                </a:solidFill>
              </a:rPr>
              <a:t> Displays the OSPF parameters configured on an interface, such as the OSPF process ID.</a:t>
            </a:r>
          </a:p>
          <a:p>
            <a:r>
              <a:rPr lang="en-US" sz="23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 ospf</a:t>
            </a:r>
            <a:r>
              <a:rPr lang="en-US" sz="2300" dirty="0">
                <a:solidFill>
                  <a:schemeClr val="tx1"/>
                </a:solidFill>
              </a:rPr>
              <a:t> </a:t>
            </a:r>
            <a:r>
              <a:rPr lang="en-US" sz="2300" dirty="0"/>
              <a:t> –</a:t>
            </a:r>
            <a:r>
              <a:rPr lang="en-US" sz="2300" dirty="0">
                <a:solidFill>
                  <a:schemeClr val="tx1"/>
                </a:solidFill>
              </a:rPr>
              <a:t> Examines the OSPF process ID and router ID. </a:t>
            </a:r>
          </a:p>
          <a:p>
            <a:r>
              <a:rPr lang="en-US" sz="23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 route </a:t>
            </a:r>
            <a:r>
              <a:rPr lang="en-US" sz="23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ospf</a:t>
            </a:r>
            <a:r>
              <a:rPr lang="en-US" sz="2300" dirty="0">
                <a:solidFill>
                  <a:srgbClr val="00B050"/>
                </a:solidFill>
              </a:rPr>
              <a:t> </a:t>
            </a:r>
            <a:r>
              <a:rPr lang="en-US" sz="2300" dirty="0"/>
              <a:t>–</a:t>
            </a:r>
            <a:r>
              <a:rPr lang="en-US" sz="2300" dirty="0">
                <a:solidFill>
                  <a:schemeClr val="tx1"/>
                </a:solidFill>
              </a:rPr>
              <a:t> Displays only the OSPF learned routes in the routing table.</a:t>
            </a:r>
          </a:p>
          <a:p>
            <a:r>
              <a:rPr lang="en-US" sz="23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clear ip </a:t>
            </a:r>
            <a:r>
              <a:rPr lang="en-US" sz="23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ospf</a:t>
            </a:r>
            <a:r>
              <a:rPr lang="en-US" sz="23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[process-id] process </a:t>
            </a:r>
            <a:r>
              <a:rPr lang="en-US" sz="2300" dirty="0"/>
              <a:t>–</a:t>
            </a:r>
            <a:r>
              <a:rPr lang="en-US" sz="2300" dirty="0">
                <a:solidFill>
                  <a:schemeClr val="tx1"/>
                </a:solidFill>
              </a:rPr>
              <a:t> Resets the OSPFv2 neighbor adjacencies.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D224369D-7632-487C-AEB1-B2C204A0F3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2248" y="279729"/>
            <a:ext cx="8376745" cy="5780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71377" rIns="0" bIns="271377" numCol="1" anchor="ctr" anchorCtr="0" compatLnSpc="1">
            <a:prstTxWarp prst="textNoShape">
              <a:avLst/>
            </a:prstTxWarp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2000" b="1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hlinkClick r:id="rId3"/>
              </a:rPr>
              <a:t>Routing - fully specified route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altLang="da-DK" sz="2000" b="1" i="0" u="none" strike="noStrike" cap="none" normalizeH="0" baseline="0" noProof="1">
              <a:ln>
                <a:noFill/>
              </a:ln>
              <a:solidFill>
                <a:schemeClr val="tx1"/>
              </a:solidFill>
              <a:effectLst/>
              <a:latin typeface="+mn-lt"/>
              <a:hlinkClick r:id="rId3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2000" b="0" i="0" u="none" strike="noStrike" cap="none" normalizeH="0" baseline="0" noProof="1">
                <a:ln>
                  <a:noFill/>
                </a:ln>
                <a:solidFill>
                  <a:srgbClr val="374151"/>
                </a:solidFill>
                <a:effectLst/>
                <a:latin typeface="+mn-lt"/>
              </a:rPr>
              <a:t>A fully specified route refers to a static route entry in the </a:t>
            </a:r>
            <a:r>
              <a:rPr kumimoji="0" lang="da-DK" altLang="da-DK" sz="2000" b="0" i="0" u="none" strike="noStrike" cap="none" normalizeH="0" baseline="0" noProof="1">
                <a:ln>
                  <a:noFill/>
                </a:ln>
                <a:solidFill>
                  <a:srgbClr val="374151"/>
                </a:solidFill>
                <a:effectLst/>
                <a:latin typeface="+mn-lt"/>
                <a:hlinkClick r:id="rId4"/>
              </a:rPr>
              <a:t>routing table</a:t>
            </a:r>
            <a:r>
              <a:rPr kumimoji="0" lang="da-DK" altLang="da-DK" sz="2000" b="0" i="0" u="none" strike="noStrike" cap="none" normalizeH="0" baseline="0" noProof="1">
                <a:ln>
                  <a:noFill/>
                </a:ln>
                <a:solidFill>
                  <a:srgbClr val="374151"/>
                </a:solidFill>
                <a:effectLst/>
                <a:latin typeface="+mn-lt"/>
              </a:rPr>
              <a:t> in which both the next-hop IP address and the exit interface are specified.</a:t>
            </a:r>
            <a:endParaRPr kumimoji="0" lang="da-DK" altLang="da-DK" sz="2000" b="0" i="0" u="none" strike="noStrike" cap="none" normalizeH="0" baseline="0" noProof="1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da-DK" altLang="da-DK" sz="2000" b="1" i="0" u="none" strike="noStrike" cap="none" normalizeH="0" baseline="0" noProof="1">
              <a:ln>
                <a:noFill/>
              </a:ln>
              <a:solidFill>
                <a:srgbClr val="37415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da-DK" altLang="da-DK" sz="2000" b="1" i="0" u="none" strike="noStrike" cap="none" normalizeH="0" baseline="0" noProof="1">
                <a:ln>
                  <a:noFill/>
                </a:ln>
                <a:solidFill>
                  <a:srgbClr val="374151"/>
                </a:solidFill>
                <a:effectLst/>
                <a:latin typeface="+mn-lt"/>
              </a:rPr>
              <a:t>Next-Hop IP Address Only</a:t>
            </a:r>
            <a:r>
              <a:rPr kumimoji="0" lang="da-DK" altLang="da-DK" sz="2000" b="0" i="0" u="none" strike="noStrike" cap="none" normalizeH="0" baseline="0" noProof="1">
                <a:ln>
                  <a:noFill/>
                </a:ln>
                <a:solidFill>
                  <a:srgbClr val="374151"/>
                </a:solidFill>
                <a:effectLst/>
                <a:latin typeface="+mn-lt"/>
              </a:rPr>
              <a:t>:</a:t>
            </a:r>
            <a:endParaRPr lang="da-DK" altLang="da-DK" sz="2000" noProof="1">
              <a:solidFill>
                <a:srgbClr val="374151"/>
              </a:solidFill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da-DK" altLang="da-DK" sz="2000" b="0" i="0" u="none" strike="noStrike" cap="none" normalizeH="0" baseline="0" noProof="1">
                <a:ln>
                  <a:noFill/>
                </a:ln>
                <a:solidFill>
                  <a:srgbClr val="374151"/>
                </a:solidFill>
                <a:effectLst/>
                <a:latin typeface="+mn-lt"/>
              </a:rPr>
              <a:t>Here, you specify only the IP address of the next-hop router or device. No exit interface is indicated. The exit interface must be determined using </a:t>
            </a:r>
            <a:r>
              <a:rPr kumimoji="0" lang="da-DK" altLang="da-DK" sz="2000" b="0" i="0" u="none" strike="noStrike" cap="none" normalizeH="0" baseline="0" noProof="1">
                <a:ln>
                  <a:noFill/>
                </a:ln>
                <a:solidFill>
                  <a:srgbClr val="F917D9"/>
                </a:solidFill>
                <a:effectLst/>
                <a:latin typeface="+mn-lt"/>
              </a:rPr>
              <a:t>recursive routing.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2000" b="0" i="0" u="none" strike="noStrike" cap="none" normalizeH="0" baseline="0" noProof="1">
                <a:ln>
                  <a:noFill/>
                </a:ln>
                <a:solidFill>
                  <a:srgbClr val="374151"/>
                </a:solidFill>
                <a:effectLst/>
                <a:latin typeface="+mn-lt"/>
              </a:rPr>
              <a:t>	Router(config)# ip route 10.10.10.0 255.255.255.0 192.168.1.1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altLang="da-DK" sz="2000" noProof="1">
              <a:solidFill>
                <a:srgbClr val="374151"/>
              </a:solidFill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altLang="da-DK" sz="2000" b="0" i="0" u="none" strike="noStrike" cap="none" normalizeH="0" baseline="0" noProof="1">
              <a:ln>
                <a:noFill/>
              </a:ln>
              <a:solidFill>
                <a:srgbClr val="37415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altLang="da-DK" sz="2000" b="0" i="0" u="none" strike="noStrike" cap="none" normalizeH="0" baseline="0" noProof="1">
              <a:ln>
                <a:noFill/>
              </a:ln>
              <a:solidFill>
                <a:srgbClr val="37415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da-DK" altLang="da-DK" sz="2000" b="1" i="0" u="none" strike="noStrike" cap="none" normalizeH="0" baseline="0" noProof="1">
                <a:ln>
                  <a:noFill/>
                </a:ln>
                <a:solidFill>
                  <a:srgbClr val="374151"/>
                </a:solidFill>
                <a:effectLst/>
                <a:latin typeface="+mn-lt"/>
              </a:rPr>
              <a:t>Exit Interface Only</a:t>
            </a:r>
            <a:r>
              <a:rPr kumimoji="0" lang="da-DK" altLang="da-DK" sz="2000" b="0" i="0" u="none" strike="noStrike" cap="none" normalizeH="0" baseline="0" noProof="1">
                <a:ln>
                  <a:noFill/>
                </a:ln>
                <a:solidFill>
                  <a:srgbClr val="374151"/>
                </a:solidFill>
                <a:effectLst/>
                <a:latin typeface="+mn-lt"/>
              </a:rPr>
              <a:t>:</a:t>
            </a:r>
            <a:endParaRPr lang="da-DK" altLang="da-DK" sz="2000" noProof="1">
              <a:solidFill>
                <a:srgbClr val="374151"/>
              </a:solidFill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da-DK" altLang="da-DK" sz="2000" b="0" i="0" u="none" strike="noStrike" cap="none" normalizeH="0" baseline="0" noProof="1">
                <a:ln>
                  <a:noFill/>
                </a:ln>
                <a:solidFill>
                  <a:srgbClr val="374151"/>
                </a:solidFill>
                <a:effectLst/>
                <a:latin typeface="+mn-lt"/>
              </a:rPr>
              <a:t>Here, you specify only the exit interface through which the packet should be sent. No next hop IP address is indicated.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a-DK" altLang="da-DK" sz="2000" noProof="1">
                <a:solidFill>
                  <a:srgbClr val="374151"/>
                </a:solidFill>
                <a:latin typeface="+mn-lt"/>
              </a:rPr>
              <a:t>      </a:t>
            </a:r>
            <a:r>
              <a:rPr kumimoji="0" lang="da-DK" altLang="da-DK" sz="2000" b="0" i="0" u="none" strike="noStrike" cap="none" normalizeH="0" baseline="0" noProof="1">
                <a:ln>
                  <a:noFill/>
                </a:ln>
                <a:solidFill>
                  <a:srgbClr val="374151"/>
                </a:solidFill>
                <a:effectLst/>
                <a:latin typeface="+mn-lt"/>
              </a:rPr>
              <a:t>Router(config)# ip route 10.10.10.0 255.255.255.0 GigabitEthernet 0/1</a:t>
            </a:r>
          </a:p>
        </p:txBody>
      </p:sp>
    </p:spTree>
    <p:extLst>
      <p:ext uri="{BB962C8B-B14F-4D97-AF65-F5344CB8AC3E}">
        <p14:creationId xmlns:p14="http://schemas.microsoft.com/office/powerpoint/2010/main" val="19675106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D224369D-7632-487C-AEB1-B2C204A0F3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593" y="308303"/>
            <a:ext cx="9049407" cy="6426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71377" rIns="0" bIns="271377" numCol="1" anchor="ctr" anchorCtr="0" compatLnSpc="1">
            <a:prstTxWarp prst="textNoShape">
              <a:avLst/>
            </a:prstTxWarp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2200" b="1" i="0" u="none" strike="noStrike" cap="none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hlinkClick r:id="rId3"/>
              </a:rPr>
              <a:t>Routing - fully specified route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2000" b="0" i="0" u="none" strike="noStrike" cap="none" normalizeH="0" baseline="0" noProof="1">
                <a:ln>
                  <a:noFill/>
                </a:ln>
                <a:solidFill>
                  <a:srgbClr val="374151"/>
                </a:solidFill>
                <a:effectLst/>
                <a:latin typeface="+mn-lt"/>
              </a:rPr>
              <a:t>A fully specified route refers to a static route entry in the </a:t>
            </a:r>
            <a:r>
              <a:rPr kumimoji="0" lang="da-DK" altLang="da-DK" sz="2000" b="0" i="0" u="none" strike="noStrike" cap="none" normalizeH="0" baseline="0" noProof="1">
                <a:ln>
                  <a:noFill/>
                </a:ln>
                <a:solidFill>
                  <a:srgbClr val="374151"/>
                </a:solidFill>
                <a:effectLst/>
                <a:latin typeface="+mn-lt"/>
                <a:hlinkClick r:id="rId4"/>
              </a:rPr>
              <a:t>routing table</a:t>
            </a:r>
            <a:r>
              <a:rPr kumimoji="0" lang="da-DK" altLang="da-DK" sz="2000" b="0" i="0" u="none" strike="noStrike" cap="none" normalizeH="0" baseline="0" noProof="1">
                <a:ln>
                  <a:noFill/>
                </a:ln>
                <a:solidFill>
                  <a:srgbClr val="374151"/>
                </a:solidFill>
                <a:effectLst/>
                <a:latin typeface="+mn-lt"/>
              </a:rPr>
              <a:t> in which both the next-hop IP address and the exit interface are specified.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altLang="da-DK" sz="2000" noProof="1">
              <a:solidFill>
                <a:srgbClr val="374151"/>
              </a:solidFill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altLang="da-DK" sz="2000" b="0" i="0" u="none" strike="noStrike" cap="none" normalizeH="0" baseline="0" noProof="1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da-DK" altLang="da-DK" sz="2000" b="1" i="0" u="none" strike="noStrike" cap="none" normalizeH="0" baseline="0" noProof="1">
                <a:ln>
                  <a:noFill/>
                </a:ln>
                <a:solidFill>
                  <a:srgbClr val="374151"/>
                </a:solidFill>
                <a:effectLst/>
                <a:latin typeface="+mn-lt"/>
              </a:rPr>
              <a:t>Fully Specified (Both Next-Hop IP and Exit Interface)</a:t>
            </a:r>
            <a:r>
              <a:rPr kumimoji="0" lang="da-DK" altLang="da-DK" sz="2000" b="0" i="0" u="none" strike="noStrike" cap="none" normalizeH="0" baseline="0" noProof="1">
                <a:ln>
                  <a:noFill/>
                </a:ln>
                <a:solidFill>
                  <a:srgbClr val="374151"/>
                </a:solidFill>
                <a:effectLst/>
                <a:latin typeface="+mn-lt"/>
              </a:rPr>
              <a:t>:</a:t>
            </a:r>
            <a:endParaRPr lang="da-DK" altLang="da-DK" sz="2000" noProof="1">
              <a:solidFill>
                <a:srgbClr val="374151"/>
              </a:solidFill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da-DK" altLang="da-DK" sz="2000" b="0" i="0" u="none" strike="noStrike" cap="none" normalizeH="0" baseline="0" noProof="1">
                <a:ln>
                  <a:noFill/>
                </a:ln>
                <a:solidFill>
                  <a:srgbClr val="374151"/>
                </a:solidFill>
                <a:effectLst/>
                <a:latin typeface="+mn-lt"/>
              </a:rPr>
              <a:t>Here, you specify both the IP address of the next-hop router/device and the exit interface.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a-DK" altLang="da-DK" sz="2000" noProof="1">
                <a:solidFill>
                  <a:srgbClr val="374151"/>
                </a:solidFill>
                <a:latin typeface="+mn-lt"/>
              </a:rPr>
              <a:t>     </a:t>
            </a:r>
            <a:r>
              <a:rPr kumimoji="0" lang="da-DK" altLang="da-DK" sz="1800" b="0" i="0" u="none" strike="noStrike" cap="none" normalizeH="0" baseline="0" noProof="1">
                <a:ln>
                  <a:noFill/>
                </a:ln>
                <a:solidFill>
                  <a:srgbClr val="374151"/>
                </a:solidFill>
                <a:effectLst/>
                <a:latin typeface="+mn-lt"/>
              </a:rPr>
              <a:t>Router(config)# ip route 10.10.10.0 255.255.255.0 192.168.1.1 GigabitEthernet 0/1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altLang="da-DK" sz="2000" b="0" i="0" u="none" strike="noStrike" cap="none" normalizeH="0" baseline="0" noProof="1">
              <a:ln>
                <a:noFill/>
              </a:ln>
              <a:solidFill>
                <a:srgbClr val="37415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2000" b="0" i="0" u="none" strike="noStrike" cap="none" normalizeH="0" baseline="0" noProof="1">
                <a:ln>
                  <a:noFill/>
                </a:ln>
                <a:solidFill>
                  <a:srgbClr val="374151"/>
                </a:solidFill>
                <a:effectLst/>
                <a:latin typeface="+mn-lt"/>
              </a:rPr>
              <a:t>A fully specified route is often used in point-to-point connections, such as serial links, where there's only one possible destination over an interface. By specifying both the next-hop IP address and the exit interface, the router has precise information about where to forward the packet.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altLang="da-DK" sz="2000" b="0" i="0" u="none" strike="noStrike" cap="none" normalizeH="0" baseline="0" noProof="1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2000" b="0" i="0" u="none" strike="noStrike" cap="none" normalizeH="0" baseline="0" noProof="1">
                <a:ln>
                  <a:noFill/>
                </a:ln>
                <a:solidFill>
                  <a:srgbClr val="374151"/>
                </a:solidFill>
                <a:effectLst/>
                <a:latin typeface="+mn-lt"/>
              </a:rPr>
              <a:t>It's worth noting that while fully specifying a route can make routing determinate (”mere præcis”) in certain scenarios, it can add to configuration complexity, so it's essential to use this method judiciously  (velovervejet) and understand the design implications. </a:t>
            </a:r>
            <a:r>
              <a:rPr kumimoji="0" lang="da-DK" altLang="da-DK" sz="2000" b="0" i="1" u="none" strike="noStrike" cap="none" normalizeH="0" baseline="0" noProof="1">
                <a:ln>
                  <a:noFill/>
                </a:ln>
                <a:solidFill>
                  <a:srgbClr val="F917D9"/>
                </a:solidFill>
                <a:effectLst/>
                <a:latin typeface="+mn-lt"/>
              </a:rPr>
              <a:t>Så IKKE brug den, med mindre du har en god grund </a:t>
            </a:r>
            <a:r>
              <a:rPr kumimoji="0" lang="da-DK" altLang="da-DK" sz="2000" b="0" i="1" u="none" strike="noStrike" cap="none" normalizeH="0" baseline="0" noProof="1">
                <a:ln>
                  <a:noFill/>
                </a:ln>
                <a:solidFill>
                  <a:srgbClr val="F917D9"/>
                </a:solidFill>
                <a:effectLst/>
                <a:latin typeface="+mn-lt"/>
                <a:sym typeface="Wingdings" panose="05000000000000000000" pitchFamily="2" charset="2"/>
              </a:rPr>
              <a:t></a:t>
            </a:r>
            <a:endParaRPr kumimoji="0" lang="da-DK" altLang="da-DK" sz="2000" b="0" i="1" u="none" strike="noStrike" cap="none" normalizeH="0" baseline="0" noProof="1">
              <a:ln>
                <a:noFill/>
              </a:ln>
              <a:solidFill>
                <a:srgbClr val="F917D9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69056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193" y="3428999"/>
            <a:ext cx="891382" cy="1040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052" y="629832"/>
            <a:ext cx="4188171" cy="2136690"/>
          </a:xfrm>
        </p:spPr>
        <p:txBody>
          <a:bodyPr/>
          <a:lstStyle/>
          <a:p>
            <a:pPr marL="0" indent="0">
              <a:buNone/>
            </a:pPr>
            <a:r>
              <a:rPr lang="da-DK" altLang="da-DK"/>
              <a:t>OSPF øvelse i Learn.  Ligner til forveksling øvelsen vi lige har lavet. Afleveres.</a:t>
            </a:r>
            <a:endParaRPr lang="da-DK" altLang="da-DK" dirty="0">
              <a:sym typeface="Wingdings" panose="05000000000000000000" pitchFamily="2" charset="2"/>
            </a:endParaRPr>
          </a:p>
          <a:p>
            <a:r>
              <a:rPr lang="da-DK" altLang="da-DK" dirty="0">
                <a:sym typeface="Wingdings" panose="05000000000000000000" pitchFamily="2" charset="2"/>
              </a:rPr>
              <a:t>Måske blev du ikke færdig i dag. Så  fortsætter  du i morgen – vigtigt at du får læst/set videoer</a:t>
            </a:r>
            <a:endParaRPr lang="da-DK" altLang="da-DK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5713DC-5DE7-4A67-B28A-F5614C6116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52" y="4627780"/>
            <a:ext cx="8965896" cy="288132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2pPr>
            <a:lvl3pPr marL="9144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3pPr>
            <a:lvl4pPr marL="1254125" indent="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5pPr>
            <a:lvl6pPr marL="20621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da-DK" altLang="da-DK" kern="0" dirty="0"/>
              <a:t>Til i morgen, bedes du ENTEN at læse modul 1 og 2 i </a:t>
            </a:r>
            <a:r>
              <a:rPr lang="da-DK" altLang="da-DK" kern="0" dirty="0" err="1"/>
              <a:t>Netacad</a:t>
            </a:r>
            <a:r>
              <a:rPr lang="da-DK" altLang="da-DK" kern="0" dirty="0"/>
              <a:t>,</a:t>
            </a:r>
            <a:r>
              <a:rPr lang="da-DK" altLang="da-DK" sz="2000" i="1" kern="0" dirty="0"/>
              <a:t> </a:t>
            </a:r>
            <a:r>
              <a:rPr lang="da-DK" altLang="da-DK" kern="0" dirty="0"/>
              <a:t>ELLER at se de 6 videoer (ca. 1,5 timer) om OSPF på dette link:</a:t>
            </a:r>
          </a:p>
          <a:p>
            <a:r>
              <a:rPr lang="en-US" dirty="0">
                <a:hlinkClick r:id="rId3"/>
              </a:rPr>
              <a:t>CCNA 7-ENSA- Enterprise Networks, Security and Automation - YouTube</a:t>
            </a:r>
            <a:endParaRPr lang="da-DK" altLang="da-DK" kern="0" dirty="0"/>
          </a:p>
        </p:txBody>
      </p:sp>
      <p:pic>
        <p:nvPicPr>
          <p:cNvPr id="2" name="Billede 1">
            <a:extLst>
              <a:ext uri="{FF2B5EF4-FFF2-40B4-BE49-F238E27FC236}">
                <a16:creationId xmlns:a16="http://schemas.microsoft.com/office/drawing/2014/main" id="{DD694C1D-D3CE-4AD8-AAE9-5D91D3FE8D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9220" y="535459"/>
            <a:ext cx="4972638" cy="347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2502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EABA50-5754-4338-9813-39FB07188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pic>
        <p:nvPicPr>
          <p:cNvPr id="8" name="Pladsholder til indhold 7">
            <a:extLst>
              <a:ext uri="{FF2B5EF4-FFF2-40B4-BE49-F238E27FC236}">
                <a16:creationId xmlns:a16="http://schemas.microsoft.com/office/drawing/2014/main" id="{24ED2F9B-D006-4404-89CA-F341177DB0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17221" y="0"/>
            <a:ext cx="9161221" cy="2611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kstfelt 9">
            <a:extLst>
              <a:ext uri="{FF2B5EF4-FFF2-40B4-BE49-F238E27FC236}">
                <a16:creationId xmlns:a16="http://schemas.microsoft.com/office/drawing/2014/main" id="{5AABEB04-B3D7-4058-B88F-D512DE657579}"/>
              </a:ext>
            </a:extLst>
          </p:cNvPr>
          <p:cNvSpPr txBox="1"/>
          <p:nvPr/>
        </p:nvSpPr>
        <p:spPr>
          <a:xfrm>
            <a:off x="-17220" y="2925657"/>
            <a:ext cx="9326200" cy="3914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da-DK" sz="2000" dirty="0">
                <a:solidFill>
                  <a:srgbClr val="1D2125"/>
                </a:solidFill>
                <a:latin typeface="+mn-lt"/>
              </a:rPr>
              <a:t>I må gerne hjælpe hinanden </a:t>
            </a:r>
            <a:r>
              <a:rPr lang="da-DK" sz="2000" b="0" i="0" dirty="0">
                <a:solidFill>
                  <a:srgbClr val="1D2125"/>
                </a:solidFill>
                <a:effectLst/>
                <a:latin typeface="+mn-lt"/>
              </a:rPr>
              <a:t>2 og 2</a:t>
            </a:r>
            <a:r>
              <a:rPr lang="da-DK" sz="2000" dirty="0">
                <a:solidFill>
                  <a:srgbClr val="1D2125"/>
                </a:solidFill>
                <a:latin typeface="+mn-lt"/>
              </a:rPr>
              <a:t> – men alle skal selv bygge, på deres egen </a:t>
            </a:r>
            <a:r>
              <a:rPr lang="da-DK" sz="2000" dirty="0" err="1">
                <a:solidFill>
                  <a:srgbClr val="1D2125"/>
                </a:solidFill>
                <a:latin typeface="+mn-lt"/>
              </a:rPr>
              <a:t>PacketTracer</a:t>
            </a:r>
            <a:r>
              <a:rPr lang="da-DK" sz="2000" dirty="0">
                <a:solidFill>
                  <a:srgbClr val="1D2125"/>
                </a:solidFill>
                <a:latin typeface="+mn-lt"/>
              </a:rPr>
              <a:t>, på deres egen  PC </a:t>
            </a:r>
            <a:r>
              <a:rPr lang="da-DK" sz="2000" dirty="0">
                <a:solidFill>
                  <a:srgbClr val="1D2125"/>
                </a:solidFill>
                <a:latin typeface="+mn-lt"/>
                <a:sym typeface="Wingdings" panose="05000000000000000000" pitchFamily="2" charset="2"/>
              </a:rPr>
              <a:t> </a:t>
            </a:r>
            <a:r>
              <a:rPr lang="da-DK" sz="2000" b="0" i="0" dirty="0">
                <a:solidFill>
                  <a:srgbClr val="1D2125"/>
                </a:solidFill>
                <a:effectLst/>
                <a:latin typeface="+mn-lt"/>
              </a:rPr>
              <a:t> Nu skal I bygge denne opstilling </a:t>
            </a:r>
            <a:r>
              <a:rPr lang="da-DK" sz="2000" b="0" i="0" dirty="0">
                <a:solidFill>
                  <a:srgbClr val="1D2125"/>
                </a:solidFill>
                <a:effectLst/>
                <a:latin typeface="+mn-lt"/>
                <a:sym typeface="Wingdings" panose="05000000000000000000" pitchFamily="2" charset="2"/>
              </a:rPr>
              <a:t>. </a:t>
            </a:r>
          </a:p>
          <a:p>
            <a:pPr algn="l"/>
            <a:r>
              <a:rPr lang="da-DK" sz="2000" dirty="0">
                <a:solidFill>
                  <a:srgbClr val="07B997"/>
                </a:solidFill>
                <a:latin typeface="+mn-lt"/>
                <a:sym typeface="Wingdings" panose="05000000000000000000" pitchFamily="2" charset="2"/>
              </a:rPr>
              <a:t>Hvor mange netværk er der her?</a:t>
            </a:r>
            <a:endParaRPr lang="da-DK" sz="2000" b="0" i="1" dirty="0">
              <a:solidFill>
                <a:srgbClr val="07B997"/>
              </a:solidFill>
              <a:effectLst/>
              <a:latin typeface="+mn-lt"/>
              <a:sym typeface="Wingdings" panose="05000000000000000000" pitchFamily="2" charset="2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da-DK" sz="1800" b="0" i="0" dirty="0">
              <a:solidFill>
                <a:srgbClr val="1D2125"/>
              </a:solidFill>
              <a:effectLst/>
              <a:latin typeface="+mn-lt"/>
            </a:endParaRPr>
          </a:p>
          <a:p>
            <a:pPr algn="l"/>
            <a:r>
              <a:rPr lang="da-DK" sz="1800" dirty="0">
                <a:solidFill>
                  <a:srgbClr val="1D2125"/>
                </a:solidFill>
                <a:latin typeface="+mn-lt"/>
              </a:rPr>
              <a:t>Du </a:t>
            </a:r>
            <a:r>
              <a:rPr lang="da-DK" sz="1800" b="0" i="0" dirty="0">
                <a:solidFill>
                  <a:srgbClr val="1D2125"/>
                </a:solidFill>
                <a:effectLst/>
                <a:latin typeface="+mn-lt"/>
              </a:rPr>
              <a:t>har netværket 192.168.200.0/24 til rådighed</a:t>
            </a:r>
          </a:p>
          <a:p>
            <a:pPr algn="l"/>
            <a:endParaRPr lang="da-DK" sz="1800" b="0" i="0" dirty="0">
              <a:solidFill>
                <a:srgbClr val="1D2125"/>
              </a:solidFill>
              <a:effectLst/>
              <a:latin typeface="+mn-lt"/>
            </a:endParaRPr>
          </a:p>
          <a:p>
            <a:pPr algn="l"/>
            <a:r>
              <a:rPr lang="da-DK" sz="1800" b="0" i="0" dirty="0">
                <a:solidFill>
                  <a:srgbClr val="1D2125"/>
                </a:solidFill>
                <a:effectLst/>
                <a:latin typeface="+mn-lt"/>
              </a:rPr>
              <a:t>Dette netværk skal opdeles (</a:t>
            </a:r>
            <a:r>
              <a:rPr lang="da-DK" sz="1800" b="0" i="0" noProof="1">
                <a:solidFill>
                  <a:srgbClr val="1D2125"/>
                </a:solidFill>
                <a:effectLst/>
                <a:latin typeface="+mn-lt"/>
              </a:rPr>
              <a:t>subnettes)</a:t>
            </a:r>
            <a:r>
              <a:rPr lang="da-DK" sz="1800" b="0" i="0" dirty="0">
                <a:solidFill>
                  <a:srgbClr val="1D2125"/>
                </a:solidFill>
                <a:effectLst/>
                <a:latin typeface="+mn-lt"/>
              </a:rPr>
              <a:t> i 8 undernetværk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da-DK" sz="1800" b="0" i="0" dirty="0">
                <a:solidFill>
                  <a:srgbClr val="1D2125"/>
                </a:solidFill>
                <a:effectLst/>
                <a:latin typeface="+mn-lt"/>
              </a:rPr>
              <a:t>Konfigurér OSPF single-</a:t>
            </a:r>
            <a:r>
              <a:rPr lang="da-DK" sz="1800" b="0" i="0" noProof="1">
                <a:solidFill>
                  <a:srgbClr val="1D2125"/>
                </a:solidFill>
                <a:effectLst/>
                <a:latin typeface="+mn-lt"/>
              </a:rPr>
              <a:t>area </a:t>
            </a:r>
            <a:r>
              <a:rPr lang="da-DK" sz="1800" b="0" i="0" dirty="0">
                <a:solidFill>
                  <a:srgbClr val="1D2125"/>
                </a:solidFill>
                <a:effectLst/>
                <a:latin typeface="+mn-lt"/>
              </a:rPr>
              <a:t>på routerne og kontrollér at de udveksler oplysninger (se i routingtabellen)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da-DK" sz="1800" b="0" i="0" dirty="0">
                <a:solidFill>
                  <a:srgbClr val="1D2125"/>
                </a:solidFill>
                <a:effectLst/>
                <a:latin typeface="+mn-lt"/>
              </a:rPr>
              <a:t>Konfigurér passive interfaces på de interfaces der vender ind mod routernes LAN.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da-DK" sz="1800" b="0" i="0" dirty="0">
                <a:solidFill>
                  <a:srgbClr val="1D2125"/>
                </a:solidFill>
                <a:effectLst/>
                <a:latin typeface="+mn-lt"/>
              </a:rPr>
              <a:t>Kontrollér at alle routere kender alle netværk i topologien – inklusiv de andre routeres LAN. Tag et skærmdump fra alle routere, som viser hvilke netværk de kender.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da-DK" sz="1800" b="0" i="0" dirty="0">
                <a:solidFill>
                  <a:srgbClr val="1D2125"/>
                </a:solidFill>
                <a:effectLst/>
                <a:latin typeface="+mn-lt"/>
              </a:rPr>
              <a:t>Kontrollér at alle </a:t>
            </a:r>
            <a:r>
              <a:rPr lang="da-DK" sz="1800" b="0" i="0" noProof="1">
                <a:solidFill>
                  <a:srgbClr val="1D2125"/>
                </a:solidFill>
                <a:effectLst/>
                <a:latin typeface="+mn-lt"/>
              </a:rPr>
              <a:t>PC’er</a:t>
            </a:r>
            <a:r>
              <a:rPr lang="da-DK" sz="1800" b="0" i="0" dirty="0">
                <a:solidFill>
                  <a:srgbClr val="1D2125"/>
                </a:solidFill>
                <a:effectLst/>
                <a:latin typeface="+mn-lt"/>
              </a:rPr>
              <a:t> kan pinge hinanden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da-DK" sz="1800" dirty="0">
                <a:solidFill>
                  <a:srgbClr val="1D2125"/>
                </a:solidFill>
                <a:latin typeface="+mn-lt"/>
              </a:rPr>
              <a:t>Aflever  PT løsningen + skærmdumps i  Learn&gt;Opgaver&gt;Net2_OSPF single </a:t>
            </a:r>
            <a:r>
              <a:rPr lang="da-DK" sz="1800" noProof="1">
                <a:solidFill>
                  <a:srgbClr val="1D2125"/>
                </a:solidFill>
                <a:latin typeface="+mn-lt"/>
              </a:rPr>
              <a:t>area</a:t>
            </a:r>
            <a:endParaRPr lang="da-DK" sz="1800" b="0" i="0" noProof="1">
              <a:solidFill>
                <a:srgbClr val="1D2125"/>
              </a:solidFill>
              <a:effectLst/>
              <a:latin typeface="+mn-lt"/>
            </a:endParaRP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0DA55B14-73B2-4E53-BA12-FF47141425B9}"/>
              </a:ext>
            </a:extLst>
          </p:cNvPr>
          <p:cNvSpPr/>
          <p:nvPr/>
        </p:nvSpPr>
        <p:spPr bwMode="auto">
          <a:xfrm>
            <a:off x="342900" y="78710"/>
            <a:ext cx="3868109" cy="1282186"/>
          </a:xfrm>
          <a:prstGeom prst="ellipse">
            <a:avLst/>
          </a:prstGeom>
          <a:noFill/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2124" tIns="41061" rIns="82124" bIns="4106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B2ED5AE1-CF30-4B23-80F8-7F5998BFB2B6}"/>
              </a:ext>
            </a:extLst>
          </p:cNvPr>
          <p:cNvSpPr/>
          <p:nvPr/>
        </p:nvSpPr>
        <p:spPr bwMode="auto">
          <a:xfrm>
            <a:off x="0" y="1439606"/>
            <a:ext cx="3868109" cy="1282186"/>
          </a:xfrm>
          <a:prstGeom prst="ellipse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2124" tIns="41061" rIns="82124" bIns="4106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487FB8B3-5BCB-4264-B39E-8082F1C26418}"/>
              </a:ext>
            </a:extLst>
          </p:cNvPr>
          <p:cNvSpPr/>
          <p:nvPr/>
        </p:nvSpPr>
        <p:spPr bwMode="auto">
          <a:xfrm>
            <a:off x="4965883" y="17425"/>
            <a:ext cx="3868109" cy="1282186"/>
          </a:xfrm>
          <a:prstGeom prst="ellipse">
            <a:avLst/>
          </a:prstGeom>
          <a:noFill/>
          <a:ln w="9525" cap="flat" cmpd="sng" algn="ctr">
            <a:solidFill>
              <a:srgbClr val="07B997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2124" tIns="41061" rIns="82124" bIns="4106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5110F801-5D23-4B3A-8CDF-6CAAC37BEC64}"/>
              </a:ext>
            </a:extLst>
          </p:cNvPr>
          <p:cNvSpPr/>
          <p:nvPr/>
        </p:nvSpPr>
        <p:spPr bwMode="auto">
          <a:xfrm>
            <a:off x="5293112" y="1378322"/>
            <a:ext cx="3868109" cy="1282186"/>
          </a:xfrm>
          <a:prstGeom prst="ellipse">
            <a:avLst/>
          </a:prstGeom>
          <a:noFill/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2124" tIns="41061" rIns="82124" bIns="4106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705021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PPT-TMPLT-WHT_C">
  <a:themeElements>
    <a:clrScheme name="PPT-TMPLT-WHT_C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PPT-TMPLT-WHT_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PT-TMPLT-WHT_C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NetAcad-4F_PPT-WHT_060408">
  <a:themeElements>
    <a:clrScheme name="Oct_2006_Cisco White Template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Oct_2006_Cisco White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ct_2006_Cisco White Template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33498</TotalTime>
  <Pages>28</Pages>
  <Words>2421</Words>
  <Application>Microsoft Office PowerPoint</Application>
  <PresentationFormat>Skærmshow (4:3)</PresentationFormat>
  <Paragraphs>255</Paragraphs>
  <Slides>30</Slides>
  <Notes>19</Notes>
  <HiddenSlides>1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2</vt:i4>
      </vt:variant>
      <vt:variant>
        <vt:lpstr>Slidetitler</vt:lpstr>
      </vt:variant>
      <vt:variant>
        <vt:i4>30</vt:i4>
      </vt:variant>
    </vt:vector>
  </HeadingPairs>
  <TitlesOfParts>
    <vt:vector size="36" baseType="lpstr">
      <vt:lpstr>ＭＳ Ｐゴシック</vt:lpstr>
      <vt:lpstr>Arial</vt:lpstr>
      <vt:lpstr>Courier New</vt:lpstr>
      <vt:lpstr>Wingdings</vt:lpstr>
      <vt:lpstr>PPT-TMPLT-WHT_C</vt:lpstr>
      <vt:lpstr>NetAcad-4F_PPT-WHT_060408</vt:lpstr>
      <vt:lpstr>Velkommen til Netværk II</vt:lpstr>
      <vt:lpstr>Module 1: Single-Area OSPFv2 Concepts Module 2: Single-Area OSPFv2 Configuration</vt:lpstr>
      <vt:lpstr>Indhold i modul 1 og 2</vt:lpstr>
      <vt:lpstr>Hvad kan jeg efter Netværk 2?</vt:lpstr>
      <vt:lpstr>Plan – som den ser ud lige nu   </vt:lpstr>
      <vt:lpstr>Vi starter blødt ud </vt:lpstr>
      <vt:lpstr>Static Routing</vt:lpstr>
      <vt:lpstr> Dynamic Routing Protocols</vt:lpstr>
      <vt:lpstr>Meget basal konfiguration af OSPF</vt:lpstr>
      <vt:lpstr>Eksempel</vt:lpstr>
      <vt:lpstr>Byg dette netværk </vt:lpstr>
      <vt:lpstr>PowerPoint-præsentation</vt:lpstr>
      <vt:lpstr> OSPF “passive-interface”</vt:lpstr>
      <vt:lpstr> OSPF   “router-id”</vt:lpstr>
      <vt:lpstr> Verifying OSPF</vt:lpstr>
      <vt:lpstr> Verifying OSPF</vt:lpstr>
      <vt:lpstr>Hello pakker på kryds og tværs blandt alle routere?????</vt:lpstr>
      <vt:lpstr> OSPF Designated Router</vt:lpstr>
      <vt:lpstr> Default DR/BDR Election Process</vt:lpstr>
      <vt:lpstr> DR/BDR Election Process</vt:lpstr>
      <vt:lpstr> The OSPF Priority</vt:lpstr>
      <vt:lpstr> Propagating a Default Static Route in OSPFv2</vt:lpstr>
      <vt:lpstr> OSPF Hello and Dead Intervals</vt:lpstr>
      <vt:lpstr> Secure Routing Updates = password med i update pakker!</vt:lpstr>
      <vt:lpstr> Configuring OSPF MD5 Authentication</vt:lpstr>
      <vt:lpstr> OSPF Troubleshooting Commands</vt:lpstr>
      <vt:lpstr>PowerPoint-præsentation</vt:lpstr>
      <vt:lpstr>PowerPoint-præsentation</vt:lpstr>
      <vt:lpstr>PowerPoint-præsentation</vt:lpstr>
      <vt:lpstr>PowerPoint-præsentation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ITE PC v4.0 Chapter 1</dc:title>
  <dc:creator>Karen Alderson</dc:creator>
  <cp:lastModifiedBy>Grete Teta</cp:lastModifiedBy>
  <cp:revision>1165</cp:revision>
  <cp:lastPrinted>1999-01-27T00:54:54Z</cp:lastPrinted>
  <dcterms:created xsi:type="dcterms:W3CDTF">2006-10-23T15:07:30Z</dcterms:created>
  <dcterms:modified xsi:type="dcterms:W3CDTF">2026-09-06T18:51:17Z</dcterms:modified>
</cp:coreProperties>
</file>