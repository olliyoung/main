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  <p:sldMasterId id="2147484032" r:id="rId2"/>
  </p:sldMasterIdLst>
  <p:notesMasterIdLst>
    <p:notesMasterId r:id="rId9"/>
  </p:notesMasterIdLst>
  <p:sldIdLst>
    <p:sldId id="513" r:id="rId3"/>
    <p:sldId id="863" r:id="rId4"/>
    <p:sldId id="865" r:id="rId5"/>
    <p:sldId id="864" r:id="rId6"/>
    <p:sldId id="862" r:id="rId7"/>
    <p:sldId id="859" r:id="rId8"/>
  </p:sldIdLst>
  <p:sldSz cx="9144000" cy="5143500" type="screen16x9"/>
  <p:notesSz cx="6858000" cy="9144000"/>
  <p:custDataLst>
    <p:tags r:id="rId10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17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6" autoAdjust="0"/>
    <p:restoredTop sz="86356" autoAdjust="0"/>
  </p:normalViewPr>
  <p:slideViewPr>
    <p:cSldViewPr snapToGrid="0" showGuides="1">
      <p:cViewPr varScale="1">
        <p:scale>
          <a:sx n="85" d="100"/>
          <a:sy n="85" d="100"/>
        </p:scale>
        <p:origin x="512" y="48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Enterprise Networking, Security, and Automation v7.0 (ENSA)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10: Network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416">
              <a:defRPr sz="2500">
                <a:solidFill>
                  <a:schemeClr val="tx1"/>
                </a:solidFill>
                <a:latin typeface="Arial" charset="0"/>
              </a:defRPr>
            </a:lvl1pPr>
            <a:lvl2pPr marL="760112" indent="-292351" defTabSz="901416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69403" indent="-233881" defTabSz="901416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37165" indent="-233881" defTabSz="901416">
              <a:defRPr sz="2500">
                <a:solidFill>
                  <a:schemeClr val="tx1"/>
                </a:solidFill>
                <a:latin typeface="Arial" charset="0"/>
              </a:defRPr>
            </a:lvl4pPr>
            <a:lvl5pPr marL="2104926" indent="-233881" defTabSz="901416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72687" indent="-233881" algn="ctr" defTabSz="901416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3040449" indent="-233881" algn="ctr" defTabSz="901416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508210" indent="-233881" algn="ctr" defTabSz="901416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975971" indent="-233881" algn="ctr" defTabSz="901416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014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797A4F-01F8-4F58-982D-3A832E2AC6DD}" type="slidenum">
              <a:rPr kumimoji="0" lang="en-US" altLang="da-DK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01416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da-DK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en-US" altLang="da-DK" b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33512"/>
            <a:ext cx="9144000" cy="182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6" y="5002897"/>
            <a:ext cx="1525414" cy="142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1593" tIns="30796" rIns="61593" bIns="30796" anchor="b" anchorCtr="1">
            <a:spAutoFit/>
          </a:bodyPr>
          <a:lstStyle/>
          <a:p>
            <a:pPr algn="l" defTabSz="610791">
              <a:lnSpc>
                <a:spcPct val="100000"/>
              </a:lnSpc>
              <a:defRPr/>
            </a:pPr>
            <a:r>
              <a:rPr lang="en-US" sz="525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7112593" y="5002897"/>
            <a:ext cx="661395" cy="142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1593" tIns="30796" rIns="61593" bIns="30796" anchor="b">
            <a:spAutoFit/>
          </a:bodyPr>
          <a:lstStyle/>
          <a:p>
            <a:pPr algn="r" defTabSz="610791">
              <a:lnSpc>
                <a:spcPct val="100000"/>
              </a:lnSpc>
              <a:defRPr/>
            </a:pPr>
            <a:r>
              <a:rPr lang="en-US" sz="525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6" y="5002897"/>
            <a:ext cx="962025" cy="142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1593" tIns="30796" rIns="61593" bIns="30796" anchor="b">
            <a:spAutoFit/>
          </a:bodyPr>
          <a:lstStyle/>
          <a:p>
            <a:pPr algn="l" defTabSz="610791">
              <a:lnSpc>
                <a:spcPct val="100000"/>
              </a:lnSpc>
              <a:defRPr/>
            </a:pPr>
            <a:r>
              <a:rPr lang="en-US" sz="525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616269" y="4968271"/>
            <a:ext cx="300719" cy="1776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61593" tIns="30796" rIns="61593" bIns="30796" anchor="b">
            <a:spAutoFit/>
          </a:bodyPr>
          <a:lstStyle/>
          <a:p>
            <a:pPr algn="r" defTabSz="610791">
              <a:lnSpc>
                <a:spcPct val="100000"/>
              </a:lnSpc>
              <a:defRPr/>
            </a:pPr>
            <a:fld id="{ACFA795C-7F0A-48D8-9FC3-F2BA5F8EB736}" type="slidenum">
              <a:rPr lang="en-US" sz="750">
                <a:solidFill>
                  <a:srgbClr val="D3D3D3"/>
                </a:solidFill>
              </a:rPr>
              <a:pPr algn="r" defTabSz="610791">
                <a:lnSpc>
                  <a:spcPct val="100000"/>
                </a:lnSpc>
                <a:defRPr/>
              </a:pPr>
              <a:t>‹nr.›</a:t>
            </a:fld>
            <a:endParaRPr lang="en-US" sz="75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4455319"/>
            <a:ext cx="3354388" cy="355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4" y="89298"/>
            <a:ext cx="1171575" cy="678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1" y="2003822"/>
            <a:ext cx="3768725" cy="622697"/>
          </a:xfrm>
          <a:ln/>
        </p:spPr>
        <p:txBody>
          <a:bodyPr anchor="ctr"/>
          <a:lstStyle>
            <a:lvl1pPr>
              <a:defRPr sz="22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3504010"/>
            <a:ext cx="4103688" cy="494109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15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95368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6744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5421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9" y="1510904"/>
            <a:ext cx="3894137" cy="267890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1510904"/>
            <a:ext cx="3894138" cy="267890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9588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74252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2044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2483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40098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77573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72759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6" y="598885"/>
            <a:ext cx="2035175" cy="35909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9" y="598885"/>
            <a:ext cx="5957887" cy="35909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193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31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598885"/>
            <a:ext cx="8145462" cy="628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6" y="5002897"/>
            <a:ext cx="962025" cy="142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1593" tIns="30796" rIns="61593" bIns="30796" anchor="b">
            <a:spAutoFit/>
          </a:bodyPr>
          <a:lstStyle/>
          <a:p>
            <a:pPr algn="l" defTabSz="610791">
              <a:lnSpc>
                <a:spcPct val="100000"/>
              </a:lnSpc>
              <a:defRPr/>
            </a:pPr>
            <a:r>
              <a:rPr lang="en-US" sz="525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616269" y="4968271"/>
            <a:ext cx="300719" cy="1776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61593" tIns="30796" rIns="61593" bIns="30796" anchor="b">
            <a:spAutoFit/>
          </a:bodyPr>
          <a:lstStyle/>
          <a:p>
            <a:pPr algn="r" defTabSz="610791">
              <a:lnSpc>
                <a:spcPct val="100000"/>
              </a:lnSpc>
              <a:defRPr/>
            </a:pPr>
            <a:fld id="{85C5E045-6C48-46C0-92AE-30A8710B0BBD}" type="slidenum">
              <a:rPr lang="en-US" sz="750">
                <a:solidFill>
                  <a:srgbClr val="D3D3D3"/>
                </a:solidFill>
              </a:rPr>
              <a:pPr algn="r" defTabSz="610791">
                <a:lnSpc>
                  <a:spcPct val="100000"/>
                </a:lnSpc>
                <a:defRPr/>
              </a:pPr>
              <a:t>‹nr.›</a:t>
            </a:fld>
            <a:endParaRPr lang="en-US" sz="75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9" y="1510904"/>
            <a:ext cx="7940675" cy="26789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6" y="5002897"/>
            <a:ext cx="1525414" cy="142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1593" tIns="30796" rIns="61593" bIns="30796" anchor="b" anchorCtr="1">
            <a:spAutoFit/>
          </a:bodyPr>
          <a:lstStyle/>
          <a:p>
            <a:pPr algn="l" defTabSz="610791">
              <a:lnSpc>
                <a:spcPct val="100000"/>
              </a:lnSpc>
              <a:defRPr/>
            </a:pPr>
            <a:r>
              <a:rPr lang="en-US" sz="525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7112593" y="5002897"/>
            <a:ext cx="661395" cy="142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1593" tIns="30796" rIns="61593" bIns="30796" anchor="b">
            <a:spAutoFit/>
          </a:bodyPr>
          <a:lstStyle/>
          <a:p>
            <a:pPr algn="r" defTabSz="610791">
              <a:lnSpc>
                <a:spcPct val="100000"/>
              </a:lnSpc>
              <a:defRPr/>
            </a:pPr>
            <a:r>
              <a:rPr lang="en-US" sz="525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255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1503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xStyles>
    <p:titleStyle>
      <a:lvl1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charset="0"/>
        </a:defRPr>
      </a:lvl2pPr>
      <a:lvl3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charset="0"/>
        </a:defRPr>
      </a:lvl3pPr>
      <a:lvl4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charset="0"/>
        </a:defRPr>
      </a:lvl4pPr>
      <a:lvl5pPr algn="l" defTabSz="610791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charset="0"/>
        </a:defRPr>
      </a:lvl5pPr>
      <a:lvl6pPr marL="342900" algn="l" defTabSz="61079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charset="0"/>
        </a:defRPr>
      </a:lvl6pPr>
      <a:lvl7pPr marL="685800" algn="l" defTabSz="61079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charset="0"/>
        </a:defRPr>
      </a:lvl7pPr>
      <a:lvl8pPr marL="1028700" algn="l" defTabSz="61079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charset="0"/>
        </a:defRPr>
      </a:lvl8pPr>
      <a:lvl9pPr marL="1371600" algn="l" defTabSz="61079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708CA1"/>
          </a:solidFill>
          <a:latin typeface="Arial" charset="0"/>
        </a:defRPr>
      </a:lvl9pPr>
    </p:titleStyle>
    <p:bodyStyle>
      <a:lvl1pPr marL="177404" indent="-177404" algn="l" defTabSz="610791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31006" indent="-88106" algn="l" defTabSz="610791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</a:defRPr>
      </a:lvl2pPr>
      <a:lvl3pPr marL="685800" algn="l" defTabSz="610791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</a:defRPr>
      </a:lvl3pPr>
      <a:lvl4pPr marL="940594" indent="88106" algn="l" defTabSz="610791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</a:defRPr>
      </a:lvl4pPr>
      <a:lvl5pPr marL="1203722" indent="167879" algn="l" defTabSz="610791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</a:defRPr>
      </a:lvl5pPr>
      <a:lvl6pPr marL="1546622" algn="l" defTabSz="610791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</a:defRPr>
      </a:lvl6pPr>
      <a:lvl7pPr marL="1889522" algn="l" defTabSz="610791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</a:defRPr>
      </a:lvl7pPr>
      <a:lvl8pPr marL="2232422" algn="l" defTabSz="610791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</a:defRPr>
      </a:lvl8pPr>
      <a:lvl9pPr marL="2575322" algn="l" defTabSz="610791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10: Network Management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endParaRPr lang="en-US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3836690" cy="90217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Enterprise Networking, Security, and Automationv7.0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(ENSA)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6" y="934782"/>
            <a:ext cx="6172200" cy="420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143001" y="253605"/>
            <a:ext cx="6857999" cy="651271"/>
          </a:xfrm>
        </p:spPr>
        <p:txBody>
          <a:bodyPr/>
          <a:lstStyle/>
          <a:p>
            <a:pPr marL="0" indent="0">
              <a:buNone/>
            </a:pPr>
            <a:r>
              <a:rPr lang="da-DK"/>
              <a:t>Et eller andet sted (f.eks. i Frankfurt) har  vi en ” authoritative time source” - stratum 0 – (</a:t>
            </a:r>
            <a:r>
              <a:rPr lang="en-US"/>
              <a:t>radio or atomic clock or a GPS time source)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724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8181A0-4480-48B4-937D-5782F780A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452" y="0"/>
            <a:ext cx="6109097" cy="628650"/>
          </a:xfrm>
        </p:spPr>
        <p:txBody>
          <a:bodyPr/>
          <a:lstStyle/>
          <a:p>
            <a:r>
              <a:rPr lang="da-DK" dirty="0"/>
              <a:t>NTP master </a:t>
            </a:r>
            <a:r>
              <a:rPr lang="da-DK" dirty="0" err="1"/>
              <a:t>vs</a:t>
            </a:r>
            <a:r>
              <a:rPr lang="da-DK" dirty="0"/>
              <a:t> NTP server </a:t>
            </a:r>
            <a:r>
              <a:rPr lang="da-DK" dirty="0" err="1"/>
              <a:t>vs</a:t>
            </a:r>
            <a:r>
              <a:rPr lang="da-DK" dirty="0"/>
              <a:t> NTP peer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D57E36-90E1-497B-84EA-5D5C9F2F0F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5926" y="837516"/>
            <a:ext cx="6712148" cy="42242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da-DK" altLang="da-DK" sz="1650" dirty="0">
                <a:solidFill>
                  <a:srgbClr val="C00000"/>
                </a:solidFill>
                <a:latin typeface="+mn-lt"/>
              </a:rPr>
              <a:t>NTP master </a:t>
            </a:r>
            <a:r>
              <a:rPr lang="da-DK" altLang="da-DK" sz="1650" dirty="0" err="1">
                <a:solidFill>
                  <a:srgbClr val="C00000"/>
                </a:solidFill>
                <a:latin typeface="+mn-lt"/>
              </a:rPr>
              <a:t>command</a:t>
            </a:r>
            <a:endParaRPr lang="da-DK" altLang="da-DK" sz="1650" dirty="0">
              <a:solidFill>
                <a:srgbClr val="C00000"/>
              </a:solidFill>
              <a:latin typeface="+mn-lt"/>
            </a:endParaRPr>
          </a:p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da-DK" altLang="da-DK" sz="1650" dirty="0" err="1">
                <a:solidFill>
                  <a:srgbClr val="1B1C1D"/>
                </a:solidFill>
                <a:latin typeface="+mn-lt"/>
              </a:rPr>
              <a:t>Configures</a:t>
            </a:r>
            <a:r>
              <a:rPr lang="da-DK" altLang="da-DK" sz="1650" dirty="0">
                <a:solidFill>
                  <a:srgbClr val="1B1C1D"/>
                </a:solidFill>
                <a:latin typeface="+mn-lt"/>
              </a:rPr>
              <a:t> the </a:t>
            </a:r>
            <a:r>
              <a:rPr lang="da-DK" altLang="da-DK" sz="1650" dirty="0" err="1">
                <a:solidFill>
                  <a:srgbClr val="1B1C1D"/>
                </a:solidFill>
                <a:latin typeface="+mn-lt"/>
              </a:rPr>
              <a:t>device</a:t>
            </a:r>
            <a:r>
              <a:rPr lang="da-DK" altLang="da-DK" sz="1650" dirty="0">
                <a:solidFill>
                  <a:srgbClr val="1B1C1D"/>
                </a:solidFill>
                <a:latin typeface="+mn-lt"/>
              </a:rPr>
              <a:t> as an </a:t>
            </a:r>
            <a:r>
              <a:rPr lang="da-DK" altLang="da-DK" sz="1650" dirty="0" err="1">
                <a:solidFill>
                  <a:srgbClr val="1B1C1D"/>
                </a:solidFill>
                <a:latin typeface="+mn-lt"/>
              </a:rPr>
              <a:t>authoritative</a:t>
            </a:r>
            <a:r>
              <a:rPr lang="da-DK" altLang="da-DK" sz="1650" dirty="0">
                <a:solidFill>
                  <a:srgbClr val="1B1C1D"/>
                </a:solidFill>
                <a:latin typeface="+mn-lt"/>
              </a:rPr>
              <a:t> NTP server.</a:t>
            </a:r>
          </a:p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endParaRPr lang="da-DK" altLang="da-DK" sz="1650" dirty="0">
              <a:solidFill>
                <a:srgbClr val="1B1C1D"/>
              </a:solidFill>
              <a:latin typeface="+mn-lt"/>
            </a:endParaRPr>
          </a:p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endParaRPr lang="da-DK" altLang="da-DK" sz="1650" dirty="0">
              <a:solidFill>
                <a:srgbClr val="1B1C1D"/>
              </a:solidFill>
              <a:latin typeface="+mn-lt"/>
            </a:endParaRPr>
          </a:p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da-DK" altLang="da-DK" sz="1650" dirty="0">
                <a:solidFill>
                  <a:srgbClr val="C00000"/>
                </a:solidFill>
              </a:rPr>
              <a:t>NTP server </a:t>
            </a:r>
            <a:r>
              <a:rPr lang="da-DK" altLang="da-DK" sz="1650" dirty="0" err="1">
                <a:solidFill>
                  <a:srgbClr val="C00000"/>
                </a:solidFill>
              </a:rPr>
              <a:t>command</a:t>
            </a:r>
            <a:endParaRPr lang="da-DK" altLang="da-DK" sz="1650" dirty="0">
              <a:solidFill>
                <a:srgbClr val="C00000"/>
              </a:solidFill>
            </a:endParaRPr>
          </a:p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da-DK" altLang="da-DK" sz="1650" dirty="0">
                <a:solidFill>
                  <a:srgbClr val="1B1C1D"/>
                </a:solidFill>
              </a:rPr>
              <a:t>Points to a server to </a:t>
            </a:r>
            <a:r>
              <a:rPr lang="da-DK" altLang="da-DK" sz="1650" dirty="0" err="1">
                <a:solidFill>
                  <a:srgbClr val="1B1C1D"/>
                </a:solidFill>
              </a:rPr>
              <a:t>get</a:t>
            </a:r>
            <a:r>
              <a:rPr lang="da-DK" altLang="da-DK" sz="1650" dirty="0">
                <a:solidFill>
                  <a:srgbClr val="1B1C1D"/>
                </a:solidFill>
              </a:rPr>
              <a:t> </a:t>
            </a:r>
            <a:r>
              <a:rPr lang="da-DK" altLang="da-DK" sz="1650" dirty="0" err="1">
                <a:solidFill>
                  <a:srgbClr val="1B1C1D"/>
                </a:solidFill>
              </a:rPr>
              <a:t>its</a:t>
            </a:r>
            <a:r>
              <a:rPr lang="da-DK" altLang="da-DK" sz="1650" dirty="0">
                <a:solidFill>
                  <a:srgbClr val="1B1C1D"/>
                </a:solidFill>
              </a:rPr>
              <a:t> time</a:t>
            </a:r>
          </a:p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endParaRPr lang="da-DK" altLang="da-DK" sz="1650" dirty="0">
              <a:solidFill>
                <a:srgbClr val="1B1C1D"/>
              </a:solidFill>
              <a:latin typeface="+mn-lt"/>
            </a:endParaRPr>
          </a:p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endParaRPr lang="da-DK" altLang="da-DK" sz="1650" dirty="0">
              <a:solidFill>
                <a:srgbClr val="1B1C1D"/>
              </a:solidFill>
              <a:latin typeface="+mn-lt"/>
            </a:endParaRPr>
          </a:p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da-DK" altLang="da-DK" sz="1650" dirty="0">
                <a:solidFill>
                  <a:srgbClr val="C00000"/>
                </a:solidFill>
                <a:latin typeface="+mn-lt"/>
              </a:rPr>
              <a:t>NTP peer </a:t>
            </a:r>
            <a:r>
              <a:rPr lang="da-DK" altLang="da-DK" sz="1650" dirty="0" err="1">
                <a:solidFill>
                  <a:srgbClr val="C00000"/>
                </a:solidFill>
                <a:latin typeface="+mn-lt"/>
              </a:rPr>
              <a:t>command</a:t>
            </a:r>
            <a:endParaRPr lang="da-DK" altLang="da-DK" sz="1650" dirty="0">
              <a:solidFill>
                <a:srgbClr val="C00000"/>
              </a:solidFill>
              <a:latin typeface="+mn-lt"/>
            </a:endParaRPr>
          </a:p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da-DK" altLang="da-DK" sz="1650" dirty="0" err="1">
                <a:solidFill>
                  <a:srgbClr val="1B1C1D"/>
                </a:solidFill>
                <a:latin typeface="+mn-lt"/>
              </a:rPr>
              <a:t>Gets</a:t>
            </a:r>
            <a:r>
              <a:rPr lang="da-DK" altLang="da-DK" sz="1650" dirty="0">
                <a:solidFill>
                  <a:srgbClr val="1B1C1D"/>
                </a:solidFill>
                <a:latin typeface="+mn-lt"/>
              </a:rPr>
              <a:t> </a:t>
            </a:r>
            <a:r>
              <a:rPr lang="da-DK" altLang="da-DK" sz="1650" dirty="0" err="1">
                <a:solidFill>
                  <a:srgbClr val="1B1C1D"/>
                </a:solidFill>
                <a:latin typeface="+mn-lt"/>
              </a:rPr>
              <a:t>its</a:t>
            </a:r>
            <a:r>
              <a:rPr lang="da-DK" altLang="da-DK" sz="1650" dirty="0">
                <a:solidFill>
                  <a:srgbClr val="1B1C1D"/>
                </a:solidFill>
                <a:latin typeface="+mn-lt"/>
              </a:rPr>
              <a:t> </a:t>
            </a:r>
            <a:r>
              <a:rPr lang="da-DK" altLang="da-DK" sz="1650" dirty="0" err="1">
                <a:solidFill>
                  <a:srgbClr val="1B1C1D"/>
                </a:solidFill>
                <a:latin typeface="+mn-lt"/>
              </a:rPr>
              <a:t>ntp</a:t>
            </a:r>
            <a:r>
              <a:rPr lang="da-DK" altLang="da-DK" sz="1650" dirty="0">
                <a:solidFill>
                  <a:srgbClr val="1B1C1D"/>
                </a:solidFill>
                <a:latin typeface="+mn-lt"/>
              </a:rPr>
              <a:t> </a:t>
            </a:r>
            <a:r>
              <a:rPr lang="da-DK" altLang="da-DK" sz="1650" dirty="0" err="1">
                <a:solidFill>
                  <a:srgbClr val="1B1C1D"/>
                </a:solidFill>
                <a:latin typeface="+mn-lt"/>
              </a:rPr>
              <a:t>off</a:t>
            </a:r>
            <a:r>
              <a:rPr lang="da-DK" altLang="da-DK" sz="1650" dirty="0">
                <a:solidFill>
                  <a:srgbClr val="1B1C1D"/>
                </a:solidFill>
                <a:latin typeface="+mn-lt"/>
              </a:rPr>
              <a:t> an </a:t>
            </a:r>
            <a:r>
              <a:rPr lang="da-DK" altLang="da-DK" sz="1650" dirty="0" err="1">
                <a:solidFill>
                  <a:srgbClr val="1B1C1D"/>
                </a:solidFill>
                <a:latin typeface="+mn-lt"/>
              </a:rPr>
              <a:t>actual</a:t>
            </a:r>
            <a:r>
              <a:rPr lang="da-DK" altLang="da-DK" sz="1650" dirty="0">
                <a:solidFill>
                  <a:srgbClr val="1B1C1D"/>
                </a:solidFill>
                <a:latin typeface="+mn-lt"/>
              </a:rPr>
              <a:t> peer </a:t>
            </a:r>
            <a:r>
              <a:rPr lang="da-DK" altLang="da-DK" sz="1650" dirty="0" err="1">
                <a:solidFill>
                  <a:srgbClr val="1B1C1D"/>
                </a:solidFill>
                <a:latin typeface="+mn-lt"/>
              </a:rPr>
              <a:t>device</a:t>
            </a:r>
            <a:r>
              <a:rPr lang="da-DK" altLang="da-DK" sz="1650" dirty="0">
                <a:solidFill>
                  <a:srgbClr val="1B1C1D"/>
                </a:solidFill>
                <a:latin typeface="+mn-lt"/>
              </a:rPr>
              <a:t> like </a:t>
            </a:r>
            <a:r>
              <a:rPr lang="da-DK" altLang="da-DK" sz="1650" dirty="0" err="1">
                <a:solidFill>
                  <a:srgbClr val="1B1C1D"/>
                </a:solidFill>
                <a:latin typeface="+mn-lt"/>
              </a:rPr>
              <a:t>another</a:t>
            </a:r>
            <a:r>
              <a:rPr lang="da-DK" altLang="da-DK" sz="1650" dirty="0">
                <a:solidFill>
                  <a:srgbClr val="1B1C1D"/>
                </a:solidFill>
                <a:latin typeface="+mn-lt"/>
              </a:rPr>
              <a:t> router on the </a:t>
            </a:r>
            <a:r>
              <a:rPr lang="da-DK" altLang="da-DK" sz="1650" dirty="0" err="1">
                <a:solidFill>
                  <a:srgbClr val="1B1C1D"/>
                </a:solidFill>
                <a:latin typeface="+mn-lt"/>
              </a:rPr>
              <a:t>network</a:t>
            </a:r>
            <a:r>
              <a:rPr lang="da-DK" altLang="da-DK" sz="1650" dirty="0">
                <a:solidFill>
                  <a:srgbClr val="1B1C1D"/>
                </a:solidFill>
                <a:latin typeface="+mn-lt"/>
              </a:rPr>
              <a:t> – den kan jeg ikke lige huske nogensinde at have brugt men lyder smart nok og så ved I det. Ikke en kommando I får brug for i dette forløb </a:t>
            </a:r>
            <a:r>
              <a:rPr lang="da-DK" altLang="da-DK" sz="1650" dirty="0">
                <a:solidFill>
                  <a:srgbClr val="1B1C1D"/>
                </a:solidFill>
                <a:latin typeface="+mn-lt"/>
                <a:sym typeface="Wingdings" panose="05000000000000000000" pitchFamily="2" charset="2"/>
              </a:rPr>
              <a:t></a:t>
            </a:r>
          </a:p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endParaRPr lang="da-DK" altLang="da-DK" sz="1650" dirty="0">
              <a:solidFill>
                <a:srgbClr val="1B1C1D"/>
              </a:solidFill>
              <a:latin typeface="+mn-lt"/>
              <a:sym typeface="Wingdings" panose="05000000000000000000" pitchFamily="2" charset="2"/>
            </a:endParaRPr>
          </a:p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sz="1500" i="1" dirty="0">
                <a:solidFill>
                  <a:srgbClr val="FF0066"/>
                </a:solidFill>
                <a:latin typeface="+mn-lt"/>
              </a:rPr>
              <a:t>NTP server is configured on the client NTP Routers to indicate the IP Address of NTP Server </a:t>
            </a:r>
            <a:r>
              <a:rPr lang="en-US" sz="1500" i="1" dirty="0">
                <a:latin typeface="+mn-lt"/>
              </a:rPr>
              <a:t>in order to obtain all the time information. </a:t>
            </a:r>
          </a:p>
          <a:p>
            <a:pPr marL="0" indent="0" defTabSz="68580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sz="1500" i="1" dirty="0">
                <a:solidFill>
                  <a:srgbClr val="7030A0"/>
                </a:solidFill>
                <a:latin typeface="+mn-lt"/>
              </a:rPr>
              <a:t>NTP Peer is configured in order to sync the time settings with other router</a:t>
            </a:r>
            <a:r>
              <a:rPr lang="en-US" sz="1500" i="1" dirty="0">
                <a:latin typeface="+mn-lt"/>
              </a:rPr>
              <a:t>. You can specify multiple peer associations.</a:t>
            </a:r>
            <a:endParaRPr lang="da-DK" altLang="da-DK" sz="1500" i="1" dirty="0">
              <a:solidFill>
                <a:srgbClr val="1B1C1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646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72803" y="275035"/>
            <a:ext cx="6109097" cy="382190"/>
          </a:xfrm>
        </p:spPr>
        <p:txBody>
          <a:bodyPr/>
          <a:lstStyle/>
          <a:p>
            <a:r>
              <a:rPr lang="da-DK"/>
              <a:t>NTP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143000" y="634605"/>
            <a:ext cx="6858000" cy="622696"/>
          </a:xfrm>
        </p:spPr>
        <p:txBody>
          <a:bodyPr/>
          <a:lstStyle/>
          <a:p>
            <a:pPr marL="0" indent="0">
              <a:buNone/>
            </a:pPr>
            <a:r>
              <a:rPr lang="en-US" sz="1725" dirty="0">
                <a:solidFill>
                  <a:srgbClr val="7030A0"/>
                </a:solidFill>
              </a:rPr>
              <a:t>Du </a:t>
            </a:r>
            <a:r>
              <a:rPr lang="en-US" sz="1725" dirty="0" err="1">
                <a:solidFill>
                  <a:srgbClr val="7030A0"/>
                </a:solidFill>
              </a:rPr>
              <a:t>kan</a:t>
            </a:r>
            <a:r>
              <a:rPr lang="en-US" sz="1725" dirty="0">
                <a:solidFill>
                  <a:srgbClr val="7030A0"/>
                </a:solidFill>
              </a:rPr>
              <a:t> </a:t>
            </a:r>
            <a:r>
              <a:rPr lang="en-US" sz="1725" dirty="0" err="1">
                <a:solidFill>
                  <a:srgbClr val="7030A0"/>
                </a:solidFill>
              </a:rPr>
              <a:t>konfigurere</a:t>
            </a:r>
            <a:r>
              <a:rPr lang="en-US" sz="1725" dirty="0">
                <a:solidFill>
                  <a:srgbClr val="7030A0"/>
                </a:solidFill>
              </a:rPr>
              <a:t> </a:t>
            </a:r>
            <a:r>
              <a:rPr lang="en-US" sz="1725" dirty="0" err="1">
                <a:solidFill>
                  <a:srgbClr val="7030A0"/>
                </a:solidFill>
              </a:rPr>
              <a:t>en</a:t>
            </a:r>
            <a:r>
              <a:rPr lang="en-US" sz="1725" dirty="0">
                <a:solidFill>
                  <a:srgbClr val="7030A0"/>
                </a:solidFill>
              </a:rPr>
              <a:t> </a:t>
            </a:r>
            <a:r>
              <a:rPr lang="en-US" sz="1725" dirty="0" err="1">
                <a:solidFill>
                  <a:srgbClr val="7030A0"/>
                </a:solidFill>
              </a:rPr>
              <a:t>enhed</a:t>
            </a:r>
            <a:r>
              <a:rPr lang="en-US" sz="1725" dirty="0">
                <a:solidFill>
                  <a:srgbClr val="7030A0"/>
                </a:solidFill>
              </a:rPr>
              <a:t> </a:t>
            </a:r>
            <a:r>
              <a:rPr lang="en-US" sz="1725" dirty="0" err="1">
                <a:solidFill>
                  <a:srgbClr val="7030A0"/>
                </a:solidFill>
              </a:rPr>
              <a:t>til</a:t>
            </a:r>
            <a:r>
              <a:rPr lang="en-US" sz="1725" dirty="0">
                <a:solidFill>
                  <a:srgbClr val="7030A0"/>
                </a:solidFill>
              </a:rPr>
              <a:t> at </a:t>
            </a:r>
            <a:r>
              <a:rPr lang="en-US" sz="1725" dirty="0" err="1">
                <a:solidFill>
                  <a:srgbClr val="7030A0"/>
                </a:solidFill>
              </a:rPr>
              <a:t>være</a:t>
            </a:r>
            <a:r>
              <a:rPr lang="en-US" sz="1725" dirty="0">
                <a:solidFill>
                  <a:srgbClr val="7030A0"/>
                </a:solidFill>
              </a:rPr>
              <a:t> NTP server (master) </a:t>
            </a:r>
            <a:r>
              <a:rPr lang="en-US" sz="1725" dirty="0" err="1">
                <a:solidFill>
                  <a:srgbClr val="7030A0"/>
                </a:solidFill>
              </a:rPr>
              <a:t>hvis</a:t>
            </a:r>
            <a:r>
              <a:rPr lang="en-US" sz="1725" dirty="0">
                <a:solidFill>
                  <a:srgbClr val="7030A0"/>
                </a:solidFill>
              </a:rPr>
              <a:t> du </a:t>
            </a:r>
            <a:r>
              <a:rPr lang="en-US" sz="1725" dirty="0" err="1">
                <a:solidFill>
                  <a:srgbClr val="7030A0"/>
                </a:solidFill>
              </a:rPr>
              <a:t>ikke</a:t>
            </a:r>
            <a:r>
              <a:rPr lang="en-US" sz="1725" dirty="0">
                <a:solidFill>
                  <a:srgbClr val="7030A0"/>
                </a:solidFill>
              </a:rPr>
              <a:t> har, </a:t>
            </a:r>
            <a:r>
              <a:rPr lang="en-US" sz="1725" dirty="0" err="1">
                <a:solidFill>
                  <a:srgbClr val="7030A0"/>
                </a:solidFill>
              </a:rPr>
              <a:t>eller</a:t>
            </a:r>
            <a:r>
              <a:rPr lang="en-US" sz="1725" dirty="0">
                <a:solidFill>
                  <a:srgbClr val="7030A0"/>
                </a:solidFill>
              </a:rPr>
              <a:t> </a:t>
            </a:r>
            <a:r>
              <a:rPr lang="en-US" sz="1725" dirty="0" err="1">
                <a:solidFill>
                  <a:srgbClr val="7030A0"/>
                </a:solidFill>
              </a:rPr>
              <a:t>ønsker</a:t>
            </a:r>
            <a:r>
              <a:rPr lang="en-US" sz="1725" dirty="0">
                <a:solidFill>
                  <a:srgbClr val="7030A0"/>
                </a:solidFill>
              </a:rPr>
              <a:t>,  </a:t>
            </a:r>
            <a:r>
              <a:rPr lang="en-US" sz="1725" dirty="0" err="1">
                <a:solidFill>
                  <a:srgbClr val="7030A0"/>
                </a:solidFill>
              </a:rPr>
              <a:t>adgang</a:t>
            </a:r>
            <a:r>
              <a:rPr lang="en-US" sz="1725" dirty="0">
                <a:solidFill>
                  <a:srgbClr val="7030A0"/>
                </a:solidFill>
              </a:rPr>
              <a:t> </a:t>
            </a:r>
            <a:r>
              <a:rPr lang="en-US" sz="1725" dirty="0" err="1">
                <a:solidFill>
                  <a:srgbClr val="7030A0"/>
                </a:solidFill>
              </a:rPr>
              <a:t>til</a:t>
            </a:r>
            <a:r>
              <a:rPr lang="en-US" sz="1725" dirty="0">
                <a:solidFill>
                  <a:srgbClr val="7030A0"/>
                </a:solidFill>
              </a:rPr>
              <a:t> </a:t>
            </a:r>
            <a:r>
              <a:rPr lang="en-US" sz="1725" dirty="0" err="1">
                <a:solidFill>
                  <a:srgbClr val="7030A0"/>
                </a:solidFill>
              </a:rPr>
              <a:t>en</a:t>
            </a:r>
            <a:r>
              <a:rPr lang="en-US" sz="1725" dirty="0">
                <a:solidFill>
                  <a:srgbClr val="7030A0"/>
                </a:solidFill>
              </a:rPr>
              <a:t> “</a:t>
            </a:r>
            <a:r>
              <a:rPr lang="en-US" sz="1725" dirty="0" err="1">
                <a:solidFill>
                  <a:srgbClr val="7030A0"/>
                </a:solidFill>
              </a:rPr>
              <a:t>offentlig</a:t>
            </a:r>
            <a:r>
              <a:rPr lang="en-US" sz="1725" dirty="0">
                <a:solidFill>
                  <a:srgbClr val="7030A0"/>
                </a:solidFill>
              </a:rPr>
              <a:t>” NTP server.</a:t>
            </a:r>
            <a:endParaRPr lang="da-DK" sz="1725" dirty="0">
              <a:solidFill>
                <a:srgbClr val="7030A0"/>
              </a:solidFill>
            </a:endParaRP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 bwMode="auto">
          <a:xfrm>
            <a:off x="1142999" y="2207420"/>
            <a:ext cx="6781800" cy="105132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61593" tIns="30796" rIns="61593" bIns="30796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defTabSz="610791">
              <a:buNone/>
            </a:pPr>
            <a:r>
              <a:rPr lang="en-US" sz="1725" kern="0">
                <a:solidFill>
                  <a:srgbClr val="7030A0"/>
                </a:solidFill>
                <a:latin typeface="Arial"/>
              </a:rPr>
              <a:t>De enheder (routere/switche) som skal hente tiden fra ntp masteren, skal have at vide hvorfra (ip adr. på master) de skal hente tiden:</a:t>
            </a:r>
            <a:endParaRPr lang="da-DK" sz="1725" kern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5" name="Rektangel 4"/>
          <p:cNvSpPr/>
          <p:nvPr/>
        </p:nvSpPr>
        <p:spPr>
          <a:xfrm>
            <a:off x="1119114" y="1482752"/>
            <a:ext cx="2364751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eaLnBrk="0" hangingPunct="0">
              <a:lnSpc>
                <a:spcPct val="90000"/>
              </a:lnSpc>
            </a:pPr>
            <a:r>
              <a:rPr lang="da-DK">
                <a:solidFill>
                  <a:srgbClr val="000000"/>
                </a:solidFill>
                <a:ea typeface="+mn-ea"/>
              </a:rPr>
              <a:t>ntp master [ </a:t>
            </a:r>
            <a:r>
              <a:rPr lang="da-DK" i="1">
                <a:solidFill>
                  <a:srgbClr val="000000"/>
                </a:solidFill>
                <a:ea typeface="+mn-ea"/>
              </a:rPr>
              <a:t>stratum</a:t>
            </a:r>
            <a:r>
              <a:rPr lang="da-DK">
                <a:solidFill>
                  <a:srgbClr val="000000"/>
                </a:solidFill>
                <a:ea typeface="+mn-ea"/>
              </a:rPr>
              <a:t> ]</a:t>
            </a:r>
          </a:p>
        </p:txBody>
      </p:sp>
      <p:sp>
        <p:nvSpPr>
          <p:cNvPr id="6" name="Rektangel 5"/>
          <p:cNvSpPr/>
          <p:nvPr/>
        </p:nvSpPr>
        <p:spPr>
          <a:xfrm>
            <a:off x="3590925" y="1233453"/>
            <a:ext cx="4410075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eaLnBrk="0" hangingPunct="0">
              <a:lnSpc>
                <a:spcPct val="90000"/>
              </a:lnSpc>
            </a:pPr>
            <a:r>
              <a:rPr lang="en-US" sz="1350">
                <a:solidFill>
                  <a:srgbClr val="000000"/>
                </a:solidFill>
                <a:ea typeface="+mn-ea"/>
              </a:rPr>
              <a:t>Configures the device as an authoritative NTP server.</a:t>
            </a:r>
          </a:p>
          <a:p>
            <a:pPr defTabSz="685800" eaLnBrk="0" hangingPunct="0">
              <a:lnSpc>
                <a:spcPct val="90000"/>
              </a:lnSpc>
            </a:pPr>
            <a:r>
              <a:rPr lang="en-US" sz="1350">
                <a:solidFill>
                  <a:srgbClr val="000000"/>
                </a:solidFill>
                <a:ea typeface="+mn-ea"/>
              </a:rPr>
              <a:t>You can specify a different stratum level from which NTP clients get their time synchronized. </a:t>
            </a:r>
          </a:p>
          <a:p>
            <a:pPr defTabSz="685800" eaLnBrk="0" hangingPunct="0">
              <a:lnSpc>
                <a:spcPct val="90000"/>
              </a:lnSpc>
            </a:pPr>
            <a:r>
              <a:rPr lang="en-US" sz="1350">
                <a:solidFill>
                  <a:srgbClr val="FF0066"/>
                </a:solidFill>
                <a:ea typeface="+mn-ea"/>
              </a:rPr>
              <a:t>The range is from 1 to 15.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391" y="2800352"/>
            <a:ext cx="4464359" cy="409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8" y="3320357"/>
            <a:ext cx="7677707" cy="1244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Pladsholder til indhold 2"/>
          <p:cNvSpPr txBox="1">
            <a:spLocks/>
          </p:cNvSpPr>
          <p:nvPr/>
        </p:nvSpPr>
        <p:spPr bwMode="auto">
          <a:xfrm>
            <a:off x="1180640" y="4617840"/>
            <a:ext cx="6781800" cy="52566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61593" tIns="30796" rIns="61593" bIns="30796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defTabSz="610791">
              <a:buNone/>
            </a:pPr>
            <a:r>
              <a:rPr lang="en-US" sz="1350" i="1" kern="0">
                <a:solidFill>
                  <a:srgbClr val="0070C0"/>
                </a:solidFill>
                <a:latin typeface="Arial"/>
              </a:rPr>
              <a:t>Det er også muligt at sætte password (key) på opdateringspakkerne fra NTP serveren, så enhederne ikke godkender ntp pakker fra andre serveren, end den vi har godkendt.</a:t>
            </a:r>
            <a:endParaRPr lang="da-DK" sz="1350" i="1" kern="0">
              <a:solidFill>
                <a:srgbClr val="0070C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34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06153" y="0"/>
            <a:ext cx="6109097" cy="628650"/>
          </a:xfrm>
        </p:spPr>
        <p:txBody>
          <a:bodyPr/>
          <a:lstStyle/>
          <a:p>
            <a:r>
              <a:rPr lang="da-DK"/>
              <a:t>Network Time Protocol (NTP)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143000" y="762001"/>
            <a:ext cx="6858000" cy="1581150"/>
          </a:xfrm>
        </p:spPr>
        <p:txBody>
          <a:bodyPr/>
          <a:lstStyle/>
          <a:p>
            <a:pPr marL="0" indent="0">
              <a:buNone/>
            </a:pPr>
            <a:r>
              <a:rPr lang="da-DK"/>
              <a:t>Hvis man har tænkt sig at configurere en router/server el.lign. som den enhed der bestemmer hvad klokken er i vores netværk (altså som NTP master), er det selvfølgelig ret vigtigt at tiden er indstillet korrekt </a:t>
            </a:r>
            <a:r>
              <a:rPr lang="da-DK"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endParaRPr lang="da-DK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a-DK">
                <a:sym typeface="Wingdings" panose="05000000000000000000" pitchFamily="2" charset="2"/>
              </a:rPr>
              <a:t>På en router stiller man klokken og datoen  sådan her:</a:t>
            </a:r>
          </a:p>
          <a:p>
            <a:pPr marL="0" indent="0">
              <a:buNone/>
            </a:pPr>
            <a:endParaRPr lang="da-DK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45593"/>
            <a:ext cx="6791325" cy="1140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932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el 1"/>
          <p:cNvSpPr>
            <a:spLocks noGrp="1"/>
          </p:cNvSpPr>
          <p:nvPr>
            <p:ph type="title"/>
          </p:nvPr>
        </p:nvSpPr>
        <p:spPr>
          <a:xfrm>
            <a:off x="457200" y="4629150"/>
            <a:ext cx="7969469" cy="409575"/>
          </a:xfrm>
        </p:spPr>
        <p:txBody>
          <a:bodyPr/>
          <a:lstStyle/>
          <a:p>
            <a:r>
              <a:rPr lang="da-DK" altLang="da-DK" sz="2100" b="0" dirty="0">
                <a:solidFill>
                  <a:schemeClr val="bg2"/>
                </a:solidFill>
              </a:rPr>
              <a:t>Prøv at implementere en NTP server i jeres opstilling </a:t>
            </a:r>
            <a:r>
              <a:rPr lang="da-DK" altLang="da-DK" sz="2100" b="0" dirty="0">
                <a:solidFill>
                  <a:schemeClr val="bg2"/>
                </a:solidFill>
                <a:sym typeface="Wingdings" panose="05000000000000000000" pitchFamily="2" charset="2"/>
              </a:rPr>
              <a:t></a:t>
            </a:r>
            <a:br>
              <a:rPr lang="da-DK" altLang="da-DK" sz="2100" b="0" dirty="0">
                <a:solidFill>
                  <a:schemeClr val="bg2"/>
                </a:solidFill>
                <a:sym typeface="Wingdings" panose="05000000000000000000" pitchFamily="2" charset="2"/>
              </a:rPr>
            </a:br>
            <a:br>
              <a:rPr lang="da-DK" altLang="da-DK" sz="2100" b="0" dirty="0">
                <a:solidFill>
                  <a:schemeClr val="bg2"/>
                </a:solidFill>
                <a:sym typeface="Wingdings" panose="05000000000000000000" pitchFamily="2" charset="2"/>
              </a:rPr>
            </a:br>
            <a:r>
              <a:rPr lang="da-DK" altLang="da-DK" sz="2100" b="0" dirty="0">
                <a:solidFill>
                  <a:schemeClr val="bg2"/>
                </a:solidFill>
                <a:sym typeface="Wingdings" panose="05000000000000000000" pitchFamily="2" charset="2"/>
              </a:rPr>
              <a:t>De øvrige emner i kapitlet, kommer I igennem på anden vis – f.eks. i casen, der snart starter på mandag </a:t>
            </a:r>
            <a:endParaRPr lang="da-DK" altLang="da-DK" sz="2100" b="0" dirty="0">
              <a:solidFill>
                <a:schemeClr val="bg2"/>
              </a:solidFill>
            </a:endParaRPr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6849" y="290676"/>
            <a:ext cx="3478803" cy="3305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80967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6914</TotalTime>
  <Words>431</Words>
  <Application>Microsoft Office PowerPoint</Application>
  <PresentationFormat>Skærmshow (16:9)</PresentationFormat>
  <Paragraphs>36</Paragraphs>
  <Slides>6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6</vt:i4>
      </vt:variant>
    </vt:vector>
  </HeadingPairs>
  <TitlesOfParts>
    <vt:vector size="12" baseType="lpstr">
      <vt:lpstr>Arial</vt:lpstr>
      <vt:lpstr>Calibri</vt:lpstr>
      <vt:lpstr>CiscoSans ExtraLight</vt:lpstr>
      <vt:lpstr>Wingdings</vt:lpstr>
      <vt:lpstr>Default Theme</vt:lpstr>
      <vt:lpstr>NetAcad-4F_PPT-WHT_060408</vt:lpstr>
      <vt:lpstr>Module 10: Network Management</vt:lpstr>
      <vt:lpstr>PowerPoint-præsentation</vt:lpstr>
      <vt:lpstr>NTP master vs NTP server vs NTP peer</vt:lpstr>
      <vt:lpstr>NTP</vt:lpstr>
      <vt:lpstr>Network Time Protocol (NTP)</vt:lpstr>
      <vt:lpstr>Prøv at implementere en NTP server i jeres opstilling   De øvrige emner i kapitlet, kommer I igennem på anden vis – f.eks. i casen, der snart starter på mandag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Grete Teta</cp:lastModifiedBy>
  <cp:revision>498</cp:revision>
  <dcterms:created xsi:type="dcterms:W3CDTF">2019-10-18T06:21:22Z</dcterms:created>
  <dcterms:modified xsi:type="dcterms:W3CDTF">2026-09-10T08:07:43Z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